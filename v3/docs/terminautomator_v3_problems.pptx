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beb855b-8b31-1a1b-61e8-3766eea1d91a}">
          <p14:sldIdLst>
            <p14:sldId id="256"/>
            <p14:sldId id="257"/>
            <p14:sldId id="258"/>
          </p14:sldIdLst>
        </p14:section>
        <p14:section name="Problems" id="{c598a0f9-ab73-fa83-4ae2-191c7412bc2c}">
          <p14:sldIdLst>
            <p14:sldId id="259"/>
            <p14:sldId id="260"/>
            <p14:sldId id="261"/>
            <p14:sldId id="262"/>
            <p14:sldId id="263"/>
            <p14:sldId id="264"/>
            <p14:sldId id="265"/>
            <p14:sldId id="266"/>
            <p14:sldId id="267"/>
          </p14:sldIdLst>
        </p14:section>
        <p14:section name="Fixes and next steps" id="{860145f5-63dc-412d-a30e-babd3d24a3a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27"/>
                </a:solidFill>
                <a:latin typeface="+mn-lt"/>
              </a:defRPr>
            </a:pPr>
            <a:r>
              <a:rPr sz="1600" b="0" i="0" u="none" strike="noStrike">
                <a:solidFill>
                  <a:srgbClr val="1B1F27"/>
                </a:solidFill>
                <a:latin typeface="+mn-lt"/>
              </a:rPr>
              <a:t>Live accuracy on the Expense Desk (%)</a:t>
            </a:r>
          </a:p>
        </c:rich>
      </c:tx>
      <c:layout/>
      <c:overlay val="0"/>
    </c:title>
    <c:autoTitleDeleted val="0"/>
    <c:plotArea>
      <c:layout/>
      <c:barChart>
        <c:barDir val="col"/>
        <c:grouping val="clustered"/>
        <c:varyColors val="0"/>
        <c:ser>
          <c:idx val="0"/>
          <c:order val="0"/>
          <c:tx>
            <c:strRef>
              <c:f>Sheet1!$B$1</c:f>
              <c:strCache>
                <c:ptCount val="1"/>
                <c:pt idx="0">
                  <c:v>Live accuracy (%)</c:v>
                </c:pt>
              </c:strCache>
            </c:strRef>
          </c:tx>
          <c:spPr>
            <a:solidFill>
              <a:srgbClr val="1F5FBF"/>
            </a:solidFill>
            <a:effectLst/>
          </c:spPr>
          <c:invertIfNegative val="0"/>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dPt>
            <c:idx val="0"/>
            <c:invertIfNegative val="0"/>
            <c:bubble3D val="0"/>
            <c:spPr>
              <a:solidFill>
                <a:srgbClr val="1F5FBF"/>
              </a:solidFill>
              <a:effectLst/>
            </c:spPr>
          </c:dPt>
          <c:dPt>
            <c:idx val="1"/>
            <c:invertIfNegative val="0"/>
            <c:bubble3D val="0"/>
            <c:spPr>
              <a:solidFill>
                <a:srgbClr val="1F5FBF"/>
              </a:solidFill>
              <a:effectLst/>
            </c:spPr>
          </c:dPt>
          <c:dPt>
            <c:idx val="2"/>
            <c:invertIfNegative val="0"/>
            <c:bubble3D val="0"/>
            <c:spPr>
              <a:solidFill>
                <a:srgbClr val="C77D0A"/>
              </a:solidFill>
              <a:effectLst/>
            </c:spPr>
          </c:dPt>
          <c:dPt>
            <c:idx val="3"/>
            <c:invertIfNegative val="0"/>
            <c:bubble3D val="0"/>
            <c:spPr>
              <a:solidFill>
                <a:srgbClr val="C77D0A"/>
              </a:solidFill>
              <a:effectLst/>
            </c:spPr>
          </c:dPt>
          <c:dPt>
            <c:idx val="4"/>
            <c:invertIfNegative val="0"/>
            <c:bubble3D val="0"/>
            <c:spPr>
              <a:solidFill>
                <a:srgbClr val="C77D0A"/>
              </a:solidFill>
              <a:effectLst/>
            </c:spPr>
          </c:dPt>
          <c:dPt>
            <c:idx val="5"/>
            <c:invertIfNegative val="0"/>
            <c:bubble3D val="0"/>
            <c:spPr>
              <a:solidFill>
                <a:srgbClr val="C77D0A"/>
              </a:solidFill>
              <a:effectLst/>
            </c:spPr>
          </c:dPt>
          <c:dPt>
            <c:idx val="6"/>
            <c:invertIfNegative val="0"/>
            <c:bubble3D val="0"/>
            <c:spPr>
              <a:solidFill>
                <a:srgbClr val="C77D0A"/>
              </a:solidFill>
              <a:effectLst/>
            </c:spPr>
          </c:dPt>
          <c:cat>
            <c:multiLvlStrRef>
              <c:f>Sheet1!$A$2:$A$8</c:f>
              <c:multiLvlStrCache>
                <c:ptCount val="7"/>
                <c:lvl>
                  <c:pt idx="0">
                    <c:v>Old: 16/16</c:v>
                  </c:pt>
                  <c:pt idx="1">
                    <c:v>Old: 8/8</c:v>
                  </c:pt>
                  <c:pt idx="2">
                    <c:v>New 1</c:v>
                  </c:pt>
                  <c:pt idx="3">
                    <c:v>New 2</c:v>
                  </c:pt>
                  <c:pt idx="4">
                    <c:v>New 3</c:v>
                  </c:pt>
                  <c:pt idx="5">
                    <c:v>New 4</c:v>
                  </c:pt>
                  <c:pt idx="6">
                    <c:v>New 5</c:v>
                  </c:pt>
                </c:lvl>
              </c:multiLvlStrCache>
            </c:multiLvlStrRef>
          </c:cat>
          <c:val>
            <c:numRef>
              <c:f>Sheet1!$B$2:$B$8</c:f>
              <c:numCache>
                <c:formatCode>General</c:formatCode>
                <c:ptCount val="7"/>
                <c:pt idx="0">
                  <c:v>100</c:v>
                </c:pt>
                <c:pt idx="1">
                  <c:v>100</c:v>
                </c:pt>
                <c:pt idx="2">
                  <c:v>94</c:v>
                </c:pt>
                <c:pt idx="3">
                  <c:v>94</c:v>
                </c:pt>
                <c:pt idx="4">
                  <c:v>94</c:v>
                </c:pt>
                <c:pt idx="5">
                  <c:v>75</c:v>
                </c:pt>
                <c:pt idx="6">
                  <c:v>88</c:v>
                </c:pt>
              </c:numCache>
            </c:numRef>
          </c:val>
        </c:ser>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7"/>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3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terminautomator v3 with the focus on what went wrong, how each problem was fixed, and what is still open. It assumes the audience already knows browser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v3 works: on two in-house test sites it reached 100 out of 100 with about twelve to fourteen times fewer AI calls than the live agent alone. But the latest round, built to make it far more general, scored 12 to 15 out of 16 on live runs, down from 16 out of 16. The problems are at the edges and in the newest code. All results come from five in-house test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problem areas. Three are fixed or largely fixed on the test sites. Four are partly fixed. Two are open and matter most: the referee problem, and decision programs, which never worked live. Testing and process problems are managed with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second test site, the first attempt scored 1 out of 10. The older click cache replayed the first record's clicks for every record. Nine records reported success and every one was wrong; only refused saves and an outside grader revealed it. Fixed with a replay-safety check and the plan engine, which must prove itself against the live agent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 proven only on easy returns was trusted, then guessed a restocking fee without opening the policy page. The model's own claim that it could see everything was wrong. The fixes are trust per kind of case and a grounding check that every number appears on the pages. Remaining: a single kind can still mix different cases, and grounding occasionally refuses a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scripted test recordings were tidy. The first real run with the live AI broke the learning step five ways at once: clicking cells, guessing addresses, typing page numbers, detours, and a plain bug. All fixed, but the AI varies each time, so new shapes keep 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single-page app with a three-step wizard broke several assumptions. All were fixed on the test site. The hazards site covering login, iframes, popups and endless lists was built and tested offline only, so those remain unproven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live AI pressed Back inside the wizard, the learning step recorded Back as a form field. Later records pressed Next and then failed, and because Next counts as having acted, they could not be retried. Three records were lost. Back is fixed; the broader design, deciding everything before the first irreversible click, is planned for the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open design problem. The live agent is the referee a plan is checked against, but it is sometimes wrong. The proposal is a three-way vote with a human review queue when there is no majority. Nothing is saved on a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ambitious idea was to have the AI write the decision rules once as a small program, so code decides every record with zero AI calls. Offline, from six recorded examples, the AI wrote a correct program twice. Live, it never worked in five runs. Causes were found and fixed, but it stays switched off until an offline bench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hard for six reasons. AI answers vary run to run. A live run uses a large part of a roughly thousand-call daily allowance. The per-minute cap caused rate-limit errors with many browsers. Tests with simulated AI answers missed real behaviour. Tests and live runs shared the same test sites and servers. Several fixes are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new pieces added about six thousand lines of code and about nine hundred automated checks passed, all using simulated AI answers. Five live runs each found a new bug the checks had missed, and scored 12 to 15 out of 16, against 16 out of 16 before. The decision was to switch six unproven parts off by default and add one piece at a time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of every problem with its status. Two are open and matter most: the referee problem and zero-call decisions. Irreversible actions and real-world sites are partly done and need the most care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by risk. First the referee, because a wrong answer saved is the costliest failure. Second, deciding every wizard step before the first irreversible click. Third, a pilot on one real repeating task, which is the first real-world test. Fourth, decision programs on an offline bench. Fifth, compare tools and rebuild the core step by step so the team understands it. The rule throughout: one piece at a time, proven live, behind a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7F6F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terminautomator v3 overview</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txBox="1"/>
          <p:nvPr/>
        </p:nvSpPr>
        <p:spPr>
          <a:xfrm>
            <a:off x="822960" y="1097280"/>
            <a:ext cx="10515600" cy="1005840"/>
          </a:xfrm>
          <a:prstGeom prst="rect">
            <a:avLst/>
          </a:prstGeom>
          <a:noFill/>
          <a:ln/>
        </p:spPr>
        <p:txBody>
          <a:bodyPr wrap="square" lIns="0" tIns="0" rIns="0" bIns="0" rtlCol="0" anchor="ctr"/>
          <a:lstStyle/>
          <a:p>
            <a:pPr algn="l" indent="0" marL="0">
              <a:buNone/>
            </a:pPr>
            <a:r>
              <a:rPr lang="en-US" sz="5400" b="1" dirty="0">
                <a:solidFill>
                  <a:schemeClr val="tx1"/>
                </a:solidFill>
              </a:rPr>
              <a:t>terminautomator v3</a:t>
            </a:r>
            <a:endParaRPr lang="en-US" sz="5400" dirty="0"/>
          </a:p>
        </p:txBody>
      </p:sp>
      <p:sp>
        <p:nvSpPr>
          <p:cNvPr id="4" name="subtitle"/>
          <p:cNvSpPr txBox="1"/>
          <p:nvPr/>
        </p:nvSpPr>
        <p:spPr>
          <a:xfrm>
            <a:off x="822960" y="2148840"/>
            <a:ext cx="10515600" cy="548640"/>
          </a:xfrm>
          <a:prstGeom prst="rect">
            <a:avLst/>
          </a:prstGeom>
          <a:noFill/>
          <a:ln/>
        </p:spPr>
        <p:txBody>
          <a:bodyPr wrap="square" lIns="0" tIns="0" rIns="0" bIns="0" rtlCol="0" anchor="t"/>
          <a:lstStyle/>
          <a:p>
            <a:pPr algn="l" indent="0" marL="0">
              <a:buNone/>
            </a:pPr>
            <a:r>
              <a:rPr lang="en-US" sz="2400" dirty="0">
                <a:solidFill>
                  <a:schemeClr val="tx2"/>
                </a:solidFill>
              </a:rPr>
              <a:t>What went wrong, how it was fixed, and what is left to solve</a:t>
            </a:r>
            <a:endParaRPr lang="en-US" sz="2400" dirty="0"/>
          </a:p>
        </p:txBody>
      </p:sp>
      <p:sp>
        <p:nvSpPr>
          <p:cNvPr id="5" name="marker"/>
          <p:cNvSpPr/>
          <p:nvPr/>
        </p:nvSpPr>
        <p:spPr>
          <a:xfrm>
            <a:off x="822960" y="3063240"/>
            <a:ext cx="1188720" cy="1188720"/>
          </a:xfrm>
          <a:prstGeom prst="ellipse">
            <a:avLst/>
          </a:prstGeom>
          <a:solidFill>
            <a:schemeClr val="accent3"/>
          </a:solidFill>
          <a:ln/>
          <a:effectLst>
            <a:outerShdw sx="100000" sy="100000" kx="0" ky="0" algn="bl" rotWithShape="0" blurRad="88900" dist="25400" dir="5400000">
              <a:srgbClr val="000000">
                <a:alpha val="13000"/>
              </a:srgbClr>
            </a:outerShdw>
          </a:effectLst>
        </p:spPr>
      </p:sp>
      <p:pic>
        <p:nvPicPr>
          <p:cNvPr id="6" name="icon FaExclamationTriangle" descr="ExclamationTriangle icon">    </p:cNvPr>
          <p:cNvPicPr>
            <a:picLocks noChangeAspect="1"/>
          </p:cNvPicPr>
          <p:nvPr/>
        </p:nvPicPr>
        <p:blipFill>
          <a:blip r:embed="rId1"/>
          <a:stretch>
            <a:fillRect/>
          </a:stretch>
        </p:blipFill>
        <p:spPr>
          <a:xfrm>
            <a:off x="1097280" y="3337560"/>
            <a:ext cx="640080" cy="640080"/>
          </a:xfrm>
          <a:prstGeom prst="rect">
            <a:avLst/>
          </a:prstGeom>
        </p:spPr>
      </p:pic>
      <p:sp>
        <p:nvSpPr>
          <p:cNvPr id="7" name="record"/>
          <p:cNvSpPr/>
          <p:nvPr/>
        </p:nvSpPr>
        <p:spPr>
          <a:xfrm>
            <a:off x="2377440" y="3200400"/>
            <a:ext cx="457200" cy="182880"/>
          </a:xfrm>
          <a:prstGeom prst="roundRect">
            <a:avLst>
              <a:gd name="adj" fmla="val 25000"/>
            </a:avLst>
          </a:prstGeom>
          <a:solidFill>
            <a:schemeClr val="accent2">
              <a:alpha val="15000"/>
            </a:schemeClr>
          </a:solidFill>
          <a:ln/>
        </p:spPr>
      </p:sp>
      <p:sp>
        <p:nvSpPr>
          <p:cNvPr id="8" name="record"/>
          <p:cNvSpPr/>
          <p:nvPr/>
        </p:nvSpPr>
        <p:spPr>
          <a:xfrm>
            <a:off x="2962656" y="3200400"/>
            <a:ext cx="457200" cy="182880"/>
          </a:xfrm>
          <a:prstGeom prst="roundRect">
            <a:avLst>
              <a:gd name="adj" fmla="val 25000"/>
            </a:avLst>
          </a:prstGeom>
          <a:solidFill>
            <a:schemeClr val="accent2">
              <a:alpha val="21000"/>
            </a:schemeClr>
          </a:solidFill>
          <a:ln/>
        </p:spPr>
      </p:sp>
      <p:sp>
        <p:nvSpPr>
          <p:cNvPr id="9" name="record"/>
          <p:cNvSpPr/>
          <p:nvPr/>
        </p:nvSpPr>
        <p:spPr>
          <a:xfrm>
            <a:off x="3547872" y="3200400"/>
            <a:ext cx="457200" cy="182880"/>
          </a:xfrm>
          <a:prstGeom prst="roundRect">
            <a:avLst>
              <a:gd name="adj" fmla="val 25000"/>
            </a:avLst>
          </a:prstGeom>
          <a:solidFill>
            <a:schemeClr val="accent2">
              <a:alpha val="26000"/>
            </a:schemeClr>
          </a:solidFill>
          <a:ln/>
        </p:spPr>
      </p:sp>
      <p:sp>
        <p:nvSpPr>
          <p:cNvPr id="10" name="record"/>
          <p:cNvSpPr/>
          <p:nvPr/>
        </p:nvSpPr>
        <p:spPr>
          <a:xfrm>
            <a:off x="4133088" y="3200400"/>
            <a:ext cx="457200" cy="182880"/>
          </a:xfrm>
          <a:prstGeom prst="roundRect">
            <a:avLst>
              <a:gd name="adj" fmla="val 25000"/>
            </a:avLst>
          </a:prstGeom>
          <a:solidFill>
            <a:schemeClr val="accent2">
              <a:alpha val="32000"/>
            </a:schemeClr>
          </a:solidFill>
          <a:ln/>
        </p:spPr>
      </p:sp>
      <p:sp>
        <p:nvSpPr>
          <p:cNvPr id="11" name="record"/>
          <p:cNvSpPr/>
          <p:nvPr/>
        </p:nvSpPr>
        <p:spPr>
          <a:xfrm>
            <a:off x="4718304" y="3200400"/>
            <a:ext cx="457200" cy="182880"/>
          </a:xfrm>
          <a:prstGeom prst="roundRect">
            <a:avLst>
              <a:gd name="adj" fmla="val 25000"/>
            </a:avLst>
          </a:prstGeom>
          <a:solidFill>
            <a:schemeClr val="accent2">
              <a:alpha val="38000"/>
            </a:schemeClr>
          </a:solidFill>
          <a:ln/>
        </p:spPr>
      </p:sp>
      <p:sp>
        <p:nvSpPr>
          <p:cNvPr id="12" name="record"/>
          <p:cNvSpPr/>
          <p:nvPr/>
        </p:nvSpPr>
        <p:spPr>
          <a:xfrm>
            <a:off x="5303520" y="3200400"/>
            <a:ext cx="457200" cy="182880"/>
          </a:xfrm>
          <a:prstGeom prst="roundRect">
            <a:avLst>
              <a:gd name="adj" fmla="val 25000"/>
            </a:avLst>
          </a:prstGeom>
          <a:solidFill>
            <a:schemeClr val="accent2">
              <a:alpha val="43000"/>
            </a:schemeClr>
          </a:solidFill>
          <a:ln/>
        </p:spPr>
      </p:sp>
      <p:sp>
        <p:nvSpPr>
          <p:cNvPr id="13" name="record"/>
          <p:cNvSpPr/>
          <p:nvPr/>
        </p:nvSpPr>
        <p:spPr>
          <a:xfrm>
            <a:off x="5888736" y="3200400"/>
            <a:ext cx="457200" cy="182880"/>
          </a:xfrm>
          <a:prstGeom prst="roundRect">
            <a:avLst>
              <a:gd name="adj" fmla="val 25000"/>
            </a:avLst>
          </a:prstGeom>
          <a:solidFill>
            <a:schemeClr val="accent2">
              <a:alpha val="49000"/>
            </a:schemeClr>
          </a:solidFill>
          <a:ln/>
        </p:spPr>
      </p:sp>
      <p:sp>
        <p:nvSpPr>
          <p:cNvPr id="14" name="record"/>
          <p:cNvSpPr/>
          <p:nvPr/>
        </p:nvSpPr>
        <p:spPr>
          <a:xfrm>
            <a:off x="6473952" y="3200400"/>
            <a:ext cx="457200" cy="182880"/>
          </a:xfrm>
          <a:prstGeom prst="roundRect">
            <a:avLst>
              <a:gd name="adj" fmla="val 25000"/>
            </a:avLst>
          </a:prstGeom>
          <a:solidFill>
            <a:schemeClr val="accent2">
              <a:alpha val="55000"/>
            </a:schemeClr>
          </a:solidFill>
          <a:ln/>
        </p:spPr>
      </p:sp>
      <p:sp>
        <p:nvSpPr>
          <p:cNvPr id="15" name="record"/>
          <p:cNvSpPr/>
          <p:nvPr/>
        </p:nvSpPr>
        <p:spPr>
          <a:xfrm>
            <a:off x="7059168" y="3200400"/>
            <a:ext cx="457200" cy="182880"/>
          </a:xfrm>
          <a:prstGeom prst="roundRect">
            <a:avLst>
              <a:gd name="adj" fmla="val 25000"/>
            </a:avLst>
          </a:prstGeom>
          <a:solidFill>
            <a:schemeClr val="accent2">
              <a:alpha val="60000"/>
            </a:schemeClr>
          </a:solidFill>
          <a:ln/>
        </p:spPr>
      </p:sp>
      <p:sp>
        <p:nvSpPr>
          <p:cNvPr id="16" name="record"/>
          <p:cNvSpPr/>
          <p:nvPr/>
        </p:nvSpPr>
        <p:spPr>
          <a:xfrm>
            <a:off x="7644384" y="3200400"/>
            <a:ext cx="457200" cy="182880"/>
          </a:xfrm>
          <a:prstGeom prst="roundRect">
            <a:avLst>
              <a:gd name="adj" fmla="val 25000"/>
            </a:avLst>
          </a:prstGeom>
          <a:solidFill>
            <a:schemeClr val="accent2">
              <a:alpha val="66000"/>
            </a:schemeClr>
          </a:solidFill>
          <a:ln/>
        </p:spPr>
      </p:sp>
      <p:sp>
        <p:nvSpPr>
          <p:cNvPr id="17" name="record"/>
          <p:cNvSpPr/>
          <p:nvPr/>
        </p:nvSpPr>
        <p:spPr>
          <a:xfrm>
            <a:off x="8229600" y="3200400"/>
            <a:ext cx="457200" cy="182880"/>
          </a:xfrm>
          <a:prstGeom prst="roundRect">
            <a:avLst>
              <a:gd name="adj" fmla="val 25000"/>
            </a:avLst>
          </a:prstGeom>
          <a:solidFill>
            <a:schemeClr val="accent2">
              <a:alpha val="72000"/>
            </a:schemeClr>
          </a:solidFill>
          <a:ln/>
        </p:spPr>
      </p:sp>
      <p:sp>
        <p:nvSpPr>
          <p:cNvPr id="18" name="record"/>
          <p:cNvSpPr/>
          <p:nvPr/>
        </p:nvSpPr>
        <p:spPr>
          <a:xfrm>
            <a:off x="8814816" y="3200400"/>
            <a:ext cx="457200" cy="182880"/>
          </a:xfrm>
          <a:prstGeom prst="roundRect">
            <a:avLst>
              <a:gd name="adj" fmla="val 25000"/>
            </a:avLst>
          </a:prstGeom>
          <a:solidFill>
            <a:schemeClr val="accent2">
              <a:alpha val="77000"/>
            </a:schemeClr>
          </a:solidFill>
          <a:ln/>
        </p:spPr>
      </p:sp>
      <p:sp>
        <p:nvSpPr>
          <p:cNvPr id="19" name="record"/>
          <p:cNvSpPr/>
          <p:nvPr/>
        </p:nvSpPr>
        <p:spPr>
          <a:xfrm>
            <a:off x="9400032" y="3200400"/>
            <a:ext cx="457200" cy="182880"/>
          </a:xfrm>
          <a:prstGeom prst="roundRect">
            <a:avLst>
              <a:gd name="adj" fmla="val 25000"/>
            </a:avLst>
          </a:prstGeom>
          <a:solidFill>
            <a:schemeClr val="accent2">
              <a:alpha val="83000"/>
            </a:schemeClr>
          </a:solidFill>
          <a:ln/>
        </p:spPr>
      </p:sp>
      <p:sp>
        <p:nvSpPr>
          <p:cNvPr id="20" name="record"/>
          <p:cNvSpPr/>
          <p:nvPr/>
        </p:nvSpPr>
        <p:spPr>
          <a:xfrm>
            <a:off x="9985248" y="3200400"/>
            <a:ext cx="457200" cy="182880"/>
          </a:xfrm>
          <a:prstGeom prst="roundRect">
            <a:avLst>
              <a:gd name="adj" fmla="val 25000"/>
            </a:avLst>
          </a:prstGeom>
          <a:solidFill>
            <a:schemeClr val="accent2">
              <a:alpha val="89000"/>
            </a:schemeClr>
          </a:solidFill>
          <a:ln/>
        </p:spPr>
      </p:sp>
      <p:sp>
        <p:nvSpPr>
          <p:cNvPr id="21" name="record"/>
          <p:cNvSpPr/>
          <p:nvPr/>
        </p:nvSpPr>
        <p:spPr>
          <a:xfrm>
            <a:off x="10570464" y="3200400"/>
            <a:ext cx="457200" cy="182880"/>
          </a:xfrm>
          <a:prstGeom prst="roundRect">
            <a:avLst>
              <a:gd name="adj" fmla="val 25000"/>
            </a:avLst>
          </a:prstGeom>
          <a:solidFill>
            <a:schemeClr val="accent2">
              <a:alpha val="94000"/>
            </a:schemeClr>
          </a:solidFill>
          <a:ln/>
        </p:spPr>
      </p:sp>
      <p:sp>
        <p:nvSpPr>
          <p:cNvPr id="22" name="record"/>
          <p:cNvSpPr/>
          <p:nvPr/>
        </p:nvSpPr>
        <p:spPr>
          <a:xfrm>
            <a:off x="11155680" y="3200400"/>
            <a:ext cx="457200" cy="182880"/>
          </a:xfrm>
          <a:prstGeom prst="roundRect">
            <a:avLst>
              <a:gd name="adj" fmla="val 25000"/>
            </a:avLst>
          </a:prstGeom>
          <a:solidFill>
            <a:schemeClr val="accent2"/>
          </a:solidFill>
          <a:ln/>
        </p:spPr>
      </p:sp>
      <p:sp>
        <p:nvSpPr>
          <p:cNvPr id="23" name="record"/>
          <p:cNvSpPr/>
          <p:nvPr/>
        </p:nvSpPr>
        <p:spPr>
          <a:xfrm>
            <a:off x="2377440" y="3547872"/>
            <a:ext cx="457200" cy="182880"/>
          </a:xfrm>
          <a:prstGeom prst="roundRect">
            <a:avLst>
              <a:gd name="adj" fmla="val 25000"/>
            </a:avLst>
          </a:prstGeom>
          <a:solidFill>
            <a:schemeClr val="accent2">
              <a:alpha val="15000"/>
            </a:schemeClr>
          </a:solidFill>
          <a:ln/>
        </p:spPr>
      </p:sp>
      <p:sp>
        <p:nvSpPr>
          <p:cNvPr id="24" name="record"/>
          <p:cNvSpPr/>
          <p:nvPr/>
        </p:nvSpPr>
        <p:spPr>
          <a:xfrm>
            <a:off x="2962656" y="3547872"/>
            <a:ext cx="457200" cy="182880"/>
          </a:xfrm>
          <a:prstGeom prst="roundRect">
            <a:avLst>
              <a:gd name="adj" fmla="val 25000"/>
            </a:avLst>
          </a:prstGeom>
          <a:solidFill>
            <a:schemeClr val="accent2">
              <a:alpha val="21000"/>
            </a:schemeClr>
          </a:solidFill>
          <a:ln/>
        </p:spPr>
      </p:sp>
      <p:sp>
        <p:nvSpPr>
          <p:cNvPr id="25" name="record"/>
          <p:cNvSpPr/>
          <p:nvPr/>
        </p:nvSpPr>
        <p:spPr>
          <a:xfrm>
            <a:off x="3547872" y="3547872"/>
            <a:ext cx="457200" cy="182880"/>
          </a:xfrm>
          <a:prstGeom prst="roundRect">
            <a:avLst>
              <a:gd name="adj" fmla="val 25000"/>
            </a:avLst>
          </a:prstGeom>
          <a:solidFill>
            <a:schemeClr val="accent2">
              <a:alpha val="26000"/>
            </a:schemeClr>
          </a:solidFill>
          <a:ln/>
        </p:spPr>
      </p:sp>
      <p:sp>
        <p:nvSpPr>
          <p:cNvPr id="26" name="record"/>
          <p:cNvSpPr/>
          <p:nvPr/>
        </p:nvSpPr>
        <p:spPr>
          <a:xfrm>
            <a:off x="4133088" y="3547872"/>
            <a:ext cx="457200" cy="182880"/>
          </a:xfrm>
          <a:prstGeom prst="roundRect">
            <a:avLst>
              <a:gd name="adj" fmla="val 25000"/>
            </a:avLst>
          </a:prstGeom>
          <a:solidFill>
            <a:schemeClr val="accent2">
              <a:alpha val="32000"/>
            </a:schemeClr>
          </a:solidFill>
          <a:ln/>
        </p:spPr>
      </p:sp>
      <p:sp>
        <p:nvSpPr>
          <p:cNvPr id="27" name="record"/>
          <p:cNvSpPr/>
          <p:nvPr/>
        </p:nvSpPr>
        <p:spPr>
          <a:xfrm>
            <a:off x="4718304" y="3547872"/>
            <a:ext cx="457200" cy="182880"/>
          </a:xfrm>
          <a:prstGeom prst="roundRect">
            <a:avLst>
              <a:gd name="adj" fmla="val 25000"/>
            </a:avLst>
          </a:prstGeom>
          <a:solidFill>
            <a:schemeClr val="accent3">
              <a:alpha val="38000"/>
            </a:schemeClr>
          </a:solidFill>
          <a:ln/>
        </p:spPr>
      </p:sp>
      <p:sp>
        <p:nvSpPr>
          <p:cNvPr id="28" name="record"/>
          <p:cNvSpPr/>
          <p:nvPr/>
        </p:nvSpPr>
        <p:spPr>
          <a:xfrm>
            <a:off x="5303520" y="3547872"/>
            <a:ext cx="457200" cy="182880"/>
          </a:xfrm>
          <a:prstGeom prst="roundRect">
            <a:avLst>
              <a:gd name="adj" fmla="val 25000"/>
            </a:avLst>
          </a:prstGeom>
          <a:solidFill>
            <a:schemeClr val="accent2">
              <a:alpha val="43000"/>
            </a:schemeClr>
          </a:solidFill>
          <a:ln/>
        </p:spPr>
      </p:sp>
      <p:sp>
        <p:nvSpPr>
          <p:cNvPr id="29" name="record"/>
          <p:cNvSpPr/>
          <p:nvPr/>
        </p:nvSpPr>
        <p:spPr>
          <a:xfrm>
            <a:off x="5888736" y="3547872"/>
            <a:ext cx="457200" cy="182880"/>
          </a:xfrm>
          <a:prstGeom prst="roundRect">
            <a:avLst>
              <a:gd name="adj" fmla="val 25000"/>
            </a:avLst>
          </a:prstGeom>
          <a:solidFill>
            <a:schemeClr val="accent2">
              <a:alpha val="49000"/>
            </a:schemeClr>
          </a:solidFill>
          <a:ln/>
        </p:spPr>
      </p:sp>
      <p:sp>
        <p:nvSpPr>
          <p:cNvPr id="30" name="record"/>
          <p:cNvSpPr/>
          <p:nvPr/>
        </p:nvSpPr>
        <p:spPr>
          <a:xfrm>
            <a:off x="6473952" y="3547872"/>
            <a:ext cx="457200" cy="182880"/>
          </a:xfrm>
          <a:prstGeom prst="roundRect">
            <a:avLst>
              <a:gd name="adj" fmla="val 25000"/>
            </a:avLst>
          </a:prstGeom>
          <a:solidFill>
            <a:schemeClr val="accent2">
              <a:alpha val="55000"/>
            </a:schemeClr>
          </a:solidFill>
          <a:ln/>
        </p:spPr>
      </p:sp>
      <p:sp>
        <p:nvSpPr>
          <p:cNvPr id="31" name="record"/>
          <p:cNvSpPr/>
          <p:nvPr/>
        </p:nvSpPr>
        <p:spPr>
          <a:xfrm>
            <a:off x="7059168" y="3547872"/>
            <a:ext cx="457200" cy="182880"/>
          </a:xfrm>
          <a:prstGeom prst="roundRect">
            <a:avLst>
              <a:gd name="adj" fmla="val 25000"/>
            </a:avLst>
          </a:prstGeom>
          <a:solidFill>
            <a:schemeClr val="accent2">
              <a:alpha val="60000"/>
            </a:schemeClr>
          </a:solidFill>
          <a:ln/>
        </p:spPr>
      </p:sp>
      <p:sp>
        <p:nvSpPr>
          <p:cNvPr id="32" name="record"/>
          <p:cNvSpPr/>
          <p:nvPr/>
        </p:nvSpPr>
        <p:spPr>
          <a:xfrm>
            <a:off x="7644384" y="3547872"/>
            <a:ext cx="457200" cy="182880"/>
          </a:xfrm>
          <a:prstGeom prst="roundRect">
            <a:avLst>
              <a:gd name="adj" fmla="val 25000"/>
            </a:avLst>
          </a:prstGeom>
          <a:solidFill>
            <a:schemeClr val="accent3">
              <a:alpha val="66000"/>
            </a:schemeClr>
          </a:solidFill>
          <a:ln/>
        </p:spPr>
      </p:sp>
      <p:sp>
        <p:nvSpPr>
          <p:cNvPr id="33" name="record"/>
          <p:cNvSpPr/>
          <p:nvPr/>
        </p:nvSpPr>
        <p:spPr>
          <a:xfrm>
            <a:off x="8229600" y="3547872"/>
            <a:ext cx="457200" cy="182880"/>
          </a:xfrm>
          <a:prstGeom prst="roundRect">
            <a:avLst>
              <a:gd name="adj" fmla="val 25000"/>
            </a:avLst>
          </a:prstGeom>
          <a:solidFill>
            <a:schemeClr val="accent2">
              <a:alpha val="72000"/>
            </a:schemeClr>
          </a:solidFill>
          <a:ln/>
        </p:spPr>
      </p:sp>
      <p:sp>
        <p:nvSpPr>
          <p:cNvPr id="34" name="record"/>
          <p:cNvSpPr/>
          <p:nvPr/>
        </p:nvSpPr>
        <p:spPr>
          <a:xfrm>
            <a:off x="8814816" y="3547872"/>
            <a:ext cx="457200" cy="182880"/>
          </a:xfrm>
          <a:prstGeom prst="roundRect">
            <a:avLst>
              <a:gd name="adj" fmla="val 25000"/>
            </a:avLst>
          </a:prstGeom>
          <a:solidFill>
            <a:schemeClr val="accent2">
              <a:alpha val="77000"/>
            </a:schemeClr>
          </a:solidFill>
          <a:ln/>
        </p:spPr>
      </p:sp>
      <p:sp>
        <p:nvSpPr>
          <p:cNvPr id="35" name="record"/>
          <p:cNvSpPr/>
          <p:nvPr/>
        </p:nvSpPr>
        <p:spPr>
          <a:xfrm>
            <a:off x="9400032" y="3547872"/>
            <a:ext cx="457200" cy="182880"/>
          </a:xfrm>
          <a:prstGeom prst="roundRect">
            <a:avLst>
              <a:gd name="adj" fmla="val 25000"/>
            </a:avLst>
          </a:prstGeom>
          <a:solidFill>
            <a:schemeClr val="accent2">
              <a:alpha val="83000"/>
            </a:schemeClr>
          </a:solidFill>
          <a:ln/>
        </p:spPr>
      </p:sp>
      <p:sp>
        <p:nvSpPr>
          <p:cNvPr id="36" name="record"/>
          <p:cNvSpPr/>
          <p:nvPr/>
        </p:nvSpPr>
        <p:spPr>
          <a:xfrm>
            <a:off x="9985248" y="3547872"/>
            <a:ext cx="457200" cy="182880"/>
          </a:xfrm>
          <a:prstGeom prst="roundRect">
            <a:avLst>
              <a:gd name="adj" fmla="val 25000"/>
            </a:avLst>
          </a:prstGeom>
          <a:solidFill>
            <a:schemeClr val="accent2">
              <a:alpha val="89000"/>
            </a:schemeClr>
          </a:solidFill>
          <a:ln/>
        </p:spPr>
      </p:sp>
      <p:sp>
        <p:nvSpPr>
          <p:cNvPr id="37" name="record"/>
          <p:cNvSpPr/>
          <p:nvPr/>
        </p:nvSpPr>
        <p:spPr>
          <a:xfrm>
            <a:off x="10570464" y="3547872"/>
            <a:ext cx="457200" cy="182880"/>
          </a:xfrm>
          <a:prstGeom prst="roundRect">
            <a:avLst>
              <a:gd name="adj" fmla="val 25000"/>
            </a:avLst>
          </a:prstGeom>
          <a:solidFill>
            <a:schemeClr val="accent3">
              <a:alpha val="94000"/>
            </a:schemeClr>
          </a:solidFill>
          <a:ln/>
        </p:spPr>
      </p:sp>
      <p:sp>
        <p:nvSpPr>
          <p:cNvPr id="38" name="record"/>
          <p:cNvSpPr/>
          <p:nvPr/>
        </p:nvSpPr>
        <p:spPr>
          <a:xfrm>
            <a:off x="11155680" y="3547872"/>
            <a:ext cx="457200" cy="182880"/>
          </a:xfrm>
          <a:prstGeom prst="roundRect">
            <a:avLst>
              <a:gd name="adj" fmla="val 25000"/>
            </a:avLst>
          </a:prstGeom>
          <a:solidFill>
            <a:schemeClr val="accent2"/>
          </a:solidFill>
          <a:ln/>
        </p:spPr>
      </p:sp>
      <p:sp>
        <p:nvSpPr>
          <p:cNvPr id="39" name="record"/>
          <p:cNvSpPr/>
          <p:nvPr/>
        </p:nvSpPr>
        <p:spPr>
          <a:xfrm>
            <a:off x="2377440" y="3895344"/>
            <a:ext cx="457200" cy="182880"/>
          </a:xfrm>
          <a:prstGeom prst="roundRect">
            <a:avLst>
              <a:gd name="adj" fmla="val 25000"/>
            </a:avLst>
          </a:prstGeom>
          <a:solidFill>
            <a:schemeClr val="accent2">
              <a:alpha val="15000"/>
            </a:schemeClr>
          </a:solidFill>
          <a:ln/>
        </p:spPr>
      </p:sp>
      <p:sp>
        <p:nvSpPr>
          <p:cNvPr id="40" name="record"/>
          <p:cNvSpPr/>
          <p:nvPr/>
        </p:nvSpPr>
        <p:spPr>
          <a:xfrm>
            <a:off x="2962656" y="3895344"/>
            <a:ext cx="457200" cy="182880"/>
          </a:xfrm>
          <a:prstGeom prst="roundRect">
            <a:avLst>
              <a:gd name="adj" fmla="val 25000"/>
            </a:avLst>
          </a:prstGeom>
          <a:solidFill>
            <a:schemeClr val="accent2">
              <a:alpha val="21000"/>
            </a:schemeClr>
          </a:solidFill>
          <a:ln/>
        </p:spPr>
      </p:sp>
      <p:sp>
        <p:nvSpPr>
          <p:cNvPr id="41" name="record"/>
          <p:cNvSpPr/>
          <p:nvPr/>
        </p:nvSpPr>
        <p:spPr>
          <a:xfrm>
            <a:off x="3547872" y="3895344"/>
            <a:ext cx="457200" cy="182880"/>
          </a:xfrm>
          <a:prstGeom prst="roundRect">
            <a:avLst>
              <a:gd name="adj" fmla="val 25000"/>
            </a:avLst>
          </a:prstGeom>
          <a:solidFill>
            <a:schemeClr val="accent2">
              <a:alpha val="26000"/>
            </a:schemeClr>
          </a:solidFill>
          <a:ln/>
        </p:spPr>
      </p:sp>
      <p:sp>
        <p:nvSpPr>
          <p:cNvPr id="42" name="record"/>
          <p:cNvSpPr/>
          <p:nvPr/>
        </p:nvSpPr>
        <p:spPr>
          <a:xfrm>
            <a:off x="4133088" y="3895344"/>
            <a:ext cx="457200" cy="182880"/>
          </a:xfrm>
          <a:prstGeom prst="roundRect">
            <a:avLst>
              <a:gd name="adj" fmla="val 25000"/>
            </a:avLst>
          </a:prstGeom>
          <a:solidFill>
            <a:schemeClr val="accent2">
              <a:alpha val="32000"/>
            </a:schemeClr>
          </a:solidFill>
          <a:ln/>
        </p:spPr>
      </p:sp>
      <p:sp>
        <p:nvSpPr>
          <p:cNvPr id="43" name="record"/>
          <p:cNvSpPr/>
          <p:nvPr/>
        </p:nvSpPr>
        <p:spPr>
          <a:xfrm>
            <a:off x="4718304" y="3895344"/>
            <a:ext cx="457200" cy="182880"/>
          </a:xfrm>
          <a:prstGeom prst="roundRect">
            <a:avLst>
              <a:gd name="adj" fmla="val 25000"/>
            </a:avLst>
          </a:prstGeom>
          <a:solidFill>
            <a:schemeClr val="accent2">
              <a:alpha val="38000"/>
            </a:schemeClr>
          </a:solidFill>
          <a:ln/>
        </p:spPr>
      </p:sp>
      <p:sp>
        <p:nvSpPr>
          <p:cNvPr id="44" name="record"/>
          <p:cNvSpPr/>
          <p:nvPr/>
        </p:nvSpPr>
        <p:spPr>
          <a:xfrm>
            <a:off x="5303520" y="3895344"/>
            <a:ext cx="457200" cy="182880"/>
          </a:xfrm>
          <a:prstGeom prst="roundRect">
            <a:avLst>
              <a:gd name="adj" fmla="val 25000"/>
            </a:avLst>
          </a:prstGeom>
          <a:solidFill>
            <a:schemeClr val="accent2">
              <a:alpha val="43000"/>
            </a:schemeClr>
          </a:solidFill>
          <a:ln/>
        </p:spPr>
      </p:sp>
      <p:sp>
        <p:nvSpPr>
          <p:cNvPr id="45" name="record"/>
          <p:cNvSpPr/>
          <p:nvPr/>
        </p:nvSpPr>
        <p:spPr>
          <a:xfrm>
            <a:off x="5888736" y="3895344"/>
            <a:ext cx="457200" cy="182880"/>
          </a:xfrm>
          <a:prstGeom prst="roundRect">
            <a:avLst>
              <a:gd name="adj" fmla="val 25000"/>
            </a:avLst>
          </a:prstGeom>
          <a:solidFill>
            <a:schemeClr val="accent2">
              <a:alpha val="49000"/>
            </a:schemeClr>
          </a:solidFill>
          <a:ln/>
        </p:spPr>
      </p:sp>
      <p:sp>
        <p:nvSpPr>
          <p:cNvPr id="46" name="record"/>
          <p:cNvSpPr/>
          <p:nvPr/>
        </p:nvSpPr>
        <p:spPr>
          <a:xfrm>
            <a:off x="6473952" y="3895344"/>
            <a:ext cx="457200" cy="182880"/>
          </a:xfrm>
          <a:prstGeom prst="roundRect">
            <a:avLst>
              <a:gd name="adj" fmla="val 25000"/>
            </a:avLst>
          </a:prstGeom>
          <a:solidFill>
            <a:schemeClr val="accent2">
              <a:alpha val="55000"/>
            </a:schemeClr>
          </a:solidFill>
          <a:ln/>
        </p:spPr>
      </p:sp>
      <p:sp>
        <p:nvSpPr>
          <p:cNvPr id="47" name="record"/>
          <p:cNvSpPr/>
          <p:nvPr/>
        </p:nvSpPr>
        <p:spPr>
          <a:xfrm>
            <a:off x="7059168" y="3895344"/>
            <a:ext cx="457200" cy="182880"/>
          </a:xfrm>
          <a:prstGeom prst="roundRect">
            <a:avLst>
              <a:gd name="adj" fmla="val 25000"/>
            </a:avLst>
          </a:prstGeom>
          <a:solidFill>
            <a:schemeClr val="accent2">
              <a:alpha val="60000"/>
            </a:schemeClr>
          </a:solidFill>
          <a:ln/>
        </p:spPr>
      </p:sp>
      <p:sp>
        <p:nvSpPr>
          <p:cNvPr id="48" name="record"/>
          <p:cNvSpPr/>
          <p:nvPr/>
        </p:nvSpPr>
        <p:spPr>
          <a:xfrm>
            <a:off x="7644384" y="3895344"/>
            <a:ext cx="457200" cy="182880"/>
          </a:xfrm>
          <a:prstGeom prst="roundRect">
            <a:avLst>
              <a:gd name="adj" fmla="val 25000"/>
            </a:avLst>
          </a:prstGeom>
          <a:solidFill>
            <a:schemeClr val="accent2">
              <a:alpha val="66000"/>
            </a:schemeClr>
          </a:solidFill>
          <a:ln/>
        </p:spPr>
      </p:sp>
      <p:sp>
        <p:nvSpPr>
          <p:cNvPr id="49" name="record"/>
          <p:cNvSpPr/>
          <p:nvPr/>
        </p:nvSpPr>
        <p:spPr>
          <a:xfrm>
            <a:off x="8229600" y="3895344"/>
            <a:ext cx="457200" cy="182880"/>
          </a:xfrm>
          <a:prstGeom prst="roundRect">
            <a:avLst>
              <a:gd name="adj" fmla="val 25000"/>
            </a:avLst>
          </a:prstGeom>
          <a:solidFill>
            <a:schemeClr val="accent2">
              <a:alpha val="72000"/>
            </a:schemeClr>
          </a:solidFill>
          <a:ln/>
        </p:spPr>
      </p:sp>
      <p:sp>
        <p:nvSpPr>
          <p:cNvPr id="50" name="record"/>
          <p:cNvSpPr/>
          <p:nvPr/>
        </p:nvSpPr>
        <p:spPr>
          <a:xfrm>
            <a:off x="8814816" y="3895344"/>
            <a:ext cx="457200" cy="182880"/>
          </a:xfrm>
          <a:prstGeom prst="roundRect">
            <a:avLst>
              <a:gd name="adj" fmla="val 25000"/>
            </a:avLst>
          </a:prstGeom>
          <a:solidFill>
            <a:schemeClr val="accent2">
              <a:alpha val="77000"/>
            </a:schemeClr>
          </a:solidFill>
          <a:ln/>
        </p:spPr>
      </p:sp>
      <p:sp>
        <p:nvSpPr>
          <p:cNvPr id="51" name="record"/>
          <p:cNvSpPr/>
          <p:nvPr/>
        </p:nvSpPr>
        <p:spPr>
          <a:xfrm>
            <a:off x="9400032" y="3895344"/>
            <a:ext cx="457200" cy="182880"/>
          </a:xfrm>
          <a:prstGeom prst="roundRect">
            <a:avLst>
              <a:gd name="adj" fmla="val 25000"/>
            </a:avLst>
          </a:prstGeom>
          <a:solidFill>
            <a:schemeClr val="accent2">
              <a:alpha val="83000"/>
            </a:schemeClr>
          </a:solidFill>
          <a:ln/>
        </p:spPr>
      </p:sp>
      <p:sp>
        <p:nvSpPr>
          <p:cNvPr id="52" name="record"/>
          <p:cNvSpPr/>
          <p:nvPr/>
        </p:nvSpPr>
        <p:spPr>
          <a:xfrm>
            <a:off x="9985248" y="3895344"/>
            <a:ext cx="457200" cy="182880"/>
          </a:xfrm>
          <a:prstGeom prst="roundRect">
            <a:avLst>
              <a:gd name="adj" fmla="val 25000"/>
            </a:avLst>
          </a:prstGeom>
          <a:solidFill>
            <a:schemeClr val="accent2">
              <a:alpha val="89000"/>
            </a:schemeClr>
          </a:solidFill>
          <a:ln/>
        </p:spPr>
      </p:sp>
      <p:sp>
        <p:nvSpPr>
          <p:cNvPr id="53" name="record"/>
          <p:cNvSpPr/>
          <p:nvPr/>
        </p:nvSpPr>
        <p:spPr>
          <a:xfrm>
            <a:off x="10570464" y="3895344"/>
            <a:ext cx="457200" cy="182880"/>
          </a:xfrm>
          <a:prstGeom prst="roundRect">
            <a:avLst>
              <a:gd name="adj" fmla="val 25000"/>
            </a:avLst>
          </a:prstGeom>
          <a:solidFill>
            <a:schemeClr val="accent2">
              <a:alpha val="94000"/>
            </a:schemeClr>
          </a:solidFill>
          <a:ln/>
        </p:spPr>
      </p:sp>
      <p:sp>
        <p:nvSpPr>
          <p:cNvPr id="54" name="record"/>
          <p:cNvSpPr/>
          <p:nvPr/>
        </p:nvSpPr>
        <p:spPr>
          <a:xfrm>
            <a:off x="11155680" y="3895344"/>
            <a:ext cx="457200" cy="182880"/>
          </a:xfrm>
          <a:prstGeom prst="roundRect">
            <a:avLst>
              <a:gd name="adj" fmla="val 25000"/>
            </a:avLst>
          </a:prstGeom>
          <a:solidFill>
            <a:schemeClr val="accent2"/>
          </a:solidFill>
          <a:ln/>
        </p:spPr>
      </p:sp>
      <p:sp>
        <p:nvSpPr>
          <p:cNvPr id="55" name="tagline"/>
          <p:cNvSpPr txBox="1"/>
          <p:nvPr/>
        </p:nvSpPr>
        <p:spPr>
          <a:xfrm>
            <a:off x="822960" y="4937760"/>
            <a:ext cx="10515600" cy="457200"/>
          </a:xfrm>
          <a:prstGeom prst="rect">
            <a:avLst/>
          </a:prstGeom>
          <a:noFill/>
          <a:ln/>
        </p:spPr>
        <p:txBody>
          <a:bodyPr wrap="square" lIns="0" tIns="0" rIns="0" bIns="0" rtlCol="0" anchor="t"/>
          <a:lstStyle/>
          <a:p>
            <a:pPr algn="l" indent="0" marL="0">
              <a:buNone/>
            </a:pPr>
            <a:r>
              <a:rPr lang="en-US" sz="1800" dirty="0">
                <a:solidFill>
                  <a:schemeClr val="tx2"/>
                </a:solidFill>
              </a:rPr>
              <a:t>Problems, fixes and open issues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v3 at a glance: strong core, shaky edges</a:t>
            </a:r>
            <a:endParaRPr lang="en-US" sz="3200" dirty="0"/>
          </a:p>
        </p:txBody>
      </p:sp>
      <p:sp>
        <p:nvSpPr>
          <p:cNvPr id="4" name="card"/>
          <p:cNvSpPr/>
          <p:nvPr/>
        </p:nvSpPr>
        <p:spPr>
          <a:xfrm>
            <a:off x="548640" y="1508760"/>
            <a:ext cx="352044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5" name="text"/>
          <p:cNvSpPr txBox="1"/>
          <p:nvPr/>
        </p:nvSpPr>
        <p:spPr>
          <a:xfrm>
            <a:off x="822960" y="1645920"/>
            <a:ext cx="2971800" cy="914400"/>
          </a:xfrm>
          <a:prstGeom prst="rect">
            <a:avLst/>
          </a:prstGeom>
          <a:noFill/>
          <a:ln/>
        </p:spPr>
        <p:txBody>
          <a:bodyPr wrap="square" lIns="0" tIns="0" rIns="0" bIns="0" rtlCol="0" anchor="ctr"/>
          <a:lstStyle/>
          <a:p>
            <a:pPr algn="l" indent="0" marL="0">
              <a:buNone/>
            </a:pPr>
            <a:r>
              <a:rPr lang="en-US" sz="4400" b="1" dirty="0">
                <a:solidFill>
                  <a:schemeClr val="accent4"/>
                </a:solidFill>
              </a:rPr>
              <a:t>100/100</a:t>
            </a:r>
            <a:endParaRPr lang="en-US" sz="4400" dirty="0"/>
          </a:p>
        </p:txBody>
      </p:sp>
      <p:sp>
        <p:nvSpPr>
          <p:cNvPr id="6" name="text"/>
          <p:cNvSpPr txBox="1"/>
          <p:nvPr/>
        </p:nvSpPr>
        <p:spPr>
          <a:xfrm>
            <a:off x="822960" y="2606040"/>
            <a:ext cx="2971800" cy="868680"/>
          </a:xfrm>
          <a:prstGeom prst="rect">
            <a:avLst/>
          </a:prstGeom>
          <a:noFill/>
          <a:ln/>
        </p:spPr>
        <p:txBody>
          <a:bodyPr wrap="square" lIns="0" tIns="0" rIns="0" bIns="0" rtlCol="0" anchor="t"/>
          <a:lstStyle/>
          <a:p>
            <a:pPr algn="l" indent="0" marL="0">
              <a:buNone/>
            </a:pPr>
            <a:r>
              <a:rPr lang="en-US" sz="1600" dirty="0">
                <a:solidFill>
                  <a:schemeClr val="tx2"/>
                </a:solidFill>
              </a:rPr>
              <a:t>Credit and AP Desks, from an empty cache</a:t>
            </a:r>
            <a:endParaRPr lang="en-US" sz="1600" dirty="0"/>
          </a:p>
        </p:txBody>
      </p:sp>
      <p:sp>
        <p:nvSpPr>
          <p:cNvPr id="7" name="card"/>
          <p:cNvSpPr/>
          <p:nvPr/>
        </p:nvSpPr>
        <p:spPr>
          <a:xfrm>
            <a:off x="4334256" y="1508760"/>
            <a:ext cx="352044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8" name="text"/>
          <p:cNvSpPr txBox="1"/>
          <p:nvPr/>
        </p:nvSpPr>
        <p:spPr>
          <a:xfrm>
            <a:off x="4608576" y="1645920"/>
            <a:ext cx="2971800" cy="914400"/>
          </a:xfrm>
          <a:prstGeom prst="rect">
            <a:avLst/>
          </a:prstGeom>
          <a:noFill/>
          <a:ln/>
        </p:spPr>
        <p:txBody>
          <a:bodyPr wrap="square" lIns="0" tIns="0" rIns="0" bIns="0" rtlCol="0" anchor="ctr"/>
          <a:lstStyle/>
          <a:p>
            <a:pPr algn="l" indent="0" marL="0">
              <a:buNone/>
            </a:pPr>
            <a:r>
              <a:rPr lang="en-US" sz="4400" b="1" dirty="0">
                <a:solidFill>
                  <a:schemeClr val="accent2"/>
                </a:solidFill>
              </a:rPr>
              <a:t>≈12–14×</a:t>
            </a:r>
            <a:endParaRPr lang="en-US" sz="4400" dirty="0"/>
          </a:p>
        </p:txBody>
      </p:sp>
      <p:sp>
        <p:nvSpPr>
          <p:cNvPr id="9" name="text"/>
          <p:cNvSpPr txBox="1"/>
          <p:nvPr/>
        </p:nvSpPr>
        <p:spPr>
          <a:xfrm>
            <a:off x="4608576" y="2606040"/>
            <a:ext cx="2971800" cy="868680"/>
          </a:xfrm>
          <a:prstGeom prst="rect">
            <a:avLst/>
          </a:prstGeom>
          <a:noFill/>
          <a:ln/>
        </p:spPr>
        <p:txBody>
          <a:bodyPr wrap="square" lIns="0" tIns="0" rIns="0" bIns="0" rtlCol="0" anchor="t"/>
          <a:lstStyle/>
          <a:p>
            <a:pPr algn="l" indent="0" marL="0">
              <a:buNone/>
            </a:pPr>
            <a:r>
              <a:rPr lang="en-US" sz="1600" dirty="0">
                <a:solidFill>
                  <a:schemeClr val="tx2"/>
                </a:solidFill>
              </a:rPr>
              <a:t>fewer AI calls than the live agent alone</a:t>
            </a:r>
            <a:endParaRPr lang="en-US" sz="1600" dirty="0"/>
          </a:p>
        </p:txBody>
      </p:sp>
      <p:sp>
        <p:nvSpPr>
          <p:cNvPr id="10" name="card"/>
          <p:cNvSpPr/>
          <p:nvPr/>
        </p:nvSpPr>
        <p:spPr>
          <a:xfrm>
            <a:off x="8119872" y="1508760"/>
            <a:ext cx="352044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11" name="text"/>
          <p:cNvSpPr txBox="1"/>
          <p:nvPr/>
        </p:nvSpPr>
        <p:spPr>
          <a:xfrm>
            <a:off x="8394192" y="1645920"/>
            <a:ext cx="2971800" cy="914400"/>
          </a:xfrm>
          <a:prstGeom prst="rect">
            <a:avLst/>
          </a:prstGeom>
          <a:noFill/>
          <a:ln/>
        </p:spPr>
        <p:txBody>
          <a:bodyPr wrap="square" lIns="0" tIns="0" rIns="0" bIns="0" rtlCol="0" anchor="ctr"/>
          <a:lstStyle/>
          <a:p>
            <a:pPr algn="l" indent="0" marL="0">
              <a:buNone/>
            </a:pPr>
            <a:r>
              <a:rPr lang="en-US" sz="4400" b="1" dirty="0">
                <a:solidFill>
                  <a:schemeClr val="accent3"/>
                </a:solidFill>
              </a:rPr>
              <a:t>12–15 / 16</a:t>
            </a:r>
            <a:endParaRPr lang="en-US" sz="4400" dirty="0"/>
          </a:p>
        </p:txBody>
      </p:sp>
      <p:sp>
        <p:nvSpPr>
          <p:cNvPr id="12" name="text"/>
          <p:cNvSpPr txBox="1"/>
          <p:nvPr/>
        </p:nvSpPr>
        <p:spPr>
          <a:xfrm>
            <a:off x="8394192" y="2606040"/>
            <a:ext cx="2971800" cy="868680"/>
          </a:xfrm>
          <a:prstGeom prst="rect">
            <a:avLst/>
          </a:prstGeom>
          <a:noFill/>
          <a:ln/>
        </p:spPr>
        <p:txBody>
          <a:bodyPr wrap="square" lIns="0" tIns="0" rIns="0" bIns="0" rtlCol="0" anchor="t"/>
          <a:lstStyle/>
          <a:p>
            <a:pPr algn="l" indent="0" marL="0">
              <a:buNone/>
            </a:pPr>
            <a:r>
              <a:rPr lang="en-US" sz="1600" dirty="0">
                <a:solidFill>
                  <a:schemeClr val="tx2"/>
                </a:solidFill>
              </a:rPr>
              <a:t>live score of the latest round, down from 16/16</a:t>
            </a:r>
            <a:endParaRPr lang="en-US" sz="1600" dirty="0"/>
          </a:p>
        </p:txBody>
      </p:sp>
      <p:sp>
        <p:nvSpPr>
          <p:cNvPr id="13" name="card"/>
          <p:cNvSpPr/>
          <p:nvPr/>
        </p:nvSpPr>
        <p:spPr>
          <a:xfrm>
            <a:off x="548640" y="3931920"/>
            <a:ext cx="11094415" cy="1463040"/>
          </a:xfrm>
          <a:prstGeom prst="roundRect">
            <a:avLst>
              <a:gd name="adj" fmla="val 7500"/>
            </a:avLst>
          </a:prstGeom>
          <a:solidFill>
            <a:schemeClr val="accent6"/>
          </a:solidFill>
          <a:ln/>
        </p:spPr>
      </p:sp>
      <p:sp>
        <p:nvSpPr>
          <p:cNvPr id="14" name="circle"/>
          <p:cNvSpPr/>
          <p:nvPr/>
        </p:nvSpPr>
        <p:spPr>
          <a:xfrm>
            <a:off x="914400" y="4343400"/>
            <a:ext cx="640080" cy="640080"/>
          </a:xfrm>
          <a:prstGeom prst="ellipse">
            <a:avLst/>
          </a:prstGeom>
          <a:solidFill>
            <a:schemeClr val="accent2"/>
          </a:solidFill>
          <a:ln/>
        </p:spPr>
      </p:sp>
      <p:pic>
        <p:nvPicPr>
          <p:cNvPr id="15" name="icon FaSearch" descr="Search icon">    </p:cNvPr>
          <p:cNvPicPr>
            <a:picLocks noChangeAspect="1"/>
          </p:cNvPicPr>
          <p:nvPr/>
        </p:nvPicPr>
        <p:blipFill>
          <a:blip r:embed="rId1"/>
          <a:stretch>
            <a:fillRect/>
          </a:stretch>
        </p:blipFill>
        <p:spPr>
          <a:xfrm>
            <a:off x="1055218" y="4484218"/>
            <a:ext cx="358445" cy="358445"/>
          </a:xfrm>
          <a:prstGeom prst="rect">
            <a:avLst/>
          </a:prstGeom>
        </p:spPr>
      </p:pic>
      <p:sp>
        <p:nvSpPr>
          <p:cNvPr id="16" name="text"/>
          <p:cNvSpPr txBox="1"/>
          <p:nvPr/>
        </p:nvSpPr>
        <p:spPr>
          <a:xfrm>
            <a:off x="1920240" y="3931920"/>
            <a:ext cx="9418320" cy="1463040"/>
          </a:xfrm>
          <a:prstGeom prst="rect">
            <a:avLst/>
          </a:prstGeom>
          <a:noFill/>
          <a:ln/>
        </p:spPr>
        <p:txBody>
          <a:bodyPr wrap="square" lIns="0" tIns="0" rIns="0" bIns="0" rtlCol="0" anchor="ctr"/>
          <a:lstStyle/>
          <a:p>
            <a:pPr algn="l" indent="0" marL="0">
              <a:buNone/>
            </a:pPr>
            <a:r>
              <a:rPr lang="en-US" sz="2200" b="1" dirty="0">
                <a:solidFill>
                  <a:schemeClr val="tx1"/>
                </a:solidFill>
              </a:rPr>
              <a:t>The core works. The problems are at the edges, and in everything built after it.</a:t>
            </a:r>
            <a:endParaRPr lang="en-US" sz="2200" dirty="0"/>
          </a:p>
        </p:txBody>
      </p:sp>
      <p:sp>
        <p:nvSpPr>
          <p:cNvPr id="17" name="text"/>
          <p:cNvSpPr txBox="1"/>
          <p:nvPr/>
        </p:nvSpPr>
        <p:spPr>
          <a:xfrm>
            <a:off x="548640" y="5669280"/>
            <a:ext cx="11094415" cy="411480"/>
          </a:xfrm>
          <a:prstGeom prst="rect">
            <a:avLst/>
          </a:prstGeom>
          <a:noFill/>
          <a:ln/>
        </p:spPr>
        <p:txBody>
          <a:bodyPr wrap="square" lIns="0" tIns="0" rIns="0" bIns="0" rtlCol="0" anchor="t"/>
          <a:lstStyle/>
          <a:p>
            <a:pPr algn="l" indent="0" marL="0">
              <a:buNone/>
            </a:pPr>
            <a:r>
              <a:rPr lang="en-US" sz="1400" i="1" dirty="0">
                <a:solidFill>
                  <a:schemeClr val="tx2"/>
                </a:solidFill>
              </a:rPr>
              <a:t>All results come from five in-house test sites; no third-party site has been tested yet.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map: where v3 went wrong</a:t>
            </a:r>
            <a:endParaRPr lang="en-US" sz="3200" dirty="0"/>
          </a:p>
        </p:txBody>
      </p:sp>
      <p:sp>
        <p:nvSpPr>
          <p:cNvPr id="4" name="card"/>
          <p:cNvSpPr/>
          <p:nvPr/>
        </p:nvSpPr>
        <p:spPr>
          <a:xfrm>
            <a:off x="548640" y="1463040"/>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5" name="circle"/>
          <p:cNvSpPr/>
          <p:nvPr/>
        </p:nvSpPr>
        <p:spPr>
          <a:xfrm>
            <a:off x="777240" y="1664208"/>
            <a:ext cx="502920" cy="502920"/>
          </a:xfrm>
          <a:prstGeom prst="ellipse">
            <a:avLst/>
          </a:prstGeom>
          <a:solidFill>
            <a:schemeClr val="accent4"/>
          </a:solidFill>
          <a:ln/>
        </p:spPr>
      </p:sp>
      <p:pic>
        <p:nvPicPr>
          <p:cNvPr id="6" name="icon FaEyeSlash" descr="EyeSlash icon">    </p:cNvPr>
          <p:cNvPicPr>
            <a:picLocks noChangeAspect="1"/>
          </p:cNvPicPr>
          <p:nvPr/>
        </p:nvPicPr>
        <p:blipFill>
          <a:blip r:embed="rId1"/>
          <a:stretch>
            <a:fillRect/>
          </a:stretch>
        </p:blipFill>
        <p:spPr>
          <a:xfrm>
            <a:off x="887882" y="1774850"/>
            <a:ext cx="281635" cy="281635"/>
          </a:xfrm>
          <a:prstGeom prst="rect">
            <a:avLst/>
          </a:prstGeom>
        </p:spPr>
      </p:pic>
      <p:sp>
        <p:nvSpPr>
          <p:cNvPr id="7" name="text"/>
          <p:cNvSpPr txBox="1"/>
          <p:nvPr/>
        </p:nvSpPr>
        <p:spPr>
          <a:xfrm>
            <a:off x="777240" y="2286000"/>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Silent wrong answers</a:t>
            </a:r>
            <a:endParaRPr lang="en-US" sz="1600" dirty="0"/>
          </a:p>
        </p:txBody>
      </p:sp>
      <p:sp>
        <p:nvSpPr>
          <p:cNvPr id="8" name="text"/>
          <p:cNvSpPr txBox="1"/>
          <p:nvPr/>
        </p:nvSpPr>
        <p:spPr>
          <a:xfrm>
            <a:off x="777240" y="2816352"/>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A cache reported success while doing the wrong thing</a:t>
            </a:r>
            <a:endParaRPr lang="en-US" sz="1200" dirty="0"/>
          </a:p>
        </p:txBody>
      </p:sp>
      <p:sp>
        <p:nvSpPr>
          <p:cNvPr id="9" name="status chip"/>
          <p:cNvSpPr/>
          <p:nvPr/>
        </p:nvSpPr>
        <p:spPr>
          <a:xfrm>
            <a:off x="777240" y="3364992"/>
            <a:ext cx="1188720" cy="310896"/>
          </a:xfrm>
          <a:prstGeom prst="roundRect">
            <a:avLst>
              <a:gd name="adj" fmla="val 50000"/>
            </a:avLst>
          </a:prstGeom>
          <a:solidFill>
            <a:schemeClr val="accent4"/>
          </a:solidFill>
          <a:ln/>
        </p:spPr>
      </p:sp>
      <p:sp>
        <p:nvSpPr>
          <p:cNvPr id="10" name="status"/>
          <p:cNvSpPr txBox="1"/>
          <p:nvPr/>
        </p:nvSpPr>
        <p:spPr>
          <a:xfrm>
            <a:off x="777240" y="336499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Fixed</a:t>
            </a:r>
            <a:endParaRPr lang="en-US" sz="1200" dirty="0"/>
          </a:p>
        </p:txBody>
      </p:sp>
      <p:sp>
        <p:nvSpPr>
          <p:cNvPr id="11" name="card"/>
          <p:cNvSpPr/>
          <p:nvPr/>
        </p:nvSpPr>
        <p:spPr>
          <a:xfrm>
            <a:off x="3362249" y="1463040"/>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12" name="circle"/>
          <p:cNvSpPr/>
          <p:nvPr/>
        </p:nvSpPr>
        <p:spPr>
          <a:xfrm>
            <a:off x="3590849" y="1664208"/>
            <a:ext cx="502920" cy="502920"/>
          </a:xfrm>
          <a:prstGeom prst="ellipse">
            <a:avLst/>
          </a:prstGeom>
          <a:solidFill>
            <a:schemeClr val="accent1"/>
          </a:solidFill>
          <a:ln/>
        </p:spPr>
      </p:sp>
      <p:pic>
        <p:nvPicPr>
          <p:cNvPr id="13" name="icon FaExclamationTriangle" descr="ExclamationTriangle icon">    </p:cNvPr>
          <p:cNvPicPr>
            <a:picLocks noChangeAspect="1"/>
          </p:cNvPicPr>
          <p:nvPr/>
        </p:nvPicPr>
        <p:blipFill>
          <a:blip r:embed="rId2"/>
          <a:stretch>
            <a:fillRect/>
          </a:stretch>
        </p:blipFill>
        <p:spPr>
          <a:xfrm>
            <a:off x="3701491" y="1774850"/>
            <a:ext cx="281635" cy="281635"/>
          </a:xfrm>
          <a:prstGeom prst="rect">
            <a:avLst/>
          </a:prstGeom>
        </p:spPr>
      </p:pic>
      <p:sp>
        <p:nvSpPr>
          <p:cNvPr id="14" name="text"/>
          <p:cNvSpPr txBox="1"/>
          <p:nvPr/>
        </p:nvSpPr>
        <p:spPr>
          <a:xfrm>
            <a:off x="3590849" y="2286000"/>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Guessing and over-trust</a:t>
            </a:r>
            <a:endParaRPr lang="en-US" sz="1600" dirty="0"/>
          </a:p>
        </p:txBody>
      </p:sp>
      <p:sp>
        <p:nvSpPr>
          <p:cNvPr id="15" name="text"/>
          <p:cNvSpPr txBox="1"/>
          <p:nvPr/>
        </p:nvSpPr>
        <p:spPr>
          <a:xfrm>
            <a:off x="3590849" y="2816352"/>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A plan saved a guessed fee; the AI said it was sure</a:t>
            </a:r>
            <a:endParaRPr lang="en-US" sz="1200" dirty="0"/>
          </a:p>
        </p:txBody>
      </p:sp>
      <p:sp>
        <p:nvSpPr>
          <p:cNvPr id="16" name="status chip"/>
          <p:cNvSpPr/>
          <p:nvPr/>
        </p:nvSpPr>
        <p:spPr>
          <a:xfrm>
            <a:off x="3590849" y="3364992"/>
            <a:ext cx="1188720" cy="310896"/>
          </a:xfrm>
          <a:prstGeom prst="roundRect">
            <a:avLst>
              <a:gd name="adj" fmla="val 50000"/>
            </a:avLst>
          </a:prstGeom>
          <a:solidFill>
            <a:schemeClr val="accent1"/>
          </a:solidFill>
          <a:ln/>
        </p:spPr>
      </p:sp>
      <p:sp>
        <p:nvSpPr>
          <p:cNvPr id="17" name="status"/>
          <p:cNvSpPr txBox="1"/>
          <p:nvPr/>
        </p:nvSpPr>
        <p:spPr>
          <a:xfrm>
            <a:off x="3590849" y="336499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18" name="card"/>
          <p:cNvSpPr/>
          <p:nvPr/>
        </p:nvSpPr>
        <p:spPr>
          <a:xfrm>
            <a:off x="6175858" y="1463040"/>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6404458" y="1664208"/>
            <a:ext cx="502920" cy="502920"/>
          </a:xfrm>
          <a:prstGeom prst="ellipse">
            <a:avLst/>
          </a:prstGeom>
          <a:solidFill>
            <a:schemeClr val="accent1"/>
          </a:solidFill>
          <a:ln/>
        </p:spPr>
      </p:sp>
      <p:pic>
        <p:nvPicPr>
          <p:cNvPr id="20" name="icon FaRandom" descr="Random icon">    </p:cNvPr>
          <p:cNvPicPr>
            <a:picLocks noChangeAspect="1"/>
          </p:cNvPicPr>
          <p:nvPr/>
        </p:nvPicPr>
        <p:blipFill>
          <a:blip r:embed="rId3"/>
          <a:stretch>
            <a:fillRect/>
          </a:stretch>
        </p:blipFill>
        <p:spPr>
          <a:xfrm>
            <a:off x="6515100" y="1774850"/>
            <a:ext cx="281635" cy="281635"/>
          </a:xfrm>
          <a:prstGeom prst="rect">
            <a:avLst/>
          </a:prstGeom>
        </p:spPr>
      </p:pic>
      <p:sp>
        <p:nvSpPr>
          <p:cNvPr id="21" name="text"/>
          <p:cNvSpPr txBox="1"/>
          <p:nvPr/>
        </p:nvSpPr>
        <p:spPr>
          <a:xfrm>
            <a:off x="6404458" y="2286000"/>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Real AI breaks learning</a:t>
            </a:r>
            <a:endParaRPr lang="en-US" sz="1600" dirty="0"/>
          </a:p>
        </p:txBody>
      </p:sp>
      <p:sp>
        <p:nvSpPr>
          <p:cNvPr id="22" name="text"/>
          <p:cNvSpPr txBox="1"/>
          <p:nvPr/>
        </p:nvSpPr>
        <p:spPr>
          <a:xfrm>
            <a:off x="6404458" y="2816352"/>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Messy recordings broke the plan compiler</a:t>
            </a:r>
            <a:endParaRPr lang="en-US" sz="1200" dirty="0"/>
          </a:p>
        </p:txBody>
      </p:sp>
      <p:sp>
        <p:nvSpPr>
          <p:cNvPr id="23" name="status chip"/>
          <p:cNvSpPr/>
          <p:nvPr/>
        </p:nvSpPr>
        <p:spPr>
          <a:xfrm>
            <a:off x="6404458" y="3364992"/>
            <a:ext cx="1188720" cy="310896"/>
          </a:xfrm>
          <a:prstGeom prst="roundRect">
            <a:avLst>
              <a:gd name="adj" fmla="val 50000"/>
            </a:avLst>
          </a:prstGeom>
          <a:solidFill>
            <a:schemeClr val="accent1"/>
          </a:solidFill>
          <a:ln/>
        </p:spPr>
      </p:sp>
      <p:sp>
        <p:nvSpPr>
          <p:cNvPr id="24" name="status"/>
          <p:cNvSpPr txBox="1"/>
          <p:nvPr/>
        </p:nvSpPr>
        <p:spPr>
          <a:xfrm>
            <a:off x="6404458" y="336499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25" name="card"/>
          <p:cNvSpPr/>
          <p:nvPr/>
        </p:nvSpPr>
        <p:spPr>
          <a:xfrm>
            <a:off x="8989466" y="1463040"/>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26" name="circle"/>
          <p:cNvSpPr/>
          <p:nvPr/>
        </p:nvSpPr>
        <p:spPr>
          <a:xfrm>
            <a:off x="9218066" y="1664208"/>
            <a:ext cx="502920" cy="502920"/>
          </a:xfrm>
          <a:prstGeom prst="ellipse">
            <a:avLst/>
          </a:prstGeom>
          <a:solidFill>
            <a:schemeClr val="accent1"/>
          </a:solidFill>
          <a:ln/>
        </p:spPr>
      </p:sp>
      <p:pic>
        <p:nvPicPr>
          <p:cNvPr id="27" name="icon FaDesktop" descr="Desktop icon">    </p:cNvPr>
          <p:cNvPicPr>
            <a:picLocks noChangeAspect="1"/>
          </p:cNvPicPr>
          <p:nvPr/>
        </p:nvPicPr>
        <p:blipFill>
          <a:blip r:embed="rId4"/>
          <a:stretch>
            <a:fillRect/>
          </a:stretch>
        </p:blipFill>
        <p:spPr>
          <a:xfrm>
            <a:off x="9328709" y="1774850"/>
            <a:ext cx="281635" cy="281635"/>
          </a:xfrm>
          <a:prstGeom prst="rect">
            <a:avLst/>
          </a:prstGeom>
        </p:spPr>
      </p:pic>
      <p:sp>
        <p:nvSpPr>
          <p:cNvPr id="28" name="text"/>
          <p:cNvSpPr txBox="1"/>
          <p:nvPr/>
        </p:nvSpPr>
        <p:spPr>
          <a:xfrm>
            <a:off x="9218066" y="2286000"/>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Modern web UIs</a:t>
            </a:r>
            <a:endParaRPr lang="en-US" sz="1600" dirty="0"/>
          </a:p>
        </p:txBody>
      </p:sp>
      <p:sp>
        <p:nvSpPr>
          <p:cNvPr id="29" name="text"/>
          <p:cNvSpPr txBox="1"/>
          <p:nvPr/>
        </p:nvSpPr>
        <p:spPr>
          <a:xfrm>
            <a:off x="9218066" y="2816352"/>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Wizards, random ids and tabs broke the engine</a:t>
            </a:r>
            <a:endParaRPr lang="en-US" sz="1200" dirty="0"/>
          </a:p>
        </p:txBody>
      </p:sp>
      <p:sp>
        <p:nvSpPr>
          <p:cNvPr id="30" name="status chip"/>
          <p:cNvSpPr/>
          <p:nvPr/>
        </p:nvSpPr>
        <p:spPr>
          <a:xfrm>
            <a:off x="9218066" y="3364992"/>
            <a:ext cx="1188720" cy="310896"/>
          </a:xfrm>
          <a:prstGeom prst="roundRect">
            <a:avLst>
              <a:gd name="adj" fmla="val 50000"/>
            </a:avLst>
          </a:prstGeom>
          <a:solidFill>
            <a:schemeClr val="accent1"/>
          </a:solidFill>
          <a:ln/>
        </p:spPr>
      </p:sp>
      <p:sp>
        <p:nvSpPr>
          <p:cNvPr id="31" name="status"/>
          <p:cNvSpPr txBox="1"/>
          <p:nvPr/>
        </p:nvSpPr>
        <p:spPr>
          <a:xfrm>
            <a:off x="9218066" y="336499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32" name="card"/>
          <p:cNvSpPr/>
          <p:nvPr/>
        </p:nvSpPr>
        <p:spPr>
          <a:xfrm>
            <a:off x="548640" y="3858768"/>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33" name="circle"/>
          <p:cNvSpPr/>
          <p:nvPr/>
        </p:nvSpPr>
        <p:spPr>
          <a:xfrm>
            <a:off x="777240" y="4059936"/>
            <a:ext cx="502920" cy="502920"/>
          </a:xfrm>
          <a:prstGeom prst="ellipse">
            <a:avLst/>
          </a:prstGeom>
          <a:solidFill>
            <a:schemeClr val="accent1"/>
          </a:solidFill>
          <a:ln/>
        </p:spPr>
      </p:sp>
      <p:pic>
        <p:nvPicPr>
          <p:cNvPr id="34" name="icon FaLock" descr="Lock icon">    </p:cNvPr>
          <p:cNvPicPr>
            <a:picLocks noChangeAspect="1"/>
          </p:cNvPicPr>
          <p:nvPr/>
        </p:nvPicPr>
        <p:blipFill>
          <a:blip r:embed="rId5"/>
          <a:stretch>
            <a:fillRect/>
          </a:stretch>
        </p:blipFill>
        <p:spPr>
          <a:xfrm>
            <a:off x="887882" y="4170578"/>
            <a:ext cx="281635" cy="281635"/>
          </a:xfrm>
          <a:prstGeom prst="rect">
            <a:avLst/>
          </a:prstGeom>
        </p:spPr>
      </p:pic>
      <p:sp>
        <p:nvSpPr>
          <p:cNvPr id="35" name="text"/>
          <p:cNvSpPr txBox="1"/>
          <p:nvPr/>
        </p:nvSpPr>
        <p:spPr>
          <a:xfrm>
            <a:off x="777240" y="4681728"/>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Irreversible actions</a:t>
            </a:r>
            <a:endParaRPr lang="en-US" sz="1600" dirty="0"/>
          </a:p>
        </p:txBody>
      </p:sp>
      <p:sp>
        <p:nvSpPr>
          <p:cNvPr id="36" name="text"/>
          <p:cNvSpPr txBox="1"/>
          <p:nvPr/>
        </p:nvSpPr>
        <p:spPr>
          <a:xfrm>
            <a:off x="777240" y="5212080"/>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A failure after pressing Next lost 3 records</a:t>
            </a:r>
            <a:endParaRPr lang="en-US" sz="1200" dirty="0"/>
          </a:p>
        </p:txBody>
      </p:sp>
      <p:sp>
        <p:nvSpPr>
          <p:cNvPr id="37" name="status chip"/>
          <p:cNvSpPr/>
          <p:nvPr/>
        </p:nvSpPr>
        <p:spPr>
          <a:xfrm>
            <a:off x="777240" y="5760720"/>
            <a:ext cx="1188720" cy="310896"/>
          </a:xfrm>
          <a:prstGeom prst="roundRect">
            <a:avLst>
              <a:gd name="adj" fmla="val 50000"/>
            </a:avLst>
          </a:prstGeom>
          <a:solidFill>
            <a:schemeClr val="accent1"/>
          </a:solidFill>
          <a:ln/>
        </p:spPr>
      </p:sp>
      <p:sp>
        <p:nvSpPr>
          <p:cNvPr id="38" name="status"/>
          <p:cNvSpPr txBox="1"/>
          <p:nvPr/>
        </p:nvSpPr>
        <p:spPr>
          <a:xfrm>
            <a:off x="777240" y="5760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39" name="card"/>
          <p:cNvSpPr/>
          <p:nvPr/>
        </p:nvSpPr>
        <p:spPr>
          <a:xfrm>
            <a:off x="3362249" y="3858768"/>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40" name="circle"/>
          <p:cNvSpPr/>
          <p:nvPr/>
        </p:nvSpPr>
        <p:spPr>
          <a:xfrm>
            <a:off x="3590849" y="4059936"/>
            <a:ext cx="502920" cy="502920"/>
          </a:xfrm>
          <a:prstGeom prst="ellipse">
            <a:avLst/>
          </a:prstGeom>
          <a:solidFill>
            <a:schemeClr val="accent3"/>
          </a:solidFill>
          <a:ln/>
        </p:spPr>
      </p:sp>
      <p:pic>
        <p:nvPicPr>
          <p:cNvPr id="41" name="icon FaGavel" descr="Gavel icon">    </p:cNvPr>
          <p:cNvPicPr>
            <a:picLocks noChangeAspect="1"/>
          </p:cNvPicPr>
          <p:nvPr/>
        </p:nvPicPr>
        <p:blipFill>
          <a:blip r:embed="rId6"/>
          <a:stretch>
            <a:fillRect/>
          </a:stretch>
        </p:blipFill>
        <p:spPr>
          <a:xfrm>
            <a:off x="3701491" y="4170578"/>
            <a:ext cx="281635" cy="281635"/>
          </a:xfrm>
          <a:prstGeom prst="rect">
            <a:avLst/>
          </a:prstGeom>
        </p:spPr>
      </p:pic>
      <p:sp>
        <p:nvSpPr>
          <p:cNvPr id="42" name="text"/>
          <p:cNvSpPr txBox="1"/>
          <p:nvPr/>
        </p:nvSpPr>
        <p:spPr>
          <a:xfrm>
            <a:off x="3590849" y="4681728"/>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The referee is fallible</a:t>
            </a:r>
            <a:endParaRPr lang="en-US" sz="1600" dirty="0"/>
          </a:p>
        </p:txBody>
      </p:sp>
      <p:sp>
        <p:nvSpPr>
          <p:cNvPr id="43" name="text"/>
          <p:cNvSpPr txBox="1"/>
          <p:nvPr/>
        </p:nvSpPr>
        <p:spPr>
          <a:xfrm>
            <a:off x="3590849" y="5212080"/>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Plans are judged by an agent that is sometimes wrong</a:t>
            </a:r>
            <a:endParaRPr lang="en-US" sz="1200" dirty="0"/>
          </a:p>
        </p:txBody>
      </p:sp>
      <p:sp>
        <p:nvSpPr>
          <p:cNvPr id="44" name="status chip"/>
          <p:cNvSpPr/>
          <p:nvPr/>
        </p:nvSpPr>
        <p:spPr>
          <a:xfrm>
            <a:off x="3590849" y="5760720"/>
            <a:ext cx="1188720" cy="310896"/>
          </a:xfrm>
          <a:prstGeom prst="roundRect">
            <a:avLst>
              <a:gd name="adj" fmla="val 50000"/>
            </a:avLst>
          </a:prstGeom>
          <a:solidFill>
            <a:schemeClr val="accent3"/>
          </a:solidFill>
          <a:ln/>
        </p:spPr>
      </p:sp>
      <p:sp>
        <p:nvSpPr>
          <p:cNvPr id="45" name="status"/>
          <p:cNvSpPr txBox="1"/>
          <p:nvPr/>
        </p:nvSpPr>
        <p:spPr>
          <a:xfrm>
            <a:off x="3590849" y="5760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46" name="card"/>
          <p:cNvSpPr/>
          <p:nvPr/>
        </p:nvSpPr>
        <p:spPr>
          <a:xfrm>
            <a:off x="6175858" y="3858768"/>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47" name="circle"/>
          <p:cNvSpPr/>
          <p:nvPr/>
        </p:nvSpPr>
        <p:spPr>
          <a:xfrm>
            <a:off x="6404458" y="4059936"/>
            <a:ext cx="502920" cy="502920"/>
          </a:xfrm>
          <a:prstGeom prst="ellipse">
            <a:avLst/>
          </a:prstGeom>
          <a:solidFill>
            <a:schemeClr val="accent3"/>
          </a:solidFill>
          <a:ln/>
        </p:spPr>
      </p:sp>
      <p:pic>
        <p:nvPicPr>
          <p:cNvPr id="48" name="icon FaCogs" descr="Cogs icon">    </p:cNvPr>
          <p:cNvPicPr>
            <a:picLocks noChangeAspect="1"/>
          </p:cNvPicPr>
          <p:nvPr/>
        </p:nvPicPr>
        <p:blipFill>
          <a:blip r:embed="rId7"/>
          <a:stretch>
            <a:fillRect/>
          </a:stretch>
        </p:blipFill>
        <p:spPr>
          <a:xfrm>
            <a:off x="6515100" y="4170578"/>
            <a:ext cx="281635" cy="281635"/>
          </a:xfrm>
          <a:prstGeom prst="rect">
            <a:avLst/>
          </a:prstGeom>
        </p:spPr>
      </p:pic>
      <p:sp>
        <p:nvSpPr>
          <p:cNvPr id="49" name="text"/>
          <p:cNvSpPr txBox="1"/>
          <p:nvPr/>
        </p:nvSpPr>
        <p:spPr>
          <a:xfrm>
            <a:off x="6404458" y="4681728"/>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Zero-call decisions</a:t>
            </a:r>
            <a:endParaRPr lang="en-US" sz="1600" dirty="0"/>
          </a:p>
        </p:txBody>
      </p:sp>
      <p:sp>
        <p:nvSpPr>
          <p:cNvPr id="50" name="text"/>
          <p:cNvSpPr txBox="1"/>
          <p:nvPr/>
        </p:nvSpPr>
        <p:spPr>
          <a:xfrm>
            <a:off x="6404458" y="5212080"/>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Decision programs never worked live</a:t>
            </a:r>
            <a:endParaRPr lang="en-US" sz="1200" dirty="0"/>
          </a:p>
        </p:txBody>
      </p:sp>
      <p:sp>
        <p:nvSpPr>
          <p:cNvPr id="51" name="status chip"/>
          <p:cNvSpPr/>
          <p:nvPr/>
        </p:nvSpPr>
        <p:spPr>
          <a:xfrm>
            <a:off x="6404458" y="5760720"/>
            <a:ext cx="1188720" cy="310896"/>
          </a:xfrm>
          <a:prstGeom prst="roundRect">
            <a:avLst>
              <a:gd name="adj" fmla="val 50000"/>
            </a:avLst>
          </a:prstGeom>
          <a:solidFill>
            <a:schemeClr val="accent3"/>
          </a:solidFill>
          <a:ln/>
        </p:spPr>
      </p:sp>
      <p:sp>
        <p:nvSpPr>
          <p:cNvPr id="52" name="status"/>
          <p:cNvSpPr txBox="1"/>
          <p:nvPr/>
        </p:nvSpPr>
        <p:spPr>
          <a:xfrm>
            <a:off x="6404458" y="5760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53" name="card"/>
          <p:cNvSpPr/>
          <p:nvPr/>
        </p:nvSpPr>
        <p:spPr>
          <a:xfrm>
            <a:off x="8989466" y="3858768"/>
            <a:ext cx="2651760" cy="2258568"/>
          </a:xfrm>
          <a:prstGeom prst="roundRect">
            <a:avLst>
              <a:gd name="adj" fmla="val 4858"/>
            </a:avLst>
          </a:prstGeom>
          <a:solidFill>
            <a:schemeClr val="bg1"/>
          </a:solidFill>
          <a:ln/>
          <a:effectLst>
            <a:outerShdw sx="100000" sy="100000" kx="0" ky="0" algn="bl" rotWithShape="0" blurRad="88900" dist="25400" dir="5400000">
              <a:srgbClr val="000000">
                <a:alpha val="13000"/>
              </a:srgbClr>
            </a:outerShdw>
          </a:effectLst>
        </p:spPr>
      </p:sp>
      <p:sp>
        <p:nvSpPr>
          <p:cNvPr id="54" name="circle"/>
          <p:cNvSpPr/>
          <p:nvPr/>
        </p:nvSpPr>
        <p:spPr>
          <a:xfrm>
            <a:off x="9218066" y="4059936"/>
            <a:ext cx="502920" cy="502920"/>
          </a:xfrm>
          <a:prstGeom prst="ellipse">
            <a:avLst/>
          </a:prstGeom>
          <a:solidFill>
            <a:schemeClr val="accent2"/>
          </a:solidFill>
          <a:ln/>
        </p:spPr>
      </p:sp>
      <p:pic>
        <p:nvPicPr>
          <p:cNvPr id="55" name="icon FaFlask" descr="Flask icon">    </p:cNvPr>
          <p:cNvPicPr>
            <a:picLocks noChangeAspect="1"/>
          </p:cNvPicPr>
          <p:nvPr/>
        </p:nvPicPr>
        <p:blipFill>
          <a:blip r:embed="rId8"/>
          <a:stretch>
            <a:fillRect/>
          </a:stretch>
        </p:blipFill>
        <p:spPr>
          <a:xfrm>
            <a:off x="9328709" y="4170578"/>
            <a:ext cx="281635" cy="281635"/>
          </a:xfrm>
          <a:prstGeom prst="rect">
            <a:avLst/>
          </a:prstGeom>
        </p:spPr>
      </p:pic>
      <p:sp>
        <p:nvSpPr>
          <p:cNvPr id="56" name="text"/>
          <p:cNvSpPr txBox="1"/>
          <p:nvPr/>
        </p:nvSpPr>
        <p:spPr>
          <a:xfrm>
            <a:off x="9218066" y="4681728"/>
            <a:ext cx="2240280" cy="502920"/>
          </a:xfrm>
          <a:prstGeom prst="rect">
            <a:avLst/>
          </a:prstGeom>
          <a:noFill/>
          <a:ln/>
        </p:spPr>
        <p:txBody>
          <a:bodyPr wrap="square" lIns="0" tIns="0" rIns="0" bIns="0" rtlCol="0" anchor="ctr"/>
          <a:lstStyle/>
          <a:p>
            <a:pPr algn="l" indent="0" marL="0">
              <a:buNone/>
            </a:pPr>
            <a:r>
              <a:rPr lang="en-US" sz="1600" b="1" dirty="0">
                <a:solidFill>
                  <a:schemeClr val="tx1"/>
                </a:solidFill>
              </a:rPr>
              <a:t>Testing and process</a:t>
            </a:r>
            <a:endParaRPr lang="en-US" sz="1600" dirty="0"/>
          </a:p>
        </p:txBody>
      </p:sp>
      <p:sp>
        <p:nvSpPr>
          <p:cNvPr id="57" name="text"/>
          <p:cNvSpPr txBox="1"/>
          <p:nvPr/>
        </p:nvSpPr>
        <p:spPr>
          <a:xfrm>
            <a:off x="9218066" y="5212080"/>
            <a:ext cx="2240280" cy="566928"/>
          </a:xfrm>
          <a:prstGeom prst="rect">
            <a:avLst/>
          </a:prstGeom>
          <a:noFill/>
          <a:ln/>
        </p:spPr>
        <p:txBody>
          <a:bodyPr wrap="square" lIns="0" tIns="0" rIns="0" bIns="0" rtlCol="0" anchor="t"/>
          <a:lstStyle/>
          <a:p>
            <a:pPr algn="l" indent="0" marL="0">
              <a:buNone/>
            </a:pPr>
            <a:r>
              <a:rPr lang="en-US" sz="1200" dirty="0">
                <a:solidFill>
                  <a:schemeClr val="tx2"/>
                </a:solidFill>
              </a:rPr>
              <a:t>Quota, variance, and too much built before live tests</a:t>
            </a:r>
            <a:endParaRPr lang="en-US" sz="1200" dirty="0"/>
          </a:p>
        </p:txBody>
      </p:sp>
      <p:sp>
        <p:nvSpPr>
          <p:cNvPr id="58" name="status chip"/>
          <p:cNvSpPr/>
          <p:nvPr/>
        </p:nvSpPr>
        <p:spPr>
          <a:xfrm>
            <a:off x="9218066" y="5760720"/>
            <a:ext cx="1188720" cy="310896"/>
          </a:xfrm>
          <a:prstGeom prst="roundRect">
            <a:avLst>
              <a:gd name="adj" fmla="val 50000"/>
            </a:avLst>
          </a:prstGeom>
          <a:solidFill>
            <a:schemeClr val="accent2"/>
          </a:solidFill>
          <a:ln/>
        </p:spPr>
      </p:sp>
      <p:sp>
        <p:nvSpPr>
          <p:cNvPr id="59" name="status"/>
          <p:cNvSpPr txBox="1"/>
          <p:nvPr/>
        </p:nvSpPr>
        <p:spPr>
          <a:xfrm>
            <a:off x="9218066" y="5760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Managed</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1: silent wrong answers</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4"/>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Fixed</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AP Desk, first run: 1 of 10 correct. Nine 'successes' were wrong.</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The old click cache replayed record 1's clicks for every record</a:t>
            </a:r>
            <a:endParaRPr lang="en-US" sz="1600" dirty="0"/>
          </a:p>
          <a:p>
            <a:pPr algn="l" marL="342900" indent="-342900">
              <a:spcAft>
                <a:spcPts val="800"/>
              </a:spcAft>
              <a:buSzPct val="100000"/>
              <a:buChar char="•"/>
            </a:pPr>
            <a:r>
              <a:rPr lang="en-US" sz="1600" dirty="0">
                <a:solidFill>
                  <a:schemeClr val="tx1"/>
                </a:solidFill>
              </a:rPr>
              <a:t>Nine records reported success; nothing crashed</a:t>
            </a:r>
            <a:endParaRPr lang="en-US" sz="1600" dirty="0"/>
          </a:p>
          <a:p>
            <a:pPr algn="l" marL="342900" indent="-342900">
              <a:spcAft>
                <a:spcPts val="800"/>
              </a:spcAft>
              <a:buSzPct val="100000"/>
              <a:buChar char="•"/>
            </a:pPr>
            <a:r>
              <a:rPr lang="en-US" sz="1600" dirty="0">
                <a:solidFill>
                  <a:schemeClr val="tx1"/>
                </a:solidFill>
              </a:rPr>
              <a:t>Only refused saves and the outside grader caught it</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How it was fixed</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Replay-safety check switches unsafe replays off</a:t>
            </a:r>
            <a:endParaRPr lang="en-US" sz="1600" dirty="0"/>
          </a:p>
          <a:p>
            <a:pPr algn="l" marL="342900" indent="-342900">
              <a:spcAft>
                <a:spcPts val="800"/>
              </a:spcAft>
              <a:buSzPct val="100000"/>
              <a:buChar char="•"/>
            </a:pPr>
            <a:r>
              <a:rPr lang="en-US" sz="1600" dirty="0">
                <a:solidFill>
                  <a:schemeClr val="tx1"/>
                </a:solidFill>
              </a:rPr>
              <a:t>Plans label every value: from the record, a page, or a decision</a:t>
            </a:r>
            <a:endParaRPr lang="en-US" sz="1600" dirty="0"/>
          </a:p>
          <a:p>
            <a:pPr algn="l" marL="342900" indent="-342900">
              <a:spcAft>
                <a:spcPts val="800"/>
              </a:spcAft>
              <a:buSzPct val="100000"/>
              <a:buChar char="•"/>
            </a:pPr>
            <a:r>
              <a:rPr lang="en-US" sz="1600" dirty="0">
                <a:solidFill>
                  <a:schemeClr val="tx1"/>
                </a:solidFill>
              </a:rPr>
              <a:t>A new plan must match the live agent on 2 records first</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CheckCircle" descr="CheckCirc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Status</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Solved: 100/100 on the AP Desk (100 records)</a:t>
            </a:r>
            <a:endParaRPr lang="en-US" sz="1600" dirty="0"/>
          </a:p>
          <a:p>
            <a:pPr algn="l" marL="342900" indent="-342900">
              <a:spcAft>
                <a:spcPts val="800"/>
              </a:spcAft>
              <a:buSzPct val="100000"/>
              <a:buChar char="•"/>
            </a:pPr>
            <a:r>
              <a:rPr lang="en-US" sz="1600" dirty="0">
                <a:solidFill>
                  <a:schemeClr val="tx1"/>
                </a:solidFill>
              </a:rPr>
              <a:t>Keep an independent grader in every test</a:t>
            </a:r>
            <a:endParaRPr lang="en-US" sz="1600" dirty="0"/>
          </a:p>
          <a:p>
            <a:pPr algn="l" marL="342900" indent="-342900">
              <a:spcAft>
                <a:spcPts val="800"/>
              </a:spcAft>
              <a:buSzPct val="100000"/>
              <a:buChar char="•"/>
            </a:pPr>
            <a:r>
              <a:rPr lang="en-US" sz="1600" dirty="0">
                <a:solidFill>
                  <a:schemeClr val="tx1"/>
                </a:solidFill>
              </a:rPr>
              <a:t>Rule: a wrong cache must fail loudly, never quietly</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2: guessing and over-trusting AI</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1"/>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Returns Desk: a trusted plan saved a guessed 15% fee. The policy table said 20%.</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A plan proven on 3 simple returns was trusted for every kind of case</a:t>
            </a:r>
            <a:endParaRPr lang="en-US" sz="1600" dirty="0"/>
          </a:p>
          <a:p>
            <a:pPr algn="l" marL="342900" indent="-342900">
              <a:spcAft>
                <a:spcPts val="800"/>
              </a:spcAft>
              <a:buSzPct val="100000"/>
              <a:buChar char="•"/>
            </a:pPr>
            <a:r>
              <a:rPr lang="en-US" sz="1600" dirty="0">
                <a:solidFill>
                  <a:schemeClr val="tx1"/>
                </a:solidFill>
              </a:rPr>
              <a:t>It never opened the policy page, yet decided a refund</a:t>
            </a:r>
            <a:endParaRPr lang="en-US" sz="1600" dirty="0"/>
          </a:p>
          <a:p>
            <a:pPr algn="l" marL="342900" indent="-342900">
              <a:spcAft>
                <a:spcPts val="800"/>
              </a:spcAft>
              <a:buSzPct val="100000"/>
              <a:buChar char="•"/>
            </a:pPr>
            <a:r>
              <a:rPr lang="en-US" sz="1600" dirty="0">
                <a:solidFill>
                  <a:schemeClr val="tx1"/>
                </a:solidFill>
              </a:rPr>
              <a:t>The AI had answered that it could see what it needed</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How it was fixed</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Trust per kind of case: an unchecked kind goes to the live agent first</a:t>
            </a:r>
            <a:endParaRPr lang="en-US" sz="1600" dirty="0"/>
          </a:p>
          <a:p>
            <a:pPr algn="l" marL="342900" indent="-342900">
              <a:spcAft>
                <a:spcPts val="800"/>
              </a:spcAft>
              <a:buSzPct val="100000"/>
              <a:buChar char="•"/>
            </a:pPr>
            <a:r>
              <a:rPr lang="en-US" sz="1600" dirty="0">
                <a:solidFill>
                  <a:schemeClr val="tx1"/>
                </a:solidFill>
              </a:rPr>
              <a:t>Grounding check: every number used must appear on the pages</a:t>
            </a:r>
            <a:endParaRPr lang="en-US" sz="1600" dirty="0"/>
          </a:p>
          <a:p>
            <a:pPr algn="l" marL="342900" indent="-342900">
              <a:spcAft>
                <a:spcPts val="800"/>
              </a:spcAft>
              <a:buSzPct val="100000"/>
              <a:buChar char="•"/>
            </a:pPr>
            <a:r>
              <a:rPr lang="en-US" sz="1600" dirty="0">
                <a:solidFill>
                  <a:schemeClr val="tx1"/>
                </a:solidFill>
              </a:rPr>
              <a:t>A refusal is not a failure; the plan is extended instead</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ExclamationTriangle" descr="ExclamationTriang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Still open</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One 'kind' can still mix cases that need different pages</a:t>
            </a:r>
            <a:endParaRPr lang="en-US" sz="1600" dirty="0"/>
          </a:p>
          <a:p>
            <a:pPr algn="l" marL="342900" indent="-342900">
              <a:spcAft>
                <a:spcPts val="800"/>
              </a:spcAft>
              <a:buSzPct val="100000"/>
              <a:buChar char="•"/>
            </a:pPr>
            <a:r>
              <a:rPr lang="en-US" sz="1600" dirty="0">
                <a:solidFill>
                  <a:schemeClr val="tx1"/>
                </a:solidFill>
              </a:rPr>
              <a:t>Grounding sometimes refuses a correct answer (costs a live record)</a:t>
            </a:r>
            <a:endParaRPr lang="en-US" sz="1600" dirty="0"/>
          </a:p>
          <a:p>
            <a:pPr algn="l" marL="342900" indent="-342900">
              <a:spcAft>
                <a:spcPts val="800"/>
              </a:spcAft>
              <a:buSzPct val="100000"/>
              <a:buChar char="•"/>
            </a:pPr>
            <a:r>
              <a:rPr lang="en-US" sz="1600" dirty="0">
                <a:solidFill>
                  <a:schemeClr val="tx1"/>
                </a:solidFill>
              </a:rPr>
              <a:t>'I can see what I need' is still weak evidence</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3: real AI breaks learning</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1"/>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First real Returns Desk run: the plan compiler failed five ways at once.</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The AI clicked a table cell or row instead of a link</a:t>
            </a:r>
            <a:endParaRPr lang="en-US" sz="1600" dirty="0"/>
          </a:p>
          <a:p>
            <a:pPr algn="l" marL="342900" indent="-342900">
              <a:spcAft>
                <a:spcPts val="800"/>
              </a:spcAft>
              <a:buSzPct val="100000"/>
              <a:buChar char="•"/>
            </a:pPr>
            <a:r>
              <a:rPr lang="en-US" sz="1600" dirty="0">
                <a:solidFill>
                  <a:schemeClr val="tx1"/>
                </a:solidFill>
              </a:rPr>
              <a:t>It typed guessed addresses and got 'Page not found'</a:t>
            </a:r>
            <a:endParaRPr lang="en-US" sz="1600" dirty="0"/>
          </a:p>
          <a:p>
            <a:pPr algn="l" marL="342900" indent="-342900">
              <a:spcAft>
                <a:spcPts val="800"/>
              </a:spcAft>
              <a:buSzPct val="100000"/>
              <a:buChar char="•"/>
            </a:pPr>
            <a:r>
              <a:rPr lang="en-US" sz="1600" dirty="0">
                <a:solidFill>
                  <a:schemeClr val="tx1"/>
                </a:solidFill>
              </a:rPr>
              <a:t>It went back and re-found the same record; typed page numbers</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How it was fixed</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Find elements by text, or by the record value they contain</a:t>
            </a:r>
            <a:endParaRPr lang="en-US" sz="1600" dirty="0"/>
          </a:p>
          <a:p>
            <a:pPr algn="l" marL="342900" indent="-342900">
              <a:spcAft>
                <a:spcPts val="800"/>
              </a:spcAft>
              <a:buSzPct val="100000"/>
              <a:buChar char="•"/>
            </a:pPr>
            <a:r>
              <a:rPr lang="en-US" sz="1600" dirty="0">
                <a:solidFill>
                  <a:schemeClr val="tx1"/>
                </a:solidFill>
              </a:rPr>
              <a:t>Drop dead ends, treat typed page numbers as paging, cut detours</a:t>
            </a:r>
            <a:endParaRPr lang="en-US" sz="1600" dirty="0"/>
          </a:p>
          <a:p>
            <a:pPr algn="l" marL="342900" indent="-342900">
              <a:spcAft>
                <a:spcPts val="800"/>
              </a:spcAft>
              <a:buSzPct val="100000"/>
              <a:buChar char="•"/>
            </a:pPr>
            <a:r>
              <a:rPr lang="en-US" sz="1600" dirty="0">
                <a:solidFill>
                  <a:schemeClr val="tx1"/>
                </a:solidFill>
              </a:rPr>
              <a:t>Try every saved recording until one compiles</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ExclamationTriangle" descr="ExclamationTriang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Still open</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The AI never does the same thing the same way twice</a:t>
            </a:r>
            <a:endParaRPr lang="en-US" sz="1600" dirty="0"/>
          </a:p>
          <a:p>
            <a:pPr algn="l" marL="342900" indent="-342900">
              <a:spcAft>
                <a:spcPts val="800"/>
              </a:spcAft>
              <a:buSzPct val="100000"/>
              <a:buChar char="•"/>
            </a:pPr>
            <a:r>
              <a:rPr lang="en-US" sz="1600" dirty="0">
                <a:solidFill>
                  <a:schemeClr val="tx1"/>
                </a:solidFill>
              </a:rPr>
              <a:t>Any new recording may hit a shape not seen before</a:t>
            </a:r>
            <a:endParaRPr lang="en-US" sz="1600" dirty="0"/>
          </a:p>
          <a:p>
            <a:pPr algn="l" marL="342900" indent="-342900">
              <a:spcAft>
                <a:spcPts val="800"/>
              </a:spcAft>
              <a:buSzPct val="100000"/>
              <a:buChar char="•"/>
            </a:pPr>
            <a:r>
              <a:rPr lang="en-US" sz="1600" dirty="0">
                <a:solidFill>
                  <a:schemeClr val="tx1"/>
                </a:solidFill>
              </a:rPr>
              <a:t>More real recordings are needed as test fixtures</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4: modern web UIs</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1"/>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Expense Desk: wizards, random ids, hash addresses and tabs each broke the engine.</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Wizard steps, radio buttons and checkboxes were not understood</a:t>
            </a:r>
            <a:endParaRPr lang="en-US" sz="1600" dirty="0"/>
          </a:p>
          <a:p>
            <a:pPr algn="l" marL="342900" indent="-342900">
              <a:spcAft>
                <a:spcPts val="800"/>
              </a:spcAft>
              <a:buSzPct val="100000"/>
              <a:buChar char="•"/>
            </a:pPr>
            <a:r>
              <a:rPr lang="en-US" sz="1600" dirty="0">
                <a:solidFill>
                  <a:schemeClr val="tx1"/>
                </a:solidFill>
              </a:rPr>
              <a:t>Control ids change on every render; addresses use '#'; tabs share one address</a:t>
            </a:r>
            <a:endParaRPr lang="en-US" sz="1600" dirty="0"/>
          </a:p>
          <a:p>
            <a:pPr algn="l" marL="342900" indent="-342900">
              <a:spcAft>
                <a:spcPts val="800"/>
              </a:spcAft>
              <a:buSzPct val="100000"/>
              <a:buChar char="•"/>
            </a:pPr>
            <a:r>
              <a:rPr lang="en-US" sz="1600" dirty="0">
                <a:solidFill>
                  <a:schemeClr val="tx1"/>
                </a:solidFill>
              </a:rPr>
              <a:t>Facts on a second tab or a collapsed section were invisible</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How it was fixed</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Controls found by stable name; steps tracked through Next and Back</a:t>
            </a:r>
            <a:endParaRPr lang="en-US" sz="1600" dirty="0"/>
          </a:p>
          <a:p>
            <a:pPr algn="l" marL="342900" indent="-342900">
              <a:spcAft>
                <a:spcPts val="800"/>
              </a:spcAft>
              <a:buSzPct val="100000"/>
              <a:buChar char="•"/>
            </a:pPr>
            <a:r>
              <a:rPr lang="en-US" sz="1600" dirty="0">
                <a:solidFill>
                  <a:schemeClr val="tx1"/>
                </a:solidFill>
              </a:rPr>
              <a:t>Page types understand hash routes and random ids</a:t>
            </a:r>
            <a:endParaRPr lang="en-US" sz="1600" dirty="0"/>
          </a:p>
          <a:p>
            <a:pPr algn="l" marL="342900" indent="-342900">
              <a:spcAft>
                <a:spcPts val="800"/>
              </a:spcAft>
              <a:buSzPct val="100000"/>
              <a:buChar char="•"/>
            </a:pPr>
            <a:r>
              <a:rPr lang="en-US" sz="1600" dirty="0">
                <a:solidFill>
                  <a:schemeClr val="tx1"/>
                </a:solidFill>
              </a:rPr>
              <a:t>Every page read opens collapsed sections and searches all tab views</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ExclamationTriangle" descr="ExclamationTriang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Still open</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Login, iframes, popups and endless lists were built but only tested offline</a:t>
            </a:r>
            <a:endParaRPr lang="en-US" sz="1600" dirty="0"/>
          </a:p>
          <a:p>
            <a:pPr algn="l" marL="342900" indent="-342900">
              <a:spcAft>
                <a:spcPts val="800"/>
              </a:spcAft>
              <a:buSzPct val="100000"/>
              <a:buChar char="•"/>
            </a:pPr>
            <a:r>
              <a:rPr lang="en-US" sz="1600" dirty="0">
                <a:solidFill>
                  <a:schemeClr val="tx1"/>
                </a:solidFill>
              </a:rPr>
              <a:t>Custom (non-native) widgets are not proven live</a:t>
            </a:r>
            <a:endParaRPr lang="en-US" sz="1600" dirty="0"/>
          </a:p>
          <a:p>
            <a:pPr algn="l" marL="342900" indent="-342900">
              <a:spcAft>
                <a:spcPts val="800"/>
              </a:spcAft>
              <a:buSzPct val="100000"/>
              <a:buChar char="•"/>
            </a:pPr>
            <a:r>
              <a:rPr lang="en-US" sz="1600" dirty="0">
                <a:solidFill>
                  <a:schemeClr val="tx1"/>
                </a:solidFill>
              </a:rPr>
              <a:t>No third-party site has been tested</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5: actions that cannot be undone</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1"/>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Partly fixed</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One Expense Desk run lost 3 records after a Back press inside a wizard.</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Pressing Next counts as acting, so the record cannot be safely retried</a:t>
            </a:r>
            <a:endParaRPr lang="en-US" sz="1600" dirty="0"/>
          </a:p>
          <a:p>
            <a:pPr algn="l" marL="342900" indent="-342900">
              <a:spcAft>
                <a:spcPts val="800"/>
              </a:spcAft>
              <a:buSzPct val="100000"/>
              <a:buChar char="•"/>
            </a:pPr>
            <a:r>
              <a:rPr lang="en-US" sz="1600" dirty="0">
                <a:solidFill>
                  <a:schemeClr val="tx1"/>
                </a:solidFill>
              </a:rPr>
              <a:t>'Back' was learned as a form field; later records failed halfway</a:t>
            </a:r>
            <a:endParaRPr lang="en-US" sz="1600" dirty="0"/>
          </a:p>
          <a:p>
            <a:pPr algn="l" marL="342900" indent="-342900">
              <a:spcAft>
                <a:spcPts val="800"/>
              </a:spcAft>
              <a:buSzPct val="100000"/>
              <a:buChar char="•"/>
            </a:pPr>
            <a:r>
              <a:rPr lang="en-US" sz="1600" dirty="0">
                <a:solidFill>
                  <a:schemeClr val="tx1"/>
                </a:solidFill>
              </a:rPr>
              <a:t>3 records were lost in one run</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How it was fixed</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Back now moves the step counter and is never a field</a:t>
            </a:r>
            <a:endParaRPr lang="en-US" sz="1600" dirty="0"/>
          </a:p>
          <a:p>
            <a:pPr algn="l" marL="342900" indent="-342900">
              <a:spcAft>
                <a:spcPts val="800"/>
              </a:spcAft>
              <a:buSzPct val="100000"/>
              <a:buChar char="•"/>
            </a:pPr>
            <a:r>
              <a:rPr lang="en-US" sz="1600" dirty="0">
                <a:solidFill>
                  <a:schemeClr val="tx1"/>
                </a:solidFill>
              </a:rPr>
              <a:t>A plan never presses save twice and never retries after acting</a:t>
            </a:r>
            <a:endParaRPr lang="en-US" sz="1600" dirty="0"/>
          </a:p>
          <a:p>
            <a:pPr algn="l" marL="342900" indent="-342900">
              <a:spcAft>
                <a:spcPts val="800"/>
              </a:spcAft>
              <a:buSzPct val="100000"/>
              <a:buChar char="•"/>
            </a:pPr>
            <a:r>
              <a:rPr lang="en-US" sz="1600" dirty="0">
                <a:solidFill>
                  <a:schemeClr val="tx1"/>
                </a:solidFill>
              </a:rPr>
              <a:t>A test built from the real recording guards it</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ExclamationTriangle" descr="ExclamationTriang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Still open</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Decide and check every step's values before the first irreversible click</a:t>
            </a:r>
            <a:endParaRPr lang="en-US" sz="1600" dirty="0"/>
          </a:p>
          <a:p>
            <a:pPr algn="l" marL="342900" indent="-342900">
              <a:spcAft>
                <a:spcPts val="800"/>
              </a:spcAft>
              <a:buSzPct val="100000"/>
              <a:buChar char="•"/>
            </a:pPr>
            <a:r>
              <a:rPr lang="en-US" sz="1600" dirty="0">
                <a:solidFill>
                  <a:schemeClr val="tx1"/>
                </a:solidFill>
              </a:rPr>
              <a:t>Learn which clicks are irreversible (did a save request go out?)</a:t>
            </a:r>
            <a:endParaRPr lang="en-US" sz="1600" dirty="0"/>
          </a:p>
          <a:p>
            <a:pPr algn="l" marL="342900" indent="-342900">
              <a:spcAft>
                <a:spcPts val="800"/>
              </a:spcAft>
              <a:buSzPct val="100000"/>
              <a:buChar char="•"/>
            </a:pPr>
            <a:r>
              <a:rPr lang="en-US" sz="1600" dirty="0">
                <a:solidFill>
                  <a:schemeClr val="tx1"/>
                </a:solidFill>
              </a:rPr>
              <a:t>Finish an unexpected step with a small scoped step; never redo from scratch</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6: the referee is fallible</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3"/>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Final live check: the plan had the right answer. The live agent was wrong, and won.</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Plans are judged against the live agent, which is sometimes wrong</a:t>
            </a:r>
            <a:endParaRPr lang="en-US" sz="1600" dirty="0"/>
          </a:p>
          <a:p>
            <a:pPr algn="l" marL="342900" indent="-342900">
              <a:spcAft>
                <a:spcPts val="800"/>
              </a:spcAft>
              <a:buSzPct val="100000"/>
              <a:buChar char="•"/>
            </a:pPr>
            <a:r>
              <a:rPr lang="en-US" sz="1600" dirty="0">
                <a:solidFill>
                  <a:schemeClr val="tx1"/>
                </a:solidFill>
              </a:rPr>
              <a:t>In the final check the plan was right and the agent was wrong</a:t>
            </a:r>
            <a:endParaRPr lang="en-US" sz="1600" dirty="0"/>
          </a:p>
          <a:p>
            <a:pPr algn="l" marL="342900" indent="-342900">
              <a:spcAft>
                <a:spcPts val="800"/>
              </a:spcAft>
              <a:buSzPct val="100000"/>
              <a:buChar char="•"/>
            </a:pPr>
            <a:r>
              <a:rPr lang="en-US" sz="1600" dirty="0">
                <a:solidFill>
                  <a:schemeClr val="tx1"/>
                </a:solidFill>
              </a:rPr>
              <a:t>A wrong first answer from the agent also teaches a wrong plan</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Proposed fix</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The agent fills the form but stops before saving</a:t>
            </a:r>
            <a:endParaRPr lang="en-US" sz="1600" dirty="0"/>
          </a:p>
          <a:p>
            <a:pPr algn="l" marL="342900" indent="-342900">
              <a:spcAft>
                <a:spcPts val="800"/>
              </a:spcAft>
              <a:buSzPct val="100000"/>
              <a:buChar char="•"/>
            </a:pPr>
            <a:r>
              <a:rPr lang="en-US" sz="1600" dirty="0">
                <a:solidFill>
                  <a:schemeClr val="tx1"/>
                </a:solidFill>
              </a:rPr>
              <a:t>Compare with a second, independent answer</a:t>
            </a:r>
            <a:endParaRPr lang="en-US" sz="1600" dirty="0"/>
          </a:p>
          <a:p>
            <a:pPr algn="l" marL="342900" indent="-342900">
              <a:spcAft>
                <a:spcPts val="800"/>
              </a:spcAft>
              <a:buSzPct val="100000"/>
              <a:buChar char="•"/>
            </a:pPr>
            <a:r>
              <a:rPr lang="en-US" sz="1600" dirty="0">
                <a:solidFill>
                  <a:schemeClr val="tx1"/>
                </a:solidFill>
              </a:rPr>
              <a:t>If they differ, a stronger model votes: two of three win, else a human reviews</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QuestionCircle" descr="QuestionCirc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Open questions</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How often will the three answers disagree? Unknown until measured</a:t>
            </a:r>
            <a:endParaRPr lang="en-US" sz="1600" dirty="0"/>
          </a:p>
          <a:p>
            <a:pPr algn="l" marL="342900" indent="-342900">
              <a:spcAft>
                <a:spcPts val="800"/>
              </a:spcAft>
              <a:buSzPct val="100000"/>
              <a:buChar char="•"/>
            </a:pPr>
            <a:r>
              <a:rPr lang="en-US" sz="1600" dirty="0">
                <a:solidFill>
                  <a:schemeClr val="tx1"/>
                </a:solidFill>
              </a:rPr>
              <a:t>Extra AI calls on every disagreement</a:t>
            </a:r>
            <a:endParaRPr lang="en-US" sz="1600" dirty="0"/>
          </a:p>
          <a:p>
            <a:pPr algn="l" marL="342900" indent="-342900">
              <a:spcAft>
                <a:spcPts val="800"/>
              </a:spcAft>
              <a:buSzPct val="100000"/>
              <a:buChar char="•"/>
            </a:pPr>
            <a:r>
              <a:rPr lang="en-US" sz="1600" dirty="0">
                <a:solidFill>
                  <a:schemeClr val="tx1"/>
                </a:solidFill>
              </a:rPr>
              <a:t>Who works the review queue, and how fast?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Problem 7: zero-call decisions failed</a:t>
            </a:r>
            <a:endParaRPr lang="en-US" sz="3200" dirty="0"/>
          </a:p>
        </p:txBody>
      </p:sp>
      <p:sp>
        <p:nvSpPr>
          <p:cNvPr id="4" name="status chip"/>
          <p:cNvSpPr/>
          <p:nvPr/>
        </p:nvSpPr>
        <p:spPr>
          <a:xfrm>
            <a:off x="10451592" y="566928"/>
            <a:ext cx="1188720" cy="310896"/>
          </a:xfrm>
          <a:prstGeom prst="roundRect">
            <a:avLst>
              <a:gd name="adj" fmla="val 50000"/>
            </a:avLst>
          </a:prstGeom>
          <a:solidFill>
            <a:schemeClr val="accent3"/>
          </a:solidFill>
          <a:ln/>
        </p:spPr>
      </p:sp>
      <p:sp>
        <p:nvSpPr>
          <p:cNvPr id="5" name="status"/>
          <p:cNvSpPr txBox="1"/>
          <p:nvPr/>
        </p:nvSpPr>
        <p:spPr>
          <a:xfrm>
            <a:off x="10451592" y="5669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6" name="evidence"/>
          <p:cNvSpPr/>
          <p:nvPr/>
        </p:nvSpPr>
        <p:spPr>
          <a:xfrm>
            <a:off x="548640" y="1371600"/>
            <a:ext cx="11094415" cy="658368"/>
          </a:xfrm>
          <a:prstGeom prst="roundRect">
            <a:avLst>
              <a:gd name="adj" fmla="val 16667"/>
            </a:avLst>
          </a:prstGeom>
          <a:solidFill>
            <a:schemeClr val="accent6"/>
          </a:solidFill>
          <a:ln/>
        </p:spPr>
      </p:sp>
      <p:sp>
        <p:nvSpPr>
          <p:cNvPr id="7" name="evidence text"/>
          <p:cNvSpPr txBox="1"/>
          <p:nvPr/>
        </p:nvSpPr>
        <p:spPr>
          <a:xfrm>
            <a:off x="822960" y="1371600"/>
            <a:ext cx="10545775" cy="658368"/>
          </a:xfrm>
          <a:prstGeom prst="rect">
            <a:avLst/>
          </a:prstGeom>
          <a:noFill/>
          <a:ln/>
        </p:spPr>
        <p:txBody>
          <a:bodyPr wrap="square" lIns="0" tIns="0" rIns="0" bIns="0" rtlCol="0" anchor="ctr"/>
          <a:lstStyle/>
          <a:p>
            <a:pPr algn="l" indent="0" marL="0">
              <a:buNone/>
            </a:pPr>
            <a:r>
              <a:rPr lang="en-US" sz="1600" b="1" dirty="0">
                <a:solidFill>
                  <a:schemeClr val="tx1"/>
                </a:solidFill>
              </a:rPr>
              <a:t>Five live runs: no decision program was ever learned and used.</a:t>
            </a:r>
            <a:endParaRPr lang="en-US" sz="1600" dirty="0"/>
          </a:p>
        </p:txBody>
      </p:sp>
      <p:sp>
        <p:nvSpPr>
          <p:cNvPr id="8" name="card"/>
          <p:cNvSpPr/>
          <p:nvPr/>
        </p:nvSpPr>
        <p:spPr>
          <a:xfrm>
            <a:off x="548640"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777240" y="2468880"/>
            <a:ext cx="502920" cy="502920"/>
          </a:xfrm>
          <a:prstGeom prst="ellipse">
            <a:avLst/>
          </a:prstGeom>
          <a:solidFill>
            <a:schemeClr val="accent3"/>
          </a:solidFill>
          <a:ln/>
        </p:spPr>
      </p:sp>
      <p:pic>
        <p:nvPicPr>
          <p:cNvPr id="10" name="icon FaBug" descr="Bug icon">    </p:cNvPr>
          <p:cNvPicPr>
            <a:picLocks noChangeAspect="1"/>
          </p:cNvPicPr>
          <p:nvPr/>
        </p:nvPicPr>
        <p:blipFill>
          <a:blip r:embed="rId1"/>
          <a:stretch>
            <a:fillRect/>
          </a:stretch>
        </p:blipFill>
        <p:spPr>
          <a:xfrm>
            <a:off x="887882" y="2579522"/>
            <a:ext cx="281635" cy="281635"/>
          </a:xfrm>
          <a:prstGeom prst="rect">
            <a:avLst/>
          </a:prstGeom>
        </p:spPr>
      </p:pic>
      <p:sp>
        <p:nvSpPr>
          <p:cNvPr id="11" name="text"/>
          <p:cNvSpPr txBox="1"/>
          <p:nvPr/>
        </p:nvSpPr>
        <p:spPr>
          <a:xfrm>
            <a:off x="1463040" y="2468880"/>
            <a:ext cx="2468880" cy="502920"/>
          </a:xfrm>
          <a:prstGeom prst="rect">
            <a:avLst/>
          </a:prstGeom>
          <a:noFill/>
          <a:ln/>
        </p:spPr>
        <p:txBody>
          <a:bodyPr wrap="square" lIns="0" tIns="0" rIns="0" bIns="0" rtlCol="0" anchor="ctr"/>
          <a:lstStyle/>
          <a:p>
            <a:pPr algn="l" indent="0" marL="0">
              <a:buNone/>
            </a:pPr>
            <a:r>
              <a:rPr lang="en-US" sz="1800" b="1" dirty="0">
                <a:solidFill>
                  <a:schemeClr val="accent3"/>
                </a:solidFill>
              </a:rPr>
              <a:t>What went wrong</a:t>
            </a:r>
            <a:endParaRPr lang="en-US" sz="1800" dirty="0"/>
          </a:p>
        </p:txBody>
      </p:sp>
      <p:sp>
        <p:nvSpPr>
          <p:cNvPr id="12" name="text"/>
          <p:cNvSpPr txBox="1"/>
          <p:nvPr/>
        </p:nvSpPr>
        <p:spPr>
          <a:xfrm>
            <a:off x="777240"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Goal: after a few records, code decides with zero AI calls</a:t>
            </a:r>
            <a:endParaRPr lang="en-US" sz="1600" dirty="0"/>
          </a:p>
          <a:p>
            <a:pPr algn="l" marL="342900" indent="-342900">
              <a:spcAft>
                <a:spcPts val="800"/>
              </a:spcAft>
              <a:buSzPct val="100000"/>
              <a:buChar char="•"/>
            </a:pPr>
            <a:r>
              <a:rPr lang="en-US" sz="1600" dirty="0">
                <a:solidFill>
                  <a:schemeClr val="tx1"/>
                </a:solidFill>
              </a:rPr>
              <a:t>Offline it worked: a correct program from 6 examples, twice</a:t>
            </a:r>
            <a:endParaRPr lang="en-US" sz="1600" dirty="0"/>
          </a:p>
          <a:p>
            <a:pPr algn="l" marL="342900" indent="-342900">
              <a:spcAft>
                <a:spcPts val="800"/>
              </a:spcAft>
              <a:buSzPct val="100000"/>
              <a:buChar char="•"/>
            </a:pPr>
            <a:r>
              <a:rPr lang="en-US" sz="1600" dirty="0">
                <a:solidFill>
                  <a:schemeClr val="tx1"/>
                </a:solidFill>
              </a:rPr>
              <a:t>Live it never worked in 5 runs</a:t>
            </a:r>
            <a:endParaRPr lang="en-US" sz="1600" dirty="0"/>
          </a:p>
        </p:txBody>
      </p:sp>
      <p:sp>
        <p:nvSpPr>
          <p:cNvPr id="13" name="card"/>
          <p:cNvSpPr/>
          <p:nvPr/>
        </p:nvSpPr>
        <p:spPr>
          <a:xfrm>
            <a:off x="4334256"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562856" y="2468880"/>
            <a:ext cx="502920" cy="502920"/>
          </a:xfrm>
          <a:prstGeom prst="ellipse">
            <a:avLst/>
          </a:prstGeom>
          <a:solidFill>
            <a:schemeClr val="accent2"/>
          </a:solidFill>
          <a:ln/>
        </p:spPr>
      </p:sp>
      <p:pic>
        <p:nvPicPr>
          <p:cNvPr id="15" name="icon FaWrench" descr="Wrench icon">    </p:cNvPr>
          <p:cNvPicPr>
            <a:picLocks noChangeAspect="1"/>
          </p:cNvPicPr>
          <p:nvPr/>
        </p:nvPicPr>
        <p:blipFill>
          <a:blip r:embed="rId2"/>
          <a:stretch>
            <a:fillRect/>
          </a:stretch>
        </p:blipFill>
        <p:spPr>
          <a:xfrm>
            <a:off x="4673498" y="2579522"/>
            <a:ext cx="281635" cy="281635"/>
          </a:xfrm>
          <a:prstGeom prst="rect">
            <a:avLst/>
          </a:prstGeom>
        </p:spPr>
      </p:pic>
      <p:sp>
        <p:nvSpPr>
          <p:cNvPr id="16" name="text"/>
          <p:cNvSpPr txBox="1"/>
          <p:nvPr/>
        </p:nvSpPr>
        <p:spPr>
          <a:xfrm>
            <a:off x="5248656" y="2468880"/>
            <a:ext cx="2468880" cy="502920"/>
          </a:xfrm>
          <a:prstGeom prst="rect">
            <a:avLst/>
          </a:prstGeom>
          <a:noFill/>
          <a:ln/>
        </p:spPr>
        <p:txBody>
          <a:bodyPr wrap="square" lIns="0" tIns="0" rIns="0" bIns="0" rtlCol="0" anchor="ctr"/>
          <a:lstStyle/>
          <a:p>
            <a:pPr algn="l" indent="0" marL="0">
              <a:buNone/>
            </a:pPr>
            <a:r>
              <a:rPr lang="en-US" sz="1800" b="1" dirty="0">
                <a:solidFill>
                  <a:schemeClr val="accent2"/>
                </a:solidFill>
              </a:rPr>
              <a:t>Causes and fixes</a:t>
            </a:r>
            <a:endParaRPr lang="en-US" sz="1800" dirty="0"/>
          </a:p>
        </p:txBody>
      </p:sp>
      <p:sp>
        <p:nvSpPr>
          <p:cNvPr id="17" name="text"/>
          <p:cNvSpPr txBox="1"/>
          <p:nvPr/>
        </p:nvSpPr>
        <p:spPr>
          <a:xfrm>
            <a:off x="4562856"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Examples missed the wizard's later steps</a:t>
            </a:r>
            <a:endParaRPr lang="en-US" sz="1600" dirty="0"/>
          </a:p>
          <a:p>
            <a:pPr algn="l" marL="342900" indent="-342900">
              <a:spcAft>
                <a:spcPts val="800"/>
              </a:spcAft>
              <a:buSzPct val="100000"/>
              <a:buChar char="•"/>
            </a:pPr>
            <a:r>
              <a:rPr lang="en-US" sz="1600" dirty="0">
                <a:solidFill>
                  <a:schemeClr val="tx1"/>
                </a:solidFill>
              </a:rPr>
              <a:t>Stray fields (the search box) leaked into the program</a:t>
            </a:r>
            <a:endParaRPr lang="en-US" sz="1600" dirty="0"/>
          </a:p>
          <a:p>
            <a:pPr algn="l" marL="342900" indent="-342900">
              <a:spcAft>
                <a:spcPts val="800"/>
              </a:spcAft>
              <a:buSzPct val="100000"/>
              <a:buChar char="•"/>
            </a:pPr>
            <a:r>
              <a:rPr lang="en-US" sz="1600" dirty="0">
                <a:solidFill>
                  <a:schemeClr val="tx1"/>
                </a:solidFill>
              </a:rPr>
              <a:t>Language gaps: if(), defaults and empty lists</a:t>
            </a:r>
            <a:endParaRPr lang="en-US" sz="1600" dirty="0"/>
          </a:p>
        </p:txBody>
      </p:sp>
      <p:sp>
        <p:nvSpPr>
          <p:cNvPr id="18" name="card"/>
          <p:cNvSpPr/>
          <p:nvPr/>
        </p:nvSpPr>
        <p:spPr>
          <a:xfrm>
            <a:off x="8119872" y="2240280"/>
            <a:ext cx="3520440" cy="3840480"/>
          </a:xfrm>
          <a:prstGeom prst="roundRect">
            <a:avLst>
              <a:gd name="adj" fmla="val 3117"/>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8348472" y="2468880"/>
            <a:ext cx="502920" cy="502920"/>
          </a:xfrm>
          <a:prstGeom prst="ellipse">
            <a:avLst/>
          </a:prstGeom>
          <a:solidFill>
            <a:schemeClr val="accent1"/>
          </a:solidFill>
          <a:ln/>
        </p:spPr>
      </p:sp>
      <p:pic>
        <p:nvPicPr>
          <p:cNvPr id="20" name="icon FaExclamationTriangle" descr="ExclamationTriangle icon">    </p:cNvPr>
          <p:cNvPicPr>
            <a:picLocks noChangeAspect="1"/>
          </p:cNvPicPr>
          <p:nvPr/>
        </p:nvPicPr>
        <p:blipFill>
          <a:blip r:embed="rId3"/>
          <a:stretch>
            <a:fillRect/>
          </a:stretch>
        </p:blipFill>
        <p:spPr>
          <a:xfrm>
            <a:off x="8459114" y="2579522"/>
            <a:ext cx="281635" cy="281635"/>
          </a:xfrm>
          <a:prstGeom prst="rect">
            <a:avLst/>
          </a:prstGeom>
        </p:spPr>
      </p:pic>
      <p:sp>
        <p:nvSpPr>
          <p:cNvPr id="21" name="text"/>
          <p:cNvSpPr txBox="1"/>
          <p:nvPr/>
        </p:nvSpPr>
        <p:spPr>
          <a:xfrm>
            <a:off x="9034272" y="2468880"/>
            <a:ext cx="2468880" cy="502920"/>
          </a:xfrm>
          <a:prstGeom prst="rect">
            <a:avLst/>
          </a:prstGeom>
          <a:noFill/>
          <a:ln/>
        </p:spPr>
        <p:txBody>
          <a:bodyPr wrap="square" lIns="0" tIns="0" rIns="0" bIns="0" rtlCol="0" anchor="ctr"/>
          <a:lstStyle/>
          <a:p>
            <a:pPr algn="l" indent="0" marL="0">
              <a:buNone/>
            </a:pPr>
            <a:r>
              <a:rPr lang="en-US" sz="1800" b="1" dirty="0">
                <a:solidFill>
                  <a:schemeClr val="accent1"/>
                </a:solidFill>
              </a:rPr>
              <a:t>What is next</a:t>
            </a:r>
            <a:endParaRPr lang="en-US" sz="1800" dirty="0"/>
          </a:p>
        </p:txBody>
      </p:sp>
      <p:sp>
        <p:nvSpPr>
          <p:cNvPr id="22" name="text"/>
          <p:cNvSpPr txBox="1"/>
          <p:nvPr/>
        </p:nvSpPr>
        <p:spPr>
          <a:xfrm>
            <a:off x="8348472" y="3136392"/>
            <a:ext cx="3108960" cy="28346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Build an offline bench on recorded examples</a:t>
            </a:r>
            <a:endParaRPr lang="en-US" sz="1600" dirty="0"/>
          </a:p>
          <a:p>
            <a:pPr algn="l" marL="342900" indent="-342900">
              <a:spcAft>
                <a:spcPts val="800"/>
              </a:spcAft>
              <a:buSzPct val="100000"/>
              <a:buChar char="•"/>
            </a:pPr>
            <a:r>
              <a:rPr lang="en-US" sz="1600" dirty="0">
                <a:solidFill>
                  <a:schemeClr val="tx1"/>
                </a:solidFill>
              </a:rPr>
              <a:t>Accept only programs that reproduce recorded runs exactly</a:t>
            </a:r>
            <a:endParaRPr lang="en-US" sz="1600" dirty="0"/>
          </a:p>
          <a:p>
            <a:pPr algn="l" marL="342900" indent="-342900">
              <a:spcAft>
                <a:spcPts val="800"/>
              </a:spcAft>
              <a:buSzPct val="100000"/>
              <a:buChar char="•"/>
            </a:pPr>
            <a:r>
              <a:rPr lang="en-US" sz="1600" dirty="0">
                <a:solidFill>
                  <a:schemeClr val="tx1"/>
                </a:solidFill>
              </a:rPr>
              <a:t>Then run in shadow mode live: compare before acting. Switched off for now</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Testing and quota problems</a:t>
            </a:r>
            <a:endParaRPr lang="en-US" sz="3200" dirty="0"/>
          </a:p>
        </p:txBody>
      </p:sp>
      <p:graphicFrame>
        <p:nvGraphicFramePr>
          <p:cNvPr id="12" name="testing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023360"/>
                <a:gridCol w="3291840"/>
                <a:gridCol w="3779215"/>
              </a:tblGrid>
              <a:tr h="457200">
                <a:tc>
                  <a:txBody>
                    <a:bodyPr/>
                    <a:lstStyle/>
                    <a:p>
                      <a:pPr indent="0" marL="0">
                        <a:buNone/>
                      </a:pPr>
                      <a:r>
                        <a:rPr lang="en-US" sz="1400" b="1" dirty="0">
                          <a:solidFill>
                            <a:schemeClr val="bg1"/>
                          </a:solidFill>
                        </a:rPr>
                        <a:t>Problem</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Effect</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Fix or status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r>
              <a:tr h="676656">
                <a:tc>
                  <a:txBody>
                    <a:bodyPr/>
                    <a:lstStyle/>
                    <a:p>
                      <a:pPr indent="0" marL="0">
                        <a:buNone/>
                      </a:pPr>
                      <a:r>
                        <a:rPr lang="en-US" sz="1400" b="1" dirty="0">
                          <a:solidFill>
                            <a:schemeClr val="tx1"/>
                          </a:solidFill>
                        </a:rPr>
                        <a:t>AI answers vary run to run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Bugs appeared only sometimes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 repeated batches (8 to 16 records)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676656">
                <a:tc>
                  <a:txBody>
                    <a:bodyPr/>
                    <a:lstStyle/>
                    <a:p>
                      <a:pPr indent="0" marL="0">
                        <a:buNone/>
                      </a:pPr>
                      <a:r>
                        <a:rPr lang="en-US" sz="1400" b="1" dirty="0">
                          <a:solidFill>
                            <a:schemeClr val="tx1"/>
                          </a:solidFill>
                        </a:rPr>
                        <a:t>A 16-record live run costs 230 to 260 calls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few experiments a day (about 1,000)</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Pacing, small batches, offline scoring</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676656">
                <a:tc>
                  <a:txBody>
                    <a:bodyPr/>
                    <a:lstStyle/>
                    <a:p>
                      <a:pPr indent="0" marL="0">
                        <a:buNone/>
                      </a:pPr>
                      <a:r>
                        <a:rPr lang="en-US" sz="1400" b="1" dirty="0">
                          <a:solidFill>
                            <a:schemeClr val="tx1"/>
                          </a:solidFill>
                        </a:rPr>
                        <a:t>15-calls-per-minute cap with many browsers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Dozens of rate-limit errors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Pacing layer built; 4 browsers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676656">
                <a:tc>
                  <a:txBody>
                    <a:bodyPr/>
                    <a:lstStyle/>
                    <a:p>
                      <a:pPr indent="0" marL="0">
                        <a:buNone/>
                      </a:pPr>
                      <a:r>
                        <a:rPr lang="en-US" sz="1400" b="1" dirty="0">
                          <a:solidFill>
                            <a:schemeClr val="tx1"/>
                          </a:solidFill>
                        </a:rPr>
                        <a:t>Simulated tests miss real behaviour</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900 checks passed; live scored lower</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Test real AI output early; keep real recordings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676656">
                <a:tc>
                  <a:txBody>
                    <a:bodyPr/>
                    <a:lstStyle/>
                    <a:p>
                      <a:pPr indent="0" marL="0">
                        <a:buNone/>
                      </a:pPr>
                      <a:r>
                        <a:rPr lang="en-US" sz="1400" b="1" dirty="0">
                          <a:solidFill>
                            <a:schemeClr val="tx1"/>
                          </a:solidFill>
                        </a:rPr>
                        <a:t>Tests and live runs share sites and servers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reset wiped a live run; stale code ran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 offline switch; restart before every run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676656">
                <a:tc>
                  <a:txBody>
                    <a:bodyPr/>
                    <a:lstStyle/>
                    <a:p>
                      <a:pPr indent="0" marL="0">
                        <a:buNone/>
                      </a:pPr>
                      <a:r>
                        <a:rPr lang="en-US" sz="1400" b="1" dirty="0">
                          <a:solidFill>
                            <a:schemeClr val="tx1"/>
                          </a:solidFill>
                        </a:rPr>
                        <a:t>Parallel AI helpers hit usage limits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Half-finished work, several times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Resumable workflows; one piece at a time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Built too much before testing live</a:t>
            </a:r>
            <a:endParaRPr lang="en-US" sz="3200" dirty="0"/>
          </a:p>
        </p:txBody>
      </p:sp>
      <p:sp>
        <p:nvSpPr>
          <p:cNvPr id="4" name="text"/>
          <p:cNvSpPr txBox="1"/>
          <p:nvPr/>
        </p:nvSpPr>
        <p:spPr>
          <a:xfrm>
            <a:off x="548640" y="1463040"/>
            <a:ext cx="5212080" cy="411480"/>
          </a:xfrm>
          <a:prstGeom prst="rect">
            <a:avLst/>
          </a:prstGeom>
          <a:noFill/>
          <a:ln/>
        </p:spPr>
        <p:txBody>
          <a:bodyPr wrap="square" lIns="0" tIns="0" rIns="0" bIns="0" rtlCol="0" anchor="t"/>
          <a:lstStyle/>
          <a:p>
            <a:pPr algn="l" indent="0" marL="0">
              <a:buNone/>
            </a:pPr>
            <a:r>
              <a:rPr lang="en-US" sz="2000" b="1" dirty="0">
                <a:solidFill>
                  <a:schemeClr val="tx1"/>
                </a:solidFill>
              </a:rPr>
              <a:t>The latest round</a:t>
            </a:r>
            <a:endParaRPr lang="en-US" sz="2000" dirty="0"/>
          </a:p>
        </p:txBody>
      </p:sp>
      <p:sp>
        <p:nvSpPr>
          <p:cNvPr id="5" name="text"/>
          <p:cNvSpPr txBox="1"/>
          <p:nvPr/>
        </p:nvSpPr>
        <p:spPr>
          <a:xfrm>
            <a:off x="548640" y="1965960"/>
            <a:ext cx="5212080" cy="292608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Seven new pieces, built in parallel: about 6,000 new lines</a:t>
            </a:r>
            <a:endParaRPr lang="en-US" sz="1600" dirty="0"/>
          </a:p>
          <a:p>
            <a:pPr algn="l" marL="342900" indent="-342900">
              <a:spcAft>
                <a:spcPts val="800"/>
              </a:spcAft>
              <a:buSzPct val="100000"/>
              <a:buChar char="•"/>
            </a:pPr>
            <a:r>
              <a:rPr lang="en-US" sz="1600" dirty="0">
                <a:solidFill>
                  <a:schemeClr val="tx1"/>
                </a:solidFill>
              </a:rPr>
              <a:t>About 900 checks passed, all with simulated AI answers</a:t>
            </a:r>
            <a:endParaRPr lang="en-US" sz="1600" dirty="0"/>
          </a:p>
          <a:p>
            <a:pPr algn="l" marL="342900" indent="-342900">
              <a:spcAft>
                <a:spcPts val="800"/>
              </a:spcAft>
              <a:buSzPct val="100000"/>
              <a:buChar char="•"/>
            </a:pPr>
            <a:r>
              <a:rPr lang="en-US" sz="1600" dirty="0">
                <a:solidFill>
                  <a:schemeClr val="tx1"/>
                </a:solidFill>
              </a:rPr>
              <a:t>Five live runs, each found a bug the checks missed</a:t>
            </a:r>
            <a:endParaRPr lang="en-US" sz="1600" dirty="0"/>
          </a:p>
          <a:p>
            <a:pPr algn="l" marL="342900" indent="-342900">
              <a:spcAft>
                <a:spcPts val="800"/>
              </a:spcAft>
              <a:buSzPct val="100000"/>
              <a:buChar char="•"/>
            </a:pPr>
            <a:r>
              <a:rPr lang="en-US" sz="1600" dirty="0">
                <a:solidFill>
                  <a:schemeClr val="tx1"/>
                </a:solidFill>
              </a:rPr>
              <a:t>Result: 12 to 15 of 16, against 16/16 before</a:t>
            </a:r>
            <a:endParaRPr lang="en-US" sz="1600" dirty="0"/>
          </a:p>
          <a:p>
            <a:pPr algn="l" marL="342900" indent="-342900">
              <a:spcAft>
                <a:spcPts val="800"/>
              </a:spcAft>
              <a:buSzPct val="100000"/>
              <a:buChar char="•"/>
            </a:pPr>
            <a:r>
              <a:rPr lang="en-US" sz="1600" dirty="0">
                <a:solidFill>
                  <a:schemeClr val="tx1"/>
                </a:solidFill>
              </a:rPr>
              <a:t>Decision: six unproven parts switched off by default</a:t>
            </a:r>
            <a:endParaRPr lang="en-US" sz="1600" dirty="0"/>
          </a:p>
        </p:txBody>
      </p:sp>
      <p:sp>
        <p:nvSpPr>
          <p:cNvPr id="6" name="banner"/>
          <p:cNvSpPr/>
          <p:nvPr/>
        </p:nvSpPr>
        <p:spPr>
          <a:xfrm>
            <a:off x="548640" y="5120640"/>
            <a:ext cx="5212080" cy="1097280"/>
          </a:xfrm>
          <a:prstGeom prst="roundRect">
            <a:avLst>
              <a:gd name="adj" fmla="val 10000"/>
            </a:avLst>
          </a:prstGeom>
          <a:solidFill>
            <a:schemeClr val="tx1"/>
          </a:solidFill>
          <a:ln/>
        </p:spPr>
      </p:sp>
      <p:sp>
        <p:nvSpPr>
          <p:cNvPr id="7" name="text"/>
          <p:cNvSpPr txBox="1"/>
          <p:nvPr/>
        </p:nvSpPr>
        <p:spPr>
          <a:xfrm>
            <a:off x="822960" y="5120640"/>
            <a:ext cx="4663440" cy="1097280"/>
          </a:xfrm>
          <a:prstGeom prst="rect">
            <a:avLst/>
          </a:prstGeom>
          <a:noFill/>
          <a:ln/>
        </p:spPr>
        <p:txBody>
          <a:bodyPr wrap="square" lIns="0" tIns="0" rIns="0" bIns="0" rtlCol="0" anchor="ctr"/>
          <a:lstStyle/>
          <a:p>
            <a:pPr algn="l" indent="0" marL="0">
              <a:buNone/>
            </a:pPr>
            <a:r>
              <a:rPr lang="en-US" sz="1800" b="1" dirty="0">
                <a:solidFill>
                  <a:schemeClr val="bg1"/>
                </a:solidFill>
              </a:rPr>
              <a:t>Fix: one new piece at a time, proven live, behind a switch.</a:t>
            </a:r>
            <a:endParaRPr lang="en-US" sz="1800" dirty="0"/>
          </a:p>
        </p:txBody>
      </p:sp>
      <p:sp>
        <p:nvSpPr>
          <p:cNvPr id="8" name="card"/>
          <p:cNvSpPr/>
          <p:nvPr/>
        </p:nvSpPr>
        <p:spPr>
          <a:xfrm>
            <a:off x="6035040" y="1463040"/>
            <a:ext cx="5605272" cy="4754880"/>
          </a:xfrm>
          <a:prstGeom prst="roundRect">
            <a:avLst>
              <a:gd name="adj" fmla="val 2308"/>
            </a:avLst>
          </a:prstGeom>
          <a:solidFill>
            <a:schemeClr val="bg1"/>
          </a:solidFill>
          <a:ln/>
          <a:effectLst>
            <a:outerShdw sx="100000" sy="100000" kx="0" ky="0" algn="bl" rotWithShape="0" blurRad="88900" dist="25400" dir="5400000">
              <a:srgbClr val="000000">
                <a:alpha val="13000"/>
              </a:srgbClr>
            </a:outerShdw>
          </a:effectLst>
        </p:spPr>
      </p:sp>
      <p:graphicFrame>
        <p:nvGraphicFramePr>
          <p:cNvPr id="9" name="Chart 0" descr=""/>
          <p:cNvGraphicFramePr/>
          <p:nvPr/>
        </p:nvGraphicFramePr>
        <p:xfrm>
          <a:off x="6172200" y="1600200"/>
          <a:ext cx="534924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Scoreboard: solved, partly, open</a:t>
            </a:r>
            <a:endParaRPr lang="en-US" sz="3200" dirty="0"/>
          </a:p>
        </p:txBody>
      </p:sp>
      <p:graphicFrame>
        <p:nvGraphicFramePr>
          <p:cNvPr id="14" name="scoreboard"/>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291840"/>
                <a:gridCol w="1737360"/>
                <a:gridCol w="6065215"/>
              </a:tblGrid>
              <a:tr h="457200">
                <a:tc>
                  <a:txBody>
                    <a:bodyPr/>
                    <a:lstStyle/>
                    <a:p>
                      <a:pPr indent="0" marL="0">
                        <a:buNone/>
                      </a:pPr>
                      <a:r>
                        <a:rPr lang="en-US" sz="1400" b="1" dirty="0">
                          <a:solidFill>
                            <a:schemeClr val="bg1"/>
                          </a:solidFill>
                        </a:rPr>
                        <a:t>Problem</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Status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What remains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r>
              <a:tr h="530352">
                <a:tc>
                  <a:txBody>
                    <a:bodyPr/>
                    <a:lstStyle/>
                    <a:p>
                      <a:pPr indent="0" marL="0">
                        <a:buNone/>
                      </a:pPr>
                      <a:r>
                        <a:rPr lang="en-US" sz="1400" b="1" dirty="0">
                          <a:solidFill>
                            <a:schemeClr val="tx1"/>
                          </a:solidFill>
                        </a:rPr>
                        <a:t>Silent wrong answers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Fixed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Keep an independent grader in every test</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Guessing and over-trust</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Partly fixed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kind can mix cases; grounding over-refuses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Real AI breaks learning</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Partly fixed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AI varies each run; more real recordings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Modern web UIs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Partly fixed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Login, iframes, popups not proven live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Irreversible actions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Partly fixed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Decide every step before the first irreversible click</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The referee is fallible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Open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Three-way vote and a human review queue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Zero-call decisions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Open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Offline bench first, then shadow mode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Testing and process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Managed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 batches; one new piece at a time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How to fix what is left</a:t>
            </a:r>
            <a:endParaRPr lang="en-US" sz="3200" dirty="0"/>
          </a:p>
        </p:txBody>
      </p:sp>
      <p:sp>
        <p:nvSpPr>
          <p:cNvPr id="4" name="card"/>
          <p:cNvSpPr/>
          <p:nvPr/>
        </p:nvSpPr>
        <p:spPr>
          <a:xfrm>
            <a:off x="548640" y="1463040"/>
            <a:ext cx="11094415" cy="731520"/>
          </a:xfrm>
          <a:prstGeom prst="roundRect">
            <a:avLst>
              <a:gd name="adj" fmla="val 15000"/>
            </a:avLst>
          </a:prstGeom>
          <a:solidFill>
            <a:schemeClr val="bg1"/>
          </a:solidFill>
          <a:ln/>
          <a:effectLst>
            <a:outerShdw sx="100000" sy="100000" kx="0" ky="0" algn="bl" rotWithShape="0" blurRad="88900" dist="25400" dir="5400000">
              <a:srgbClr val="000000">
                <a:alpha val="13000"/>
              </a:srgbClr>
            </a:outerShdw>
          </a:effectLst>
        </p:spPr>
      </p:sp>
      <p:sp>
        <p:nvSpPr>
          <p:cNvPr id="5" name="number"/>
          <p:cNvSpPr/>
          <p:nvPr/>
        </p:nvSpPr>
        <p:spPr>
          <a:xfrm>
            <a:off x="822960" y="1554480"/>
            <a:ext cx="548640" cy="548640"/>
          </a:xfrm>
          <a:prstGeom prst="ellipse">
            <a:avLst/>
          </a:prstGeom>
          <a:solidFill>
            <a:schemeClr val="accent1"/>
          </a:solidFill>
          <a:ln/>
        </p:spPr>
      </p:sp>
      <p:sp>
        <p:nvSpPr>
          <p:cNvPr id="6" name="text"/>
          <p:cNvSpPr txBox="1"/>
          <p:nvPr/>
        </p:nvSpPr>
        <p:spPr>
          <a:xfrm>
            <a:off x="822960"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p:cNvSpPr txBox="1"/>
          <p:nvPr/>
        </p:nvSpPr>
        <p:spPr>
          <a:xfrm>
            <a:off x="1645920" y="1508760"/>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Build the three-way referee</a:t>
            </a:r>
            <a:endParaRPr lang="en-US" sz="1800" dirty="0"/>
          </a:p>
        </p:txBody>
      </p:sp>
      <p:sp>
        <p:nvSpPr>
          <p:cNvPr id="8" name="text"/>
          <p:cNvSpPr txBox="1"/>
          <p:nvPr/>
        </p:nvSpPr>
        <p:spPr>
          <a:xfrm>
            <a:off x="1645920" y="1847088"/>
            <a:ext cx="9692640" cy="310896"/>
          </a:xfrm>
          <a:prstGeom prst="rect">
            <a:avLst/>
          </a:prstGeom>
          <a:noFill/>
          <a:ln/>
        </p:spPr>
        <p:txBody>
          <a:bodyPr wrap="square" lIns="0" tIns="0" rIns="0" bIns="0" rtlCol="0" anchor="t"/>
          <a:lstStyle/>
          <a:p>
            <a:pPr algn="l" indent="0" marL="0">
              <a:buNone/>
            </a:pPr>
            <a:r>
              <a:rPr lang="en-US" sz="1400" dirty="0">
                <a:solidFill>
                  <a:schemeClr val="tx2"/>
                </a:solidFill>
              </a:rPr>
              <a:t>Agent stops before saving; a second answer and a stronger model vote; no majority goes to human review</a:t>
            </a:r>
            <a:endParaRPr lang="en-US" sz="1400" dirty="0"/>
          </a:p>
        </p:txBody>
      </p:sp>
      <p:sp>
        <p:nvSpPr>
          <p:cNvPr id="9" name="card"/>
          <p:cNvSpPr/>
          <p:nvPr/>
        </p:nvSpPr>
        <p:spPr>
          <a:xfrm>
            <a:off x="548640" y="2304288"/>
            <a:ext cx="11094415" cy="731520"/>
          </a:xfrm>
          <a:prstGeom prst="roundRect">
            <a:avLst>
              <a:gd name="adj" fmla="val 15000"/>
            </a:avLst>
          </a:prstGeom>
          <a:solidFill>
            <a:schemeClr val="bg1"/>
          </a:solidFill>
          <a:ln/>
          <a:effectLst>
            <a:outerShdw sx="100000" sy="100000" kx="0" ky="0" algn="bl" rotWithShape="0" blurRad="88900" dist="25400" dir="5400000">
              <a:srgbClr val="000000">
                <a:alpha val="13000"/>
              </a:srgbClr>
            </a:outerShdw>
          </a:effectLst>
        </p:spPr>
      </p:sp>
      <p:sp>
        <p:nvSpPr>
          <p:cNvPr id="10" name="number"/>
          <p:cNvSpPr/>
          <p:nvPr/>
        </p:nvSpPr>
        <p:spPr>
          <a:xfrm>
            <a:off x="822960" y="2395728"/>
            <a:ext cx="548640" cy="548640"/>
          </a:xfrm>
          <a:prstGeom prst="ellipse">
            <a:avLst/>
          </a:prstGeom>
          <a:solidFill>
            <a:schemeClr val="accent1"/>
          </a:solidFill>
          <a:ln/>
        </p:spPr>
      </p:sp>
      <p:sp>
        <p:nvSpPr>
          <p:cNvPr id="11" name="text"/>
          <p:cNvSpPr txBox="1"/>
          <p:nvPr/>
        </p:nvSpPr>
        <p:spPr>
          <a:xfrm>
            <a:off x="822960" y="239572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p:cNvSpPr txBox="1"/>
          <p:nvPr/>
        </p:nvSpPr>
        <p:spPr>
          <a:xfrm>
            <a:off x="1645920" y="2350008"/>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Decide every wizard step before the first irreversible click</a:t>
            </a:r>
            <a:endParaRPr lang="en-US" sz="1800" dirty="0"/>
          </a:p>
        </p:txBody>
      </p:sp>
      <p:sp>
        <p:nvSpPr>
          <p:cNvPr id="13" name="text"/>
          <p:cNvSpPr txBox="1"/>
          <p:nvPr/>
        </p:nvSpPr>
        <p:spPr>
          <a:xfrm>
            <a:off x="1645920" y="2688336"/>
            <a:ext cx="9692640" cy="310896"/>
          </a:xfrm>
          <a:prstGeom prst="rect">
            <a:avLst/>
          </a:prstGeom>
          <a:noFill/>
          <a:ln/>
        </p:spPr>
        <p:txBody>
          <a:bodyPr wrap="square" lIns="0" tIns="0" rIns="0" bIns="0" rtlCol="0" anchor="t"/>
          <a:lstStyle/>
          <a:p>
            <a:pPr algn="l" indent="0" marL="0">
              <a:buNone/>
            </a:pPr>
            <a:r>
              <a:rPr lang="en-US" sz="1400" dirty="0">
                <a:solidFill>
                  <a:schemeClr val="tx2"/>
                </a:solidFill>
              </a:rPr>
              <a:t>Learn which clicks send a save request; never redo from scratch after one</a:t>
            </a:r>
            <a:endParaRPr lang="en-US" sz="1400" dirty="0"/>
          </a:p>
        </p:txBody>
      </p:sp>
      <p:sp>
        <p:nvSpPr>
          <p:cNvPr id="14" name="card"/>
          <p:cNvSpPr/>
          <p:nvPr/>
        </p:nvSpPr>
        <p:spPr>
          <a:xfrm>
            <a:off x="548640" y="3145536"/>
            <a:ext cx="11094415" cy="731520"/>
          </a:xfrm>
          <a:prstGeom prst="roundRect">
            <a:avLst>
              <a:gd name="adj" fmla="val 15000"/>
            </a:avLst>
          </a:prstGeom>
          <a:solidFill>
            <a:schemeClr val="bg1"/>
          </a:solidFill>
          <a:ln/>
          <a:effectLst>
            <a:outerShdw sx="100000" sy="100000" kx="0" ky="0" algn="bl" rotWithShape="0" blurRad="88900" dist="25400" dir="5400000">
              <a:srgbClr val="000000">
                <a:alpha val="13000"/>
              </a:srgbClr>
            </a:outerShdw>
          </a:effectLst>
        </p:spPr>
      </p:sp>
      <p:sp>
        <p:nvSpPr>
          <p:cNvPr id="15" name="number"/>
          <p:cNvSpPr/>
          <p:nvPr/>
        </p:nvSpPr>
        <p:spPr>
          <a:xfrm>
            <a:off x="822960" y="3236976"/>
            <a:ext cx="548640" cy="548640"/>
          </a:xfrm>
          <a:prstGeom prst="ellipse">
            <a:avLst/>
          </a:prstGeom>
          <a:solidFill>
            <a:schemeClr val="accent1"/>
          </a:solidFill>
          <a:ln/>
        </p:spPr>
      </p:sp>
      <p:sp>
        <p:nvSpPr>
          <p:cNvPr id="16" name="text"/>
          <p:cNvSpPr txBox="1"/>
          <p:nvPr/>
        </p:nvSpPr>
        <p:spPr>
          <a:xfrm>
            <a:off x="822960" y="323697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p:cNvSpPr txBox="1"/>
          <p:nvPr/>
        </p:nvSpPr>
        <p:spPr>
          <a:xfrm>
            <a:off x="1645920" y="3191256"/>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Pilot on one real repeating task</a:t>
            </a:r>
            <a:endParaRPr lang="en-US" sz="1800" dirty="0"/>
          </a:p>
        </p:txBody>
      </p:sp>
      <p:sp>
        <p:nvSpPr>
          <p:cNvPr id="18" name="text"/>
          <p:cNvSpPr txBox="1"/>
          <p:nvPr/>
        </p:nvSpPr>
        <p:spPr>
          <a:xfrm>
            <a:off x="1645920" y="3529584"/>
            <a:ext cx="9692640" cy="310896"/>
          </a:xfrm>
          <a:prstGeom prst="rect">
            <a:avLst/>
          </a:prstGeom>
          <a:noFill/>
          <a:ln/>
        </p:spPr>
        <p:txBody>
          <a:bodyPr wrap="square" lIns="0" tIns="0" rIns="0" bIns="0" rtlCol="0" anchor="t"/>
          <a:lstStyle/>
          <a:p>
            <a:pPr algn="l" indent="0" marL="0">
              <a:buNone/>
            </a:pPr>
            <a:r>
              <a:rPr lang="en-US" sz="1400" dirty="0">
                <a:solidFill>
                  <a:schemeClr val="tx2"/>
                </a:solidFill>
              </a:rPr>
              <a:t>The first real-world test: 8 to 16 records, measure where it breaks</a:t>
            </a:r>
            <a:endParaRPr lang="en-US" sz="1400" dirty="0"/>
          </a:p>
        </p:txBody>
      </p:sp>
      <p:sp>
        <p:nvSpPr>
          <p:cNvPr id="19" name="card"/>
          <p:cNvSpPr/>
          <p:nvPr/>
        </p:nvSpPr>
        <p:spPr>
          <a:xfrm>
            <a:off x="548640" y="3986784"/>
            <a:ext cx="11094415" cy="731520"/>
          </a:xfrm>
          <a:prstGeom prst="roundRect">
            <a:avLst>
              <a:gd name="adj" fmla="val 15000"/>
            </a:avLst>
          </a:prstGeom>
          <a:solidFill>
            <a:schemeClr val="bg1"/>
          </a:solidFill>
          <a:ln/>
          <a:effectLst>
            <a:outerShdw sx="100000" sy="100000" kx="0" ky="0" algn="bl" rotWithShape="0" blurRad="88900" dist="25400" dir="5400000">
              <a:srgbClr val="000000">
                <a:alpha val="13000"/>
              </a:srgbClr>
            </a:outerShdw>
          </a:effectLst>
        </p:spPr>
      </p:sp>
      <p:sp>
        <p:nvSpPr>
          <p:cNvPr id="20" name="number"/>
          <p:cNvSpPr/>
          <p:nvPr/>
        </p:nvSpPr>
        <p:spPr>
          <a:xfrm>
            <a:off x="822960" y="4078224"/>
            <a:ext cx="548640" cy="548640"/>
          </a:xfrm>
          <a:prstGeom prst="ellipse">
            <a:avLst/>
          </a:prstGeom>
          <a:solidFill>
            <a:schemeClr val="accent1"/>
          </a:solidFill>
          <a:ln/>
        </p:spPr>
      </p:sp>
      <p:sp>
        <p:nvSpPr>
          <p:cNvPr id="21" name="text"/>
          <p:cNvSpPr txBox="1"/>
          <p:nvPr/>
        </p:nvSpPr>
        <p:spPr>
          <a:xfrm>
            <a:off x="822960" y="407822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p:cNvSpPr txBox="1"/>
          <p:nvPr/>
        </p:nvSpPr>
        <p:spPr>
          <a:xfrm>
            <a:off x="1645920" y="4032504"/>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Offline bench for decision programs</a:t>
            </a:r>
            <a:endParaRPr lang="en-US" sz="1800" dirty="0"/>
          </a:p>
        </p:txBody>
      </p:sp>
      <p:sp>
        <p:nvSpPr>
          <p:cNvPr id="23" name="text"/>
          <p:cNvSpPr txBox="1"/>
          <p:nvPr/>
        </p:nvSpPr>
        <p:spPr>
          <a:xfrm>
            <a:off x="1645920" y="4370832"/>
            <a:ext cx="9692640" cy="310896"/>
          </a:xfrm>
          <a:prstGeom prst="rect">
            <a:avLst/>
          </a:prstGeom>
          <a:noFill/>
          <a:ln/>
        </p:spPr>
        <p:txBody>
          <a:bodyPr wrap="square" lIns="0" tIns="0" rIns="0" bIns="0" rtlCol="0" anchor="t"/>
          <a:lstStyle/>
          <a:p>
            <a:pPr algn="l" indent="0" marL="0">
              <a:buNone/>
            </a:pPr>
            <a:r>
              <a:rPr lang="en-US" sz="1400" dirty="0">
                <a:solidFill>
                  <a:schemeClr val="tx2"/>
                </a:solidFill>
              </a:rPr>
              <a:t>Switch on only after they reproduce recorded runs exactly; shadow mode first</a:t>
            </a:r>
            <a:endParaRPr lang="en-US" sz="1400" dirty="0"/>
          </a:p>
        </p:txBody>
      </p:sp>
      <p:sp>
        <p:nvSpPr>
          <p:cNvPr id="24" name="card"/>
          <p:cNvSpPr/>
          <p:nvPr/>
        </p:nvSpPr>
        <p:spPr>
          <a:xfrm>
            <a:off x="548640" y="4828032"/>
            <a:ext cx="11094415" cy="731520"/>
          </a:xfrm>
          <a:prstGeom prst="roundRect">
            <a:avLst>
              <a:gd name="adj" fmla="val 15000"/>
            </a:avLst>
          </a:prstGeom>
          <a:solidFill>
            <a:schemeClr val="bg1"/>
          </a:solidFill>
          <a:ln/>
          <a:effectLst>
            <a:outerShdw sx="100000" sy="100000" kx="0" ky="0" algn="bl" rotWithShape="0" blurRad="88900" dist="25400" dir="5400000">
              <a:srgbClr val="000000">
                <a:alpha val="13000"/>
              </a:srgbClr>
            </a:outerShdw>
          </a:effectLst>
        </p:spPr>
      </p:sp>
      <p:sp>
        <p:nvSpPr>
          <p:cNvPr id="25" name="number"/>
          <p:cNvSpPr/>
          <p:nvPr/>
        </p:nvSpPr>
        <p:spPr>
          <a:xfrm>
            <a:off x="822960" y="4919472"/>
            <a:ext cx="548640" cy="548640"/>
          </a:xfrm>
          <a:prstGeom prst="ellipse">
            <a:avLst/>
          </a:prstGeom>
          <a:solidFill>
            <a:schemeClr val="accent1"/>
          </a:solidFill>
          <a:ln/>
        </p:spPr>
      </p:sp>
      <p:sp>
        <p:nvSpPr>
          <p:cNvPr id="26" name="text"/>
          <p:cNvSpPr txBox="1"/>
          <p:nvPr/>
        </p:nvSpPr>
        <p:spPr>
          <a:xfrm>
            <a:off x="822960" y="491947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p:cNvSpPr txBox="1"/>
          <p:nvPr/>
        </p:nvSpPr>
        <p:spPr>
          <a:xfrm>
            <a:off x="1645920" y="4873752"/>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Compare tools, then rebuild the core step by step</a:t>
            </a:r>
            <a:endParaRPr lang="en-US" sz="1800" dirty="0"/>
          </a:p>
        </p:txBody>
      </p:sp>
      <p:sp>
        <p:nvSpPr>
          <p:cNvPr id="28" name="text"/>
          <p:cNvSpPr txBox="1"/>
          <p:nvPr/>
        </p:nvSpPr>
        <p:spPr>
          <a:xfrm>
            <a:off x="1645920" y="5212080"/>
            <a:ext cx="9692640" cy="310896"/>
          </a:xfrm>
          <a:prstGeom prst="rect">
            <a:avLst/>
          </a:prstGeom>
          <a:noFill/>
          <a:ln/>
        </p:spPr>
        <p:txBody>
          <a:bodyPr wrap="square" lIns="0" tIns="0" rIns="0" bIns="0" rtlCol="0" anchor="t"/>
          <a:lstStyle/>
          <a:p>
            <a:pPr algn="l" indent="0" marL="0">
              <a:buNone/>
            </a:pPr>
            <a:r>
              <a:rPr lang="en-US" sz="1400" dirty="0">
                <a:solidFill>
                  <a:schemeClr val="tx2"/>
                </a:solidFill>
              </a:rPr>
              <a:t>Stagehand, Skyvern and Webwright against browser-use; a guided rebuild so the team understands every piece</a:t>
            </a:r>
            <a:endParaRPr lang="en-US" sz="1400" dirty="0"/>
          </a:p>
        </p:txBody>
      </p:sp>
      <p:sp>
        <p:nvSpPr>
          <p:cNvPr id="29" name="banner"/>
          <p:cNvSpPr/>
          <p:nvPr/>
        </p:nvSpPr>
        <p:spPr>
          <a:xfrm>
            <a:off x="548640" y="5760720"/>
            <a:ext cx="11094415" cy="457200"/>
          </a:xfrm>
          <a:prstGeom prst="roundRect">
            <a:avLst>
              <a:gd name="adj" fmla="val 24000"/>
            </a:avLst>
          </a:prstGeom>
          <a:solidFill>
            <a:schemeClr val="tx1"/>
          </a:solidFill>
          <a:ln/>
        </p:spPr>
      </p:sp>
      <p:sp>
        <p:nvSpPr>
          <p:cNvPr id="30" name="text"/>
          <p:cNvSpPr txBox="1"/>
          <p:nvPr/>
        </p:nvSpPr>
        <p:spPr>
          <a:xfrm>
            <a:off x="822960" y="5760720"/>
            <a:ext cx="10545775" cy="457200"/>
          </a:xfrm>
          <a:prstGeom prst="rect">
            <a:avLst/>
          </a:prstGeom>
          <a:noFill/>
          <a:ln/>
        </p:spPr>
        <p:txBody>
          <a:bodyPr wrap="square" lIns="0" tIns="0" rIns="0" bIns="0" rtlCol="0" anchor="ctr"/>
          <a:lstStyle/>
          <a:p>
            <a:pPr algn="l" indent="0" marL="0">
              <a:buNone/>
            </a:pPr>
            <a:r>
              <a:rPr lang="en-US" sz="1600" b="1" dirty="0">
                <a:solidFill>
                  <a:schemeClr val="bg1"/>
                </a:solidFill>
              </a:rPr>
              <a:t>Rule for all of it: one piece at a time, proven live, behind a switch.</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erminautomator">
  <a:themeElements>
    <a:clrScheme name="Terminautomator">
      <a:dk1>
        <a:srgbClr val="1B1F27"/>
      </a:dk1>
      <a:lt1>
        <a:srgbClr val="FFFFFF"/>
      </a:lt1>
      <a:dk2>
        <a:srgbClr val="5B6573"/>
      </a:dk2>
      <a:lt2>
        <a:srgbClr val="F7F6F2"/>
      </a:lt2>
      <a:accent1>
        <a:srgbClr val="C77D0A"/>
      </a:accent1>
      <a:accent2>
        <a:srgbClr val="1F5FBF"/>
      </a:accent2>
      <a:accent3>
        <a:srgbClr val="C0392B"/>
      </a:accent3>
      <a:accent4>
        <a:srgbClr val="2E8B57"/>
      </a:accent4>
      <a:accent5>
        <a:srgbClr val="8FA3BF"/>
      </a:accent5>
      <a:accent6>
        <a:srgbClr val="DCE6F5"/>
      </a:accent6>
      <a:hlink>
        <a:srgbClr val="1F5FBF"/>
      </a:hlink>
      <a:folHlink>
        <a:srgbClr val="5B6573"/>
      </a:folHlink>
    </a:clrScheme>
    <a:fontScheme name="Terminautoma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terminautomator v3: overview, lessons and next steps</dc:title>
  <dc:subject>PptxGenJS Presentation</dc:subject>
  <dc:creator>PptxGenJS</dc:creator>
  <cp:lastModifiedBy>PptxGenJS</cp:lastModifiedBy>
  <cp:revision>1</cp:revision>
  <dcterms:created xsi:type="dcterms:W3CDTF">2026-10-13T06:49:56Z</dcterms:created>
  <dcterms:modified xsi:type="dcterms:W3CDTF">2026-10-13T06:49:56Z</dcterms:modified>
</cp:coreProperties>
</file>