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432f9a56-734a-fe96-bccf-423039fce4d5}">
          <p14:sldIdLst>
            <p14:sldId id="256"/>
            <p14:sldId id="257"/>
            <p14:sldId id="258"/>
            <p14:sldId id="259"/>
          </p14:sldIdLst>
        </p14:section>
        <p14:section name="Results" id="{38ec09d3-3423-f43b-d3db-fcd8f9842c9d}">
          <p14:sldIdLst>
            <p14:sldId id="260"/>
            <p14:sldId id="261"/>
            <p14:sldId id="262"/>
          </p14:sldIdLst>
        </p14:section>
        <p14:section name="Problems" id="{46d1180e-8560-a4e1-89bb-13b31f7227a8}">
          <p14:sldIdLst>
            <p14:sldId id="263"/>
            <p14:sldId id="264"/>
            <p14:sldId id="265"/>
            <p14:sldId id="266"/>
            <p14:sldId id="267"/>
          </p14:sldIdLst>
        </p14:section>
        <p14:section name="Lessons and next steps" id="{438e2ad6-bb27-a86e-80fe-95ab82416b2c}">
          <p14:sldIdLst>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B1F27"/>
                </a:solidFill>
                <a:latin typeface="+mn-lt"/>
              </a:defRPr>
            </a:pPr>
            <a:r>
              <a:rPr sz="1600" b="0" i="0" u="none" strike="noStrike">
                <a:solidFill>
                  <a:srgbClr val="1B1F27"/>
                </a:solidFill>
                <a:latin typeface="+mn-lt"/>
              </a:rPr>
              <a:t>AI calls per 100 records</a:t>
            </a:r>
          </a:p>
        </c:rich>
      </c:tx>
      <c:layout/>
      <c:overlay val="0"/>
    </c:title>
    <c:autoTitleDeleted val="0"/>
    <c:plotArea>
      <c:layout/>
      <c:barChart>
        <c:barDir val="col"/>
        <c:grouping val="clustered"/>
        <c:varyColors val="0"/>
        <c:ser>
          <c:idx val="0"/>
          <c:order val="0"/>
          <c:tx>
            <c:strRef>
              <c:f>Sheet1!$B$1</c:f>
              <c:strCache>
                <c:ptCount val="1"/>
                <c:pt idx="0">
                  <c:v>Live agent only</c:v>
                </c:pt>
              </c:strCache>
            </c:strRef>
          </c:tx>
          <c:spPr>
            <a:solidFill>
              <a:srgbClr val="8FA3BF"/>
            </a:solidFill>
            <a:effectLst/>
          </c:spPr>
          <c:invertIfNegative val="0"/>
          <c:dLbls>
            <c:numFmt formatCode="#,##0" sourceLinked="0"/>
            <c:txPr>
              <a:bodyPr/>
              <a:lstStyle/>
              <a:p>
                <a:pPr>
                  <a:defRPr b="0" i="0" strike="noStrike" sz="1400" u="none">
                    <a:solidFill>
                      <a:srgbClr val="1B1F27"/>
                    </a:solidFill>
                    <a:latin typeface="+mn-lt"/>
                  </a:defRPr>
                </a:pPr>
              </a:p>
            </c:txPr>
            <c:showLegendKey val="0"/>
            <c:showVal val="1"/>
            <c:showCatName val="0"/>
            <c:showSerName val="0"/>
            <c:showPercent val="0"/>
            <c:showBubbleSize val="0"/>
            <c:showLeaderLines val="0"/>
          </c:dLbls>
          <c:cat>
            <c:multiLvlStrRef>
              <c:f>Sheet1!$A$2:$A$3</c:f>
              <c:multiLvlStrCache>
                <c:ptCount val="2"/>
                <c:lvl>
                  <c:pt idx="0">
                    <c:v>Credit Desk</c:v>
                  </c:pt>
                  <c:pt idx="1">
                    <c:v>AP Desk</c:v>
                  </c:pt>
                </c:lvl>
              </c:multiLvlStrCache>
            </c:multiLvlStrRef>
          </c:cat>
          <c:val>
            <c:numRef>
              <c:f>Sheet1!$B$2:$B$3</c:f>
              <c:numCache>
                <c:formatCode>General</c:formatCode>
                <c:ptCount val="2"/>
                <c:pt idx="0">
                  <c:v>900</c:v>
                </c:pt>
                <c:pt idx="1">
                  <c:v>1500</c:v>
                </c:pt>
              </c:numCache>
            </c:numRef>
          </c:val>
        </c:ser>
        <c:ser>
          <c:idx val="1"/>
          <c:order val="1"/>
          <c:tx>
            <c:strRef>
              <c:f>Sheet1!$C$1</c:f>
              <c:strCache>
                <c:ptCount val="1"/>
                <c:pt idx="0">
                  <c:v>With learned recipe or plan</c:v>
                </c:pt>
              </c:strCache>
            </c:strRef>
          </c:tx>
          <c:spPr>
            <a:solidFill>
              <a:srgbClr val="C77D0A"/>
            </a:solidFill>
            <a:effectLst/>
          </c:spPr>
          <c:invertIfNegative val="0"/>
          <c:dLbls>
            <c:numFmt formatCode="#,##0" sourceLinked="0"/>
            <c:txPr>
              <a:bodyPr/>
              <a:lstStyle/>
              <a:p>
                <a:pPr>
                  <a:defRPr b="0" i="0" strike="noStrike" sz="1400" u="none">
                    <a:solidFill>
                      <a:srgbClr val="1B1F27"/>
                    </a:solidFill>
                    <a:latin typeface="+mn-lt"/>
                  </a:defRPr>
                </a:pPr>
              </a:p>
            </c:txPr>
            <c:showLegendKey val="0"/>
            <c:showVal val="1"/>
            <c:showCatName val="0"/>
            <c:showSerName val="0"/>
            <c:showPercent val="0"/>
            <c:showBubbleSize val="0"/>
            <c:showLeaderLines val="0"/>
          </c:dLbls>
          <c:cat>
            <c:multiLvlStrRef>
              <c:f>Sheet1!$A$2:$A$3</c:f>
              <c:multiLvlStrCache>
                <c:ptCount val="2"/>
                <c:lvl>
                  <c:pt idx="0">
                    <c:v>Credit Desk</c:v>
                  </c:pt>
                  <c:pt idx="1">
                    <c:v>AP Desk</c:v>
                  </c:pt>
                </c:lvl>
              </c:multiLvlStrCache>
            </c:multiLvlStrRef>
          </c:cat>
          <c:val>
            <c:numRef>
              <c:f>Sheet1!$C$2:$C$3</c:f>
              <c:numCache>
                <c:formatCode>General</c:formatCode>
                <c:ptCount val="2"/>
                <c:pt idx="0">
                  <c:v>66</c:v>
                </c:pt>
                <c:pt idx="1">
                  <c:v>126</c:v>
                </c:pt>
              </c:numCache>
            </c:numRef>
          </c:val>
        </c:ser>
        <c:dLbls>
          <c:numFmt formatCode="#,##0" sourceLinked="0"/>
          <c:txPr>
            <a:bodyPr/>
            <a:lstStyle/>
            <a:p>
              <a:pPr>
                <a:defRPr b="0" i="0" strike="noStrike" sz="1400" u="none">
                  <a:solidFill>
                    <a:srgbClr val="1B1F27"/>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B1F27"/>
                </a:solidFill>
                <a:latin typeface="+mn-lt"/>
              </a:defRPr>
            </a:pPr>
            <a:endParaRPr lang="en-US"/>
          </a:p>
        </c:txPr>
        <c:crossAx val="2094734552"/>
        <c:crosses val="autoZero"/>
        <c:auto val="1"/>
        <c:lblAlgn val="ctr"/>
        <c:noMultiLvlLbl val="1"/>
      </c:catAx>
      <c:valAx>
        <c:axId val="2094734552"/>
        <c:scaling>
          <c:orientation val="minMax"/>
          <c:max val="1800"/>
        </c:scaling>
        <c:delete val="0"/>
        <c:axPos val="l"/>
        <c:majorGridlines>
          <c:spPr>
            <a:ln w="9525" cap="flat">
              <a:solidFill>
                <a:srgbClr val="E3E1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573"/>
                </a:solidFill>
                <a:latin typeface="+mn-lt"/>
              </a:defRPr>
            </a:pPr>
            <a:endParaRPr lang="en-US"/>
          </a:p>
        </c:txPr>
        <c:crossAx val="2094734554"/>
        <c:crosses val="autoZero"/>
        <c:crossBetween val="between"/>
        <c:majorUnit val="300"/>
      </c:valAx>
      <c:spPr>
        <a:noFill/>
        <a:ln>
          <a:noFill/>
        </a:ln>
        <a:effectLst/>
      </c:spPr>
    </c:plotArea>
    <c:legend>
      <c:legendPos val="b"/>
      <c:overlay val="0"/>
      <c:txPr>
        <a:bodyPr/>
        <a:lstStyle/>
        <a:p>
          <a:pPr>
            <a:defRPr sz="1300">
              <a:solidFill>
                <a:srgbClr val="5B657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B1F27"/>
                </a:solidFill>
                <a:latin typeface="+mn-lt"/>
              </a:defRPr>
            </a:pPr>
            <a:r>
              <a:rPr sz="1600" b="0" i="0" u="none" strike="noStrike">
                <a:solidFill>
                  <a:srgbClr val="1B1F27"/>
                </a:solidFill>
                <a:latin typeface="+mn-lt"/>
              </a:rPr>
              <a:t>Live accuracy on the Expense Desk (%)</a:t>
            </a:r>
          </a:p>
        </c:rich>
      </c:tx>
      <c:layout/>
      <c:overlay val="0"/>
    </c:title>
    <c:autoTitleDeleted val="0"/>
    <c:plotArea>
      <c:layout/>
      <c:barChart>
        <c:barDir val="col"/>
        <c:grouping val="clustered"/>
        <c:varyColors val="0"/>
        <c:ser>
          <c:idx val="0"/>
          <c:order val="0"/>
          <c:tx>
            <c:strRef>
              <c:f>Sheet1!$B$1</c:f>
              <c:strCache>
                <c:ptCount val="1"/>
                <c:pt idx="0">
                  <c:v>Live accuracy (%)</c:v>
                </c:pt>
              </c:strCache>
            </c:strRef>
          </c:tx>
          <c:spPr>
            <a:solidFill>
              <a:srgbClr val="1F5FBF"/>
            </a:solidFill>
            <a:effectLst/>
          </c:spPr>
          <c:invertIfNegative val="0"/>
          <c:dLbls>
            <c:numFmt formatCode="0" sourceLinked="0"/>
            <c:txPr>
              <a:bodyPr/>
              <a:lstStyle/>
              <a:p>
                <a:pPr>
                  <a:defRPr b="0" i="0" strike="noStrike" sz="1400" u="none">
                    <a:solidFill>
                      <a:srgbClr val="1B1F27"/>
                    </a:solidFill>
                    <a:latin typeface="+mn-lt"/>
                  </a:defRPr>
                </a:pPr>
              </a:p>
            </c:txPr>
            <c:showLegendKey val="0"/>
            <c:showVal val="1"/>
            <c:showCatName val="0"/>
            <c:showSerName val="0"/>
            <c:showPercent val="0"/>
            <c:showBubbleSize val="0"/>
            <c:showLeaderLines val="0"/>
          </c:dLbls>
          <c:dPt>
            <c:idx val="0"/>
            <c:invertIfNegative val="0"/>
            <c:bubble3D val="0"/>
            <c:spPr>
              <a:solidFill>
                <a:srgbClr val="1F5FBF"/>
              </a:solidFill>
              <a:effectLst/>
            </c:spPr>
          </c:dPt>
          <c:dPt>
            <c:idx val="1"/>
            <c:invertIfNegative val="0"/>
            <c:bubble3D val="0"/>
            <c:spPr>
              <a:solidFill>
                <a:srgbClr val="1F5FBF"/>
              </a:solidFill>
              <a:effectLst/>
            </c:spPr>
          </c:dPt>
          <c:dPt>
            <c:idx val="2"/>
            <c:invertIfNegative val="0"/>
            <c:bubble3D val="0"/>
            <c:spPr>
              <a:solidFill>
                <a:srgbClr val="C77D0A"/>
              </a:solidFill>
              <a:effectLst/>
            </c:spPr>
          </c:dPt>
          <c:dPt>
            <c:idx val="3"/>
            <c:invertIfNegative val="0"/>
            <c:bubble3D val="0"/>
            <c:spPr>
              <a:solidFill>
                <a:srgbClr val="C77D0A"/>
              </a:solidFill>
              <a:effectLst/>
            </c:spPr>
          </c:dPt>
          <c:dPt>
            <c:idx val="4"/>
            <c:invertIfNegative val="0"/>
            <c:bubble3D val="0"/>
            <c:spPr>
              <a:solidFill>
                <a:srgbClr val="C77D0A"/>
              </a:solidFill>
              <a:effectLst/>
            </c:spPr>
          </c:dPt>
          <c:dPt>
            <c:idx val="5"/>
            <c:invertIfNegative val="0"/>
            <c:bubble3D val="0"/>
            <c:spPr>
              <a:solidFill>
                <a:srgbClr val="C77D0A"/>
              </a:solidFill>
              <a:effectLst/>
            </c:spPr>
          </c:dPt>
          <c:dPt>
            <c:idx val="6"/>
            <c:invertIfNegative val="0"/>
            <c:bubble3D val="0"/>
            <c:spPr>
              <a:solidFill>
                <a:srgbClr val="C77D0A"/>
              </a:solidFill>
              <a:effectLst/>
            </c:spPr>
          </c:dPt>
          <c:cat>
            <c:multiLvlStrRef>
              <c:f>Sheet1!$A$2:$A$8</c:f>
              <c:multiLvlStrCache>
                <c:ptCount val="7"/>
                <c:lvl>
                  <c:pt idx="0">
                    <c:v>Old: 16/16</c:v>
                  </c:pt>
                  <c:pt idx="1">
                    <c:v>Old: 8/8</c:v>
                  </c:pt>
                  <c:pt idx="2">
                    <c:v>New 1</c:v>
                  </c:pt>
                  <c:pt idx="3">
                    <c:v>New 2</c:v>
                  </c:pt>
                  <c:pt idx="4">
                    <c:v>New 3</c:v>
                  </c:pt>
                  <c:pt idx="5">
                    <c:v>New 4</c:v>
                  </c:pt>
                  <c:pt idx="6">
                    <c:v>New 5</c:v>
                  </c:pt>
                </c:lvl>
              </c:multiLvlStrCache>
            </c:multiLvlStrRef>
          </c:cat>
          <c:val>
            <c:numRef>
              <c:f>Sheet1!$B$2:$B$8</c:f>
              <c:numCache>
                <c:formatCode>General</c:formatCode>
                <c:ptCount val="7"/>
                <c:pt idx="0">
                  <c:v>100</c:v>
                </c:pt>
                <c:pt idx="1">
                  <c:v>100</c:v>
                </c:pt>
                <c:pt idx="2">
                  <c:v>94</c:v>
                </c:pt>
                <c:pt idx="3">
                  <c:v>94</c:v>
                </c:pt>
                <c:pt idx="4">
                  <c:v>94</c:v>
                </c:pt>
                <c:pt idx="5">
                  <c:v>75</c:v>
                </c:pt>
                <c:pt idx="6">
                  <c:v>88</c:v>
                </c:pt>
              </c:numCache>
            </c:numRef>
          </c:val>
        </c:ser>
        <c:dLbls>
          <c:numFmt formatCode="0" sourceLinked="0"/>
          <c:txPr>
            <a:bodyPr/>
            <a:lstStyle/>
            <a:p>
              <a:pPr>
                <a:defRPr b="0" i="0" strike="noStrike" sz="1400" u="none">
                  <a:solidFill>
                    <a:srgbClr val="1B1F27"/>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1F27"/>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E3E1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573"/>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the overview of the v3 work on terminautomator: a system that lets an AI do a repetitive web task once, then reuse what it learned. The next 15 slides cover the idea, the results, what went wrong, why it was hard to test, and what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browser agent looks at a page, thinks, and picks one click at a time. That is about 15 AI calls and a minute per record. For a batch of 100 records it is roughly 1,500 calls, and the free tier allows only around 500 calls a day per model. The key insight: the 100 records are the same job done 100 times, so the AI should not have to re-learn it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does the first record, and the program records every click and value. It then builds a plan: the route, plus a label on each value saying where it comes from. A new plan is not trusted until it agrees with the live AI. After that it runs the remaining records, asking the AI only small questions. Code, not the AI, does the arithmetic and decides which rule applies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v3 turned scripts into a real application: a web interface, a database, a pool of API keys with pacing under the per-minute limit, and automatic grading against answer keys. On top of that sit two fast paths: the recipe engine for read-decide-click tasks and the plan engine, the general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Credit Desk, the live agent alone needed about 900 calls for 100 records; the recipe engine needed about 66 and scored 100 out of 100. On the AP Desk, the live agent would need around 1,500 calls and 70 minutes; the plan engine needed 126 calls and about 10 minutes, also 100 out of 100. These are measured on in-house test sites.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avoid tuning the system to one site, each new test website was built to behave differently from the ones before. Every new site broke something, and every fix was made general. All five sites were built in-house, so the honest limit is that no third-party, real-world site has been tested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worked well. Moving arithmetic to code took Credit Desk accuracy from about 80 to 100 percent. Plans were never trusted until they matched the live agent. Each fix was made generally, so later sites benefited. And grading against answer keys meant every claim was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second test site, the first attempt scored 1 out of 10. The older click cache replayed the first record's clicks for every record, including a link to the first record's own invoice. Nine records reported success, nothing crashed, and every one was wrong. Only the site refusing some saves and an outside grader revealed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Returns Desk, a plan that had only been proven on simple 'wrong item' returns was trusted. It then met a 'changed mind' refund and used a guessed 15 percent restocking fee, where the real fee in the policy table was 20 percent. It never opened the policy page, and when asked whether it could see everything it needed, the AI said yes. The fix was to trust a plan per kind of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Until this point the Returns Desk had only been tested with a tidy scripted recording of the AI. When the real AI ran it, the part of the system that turns a recording into a plan broke five ways at once. The lesson: test on real AI output as early as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bigger round followed, aiming at a general agent that calls the AI only when necessary. Seven pieces were built by parallel AI helpers and each was reviewed by a separate AI trying to break it; about 900 automated checks passed. But on real runs the new engine scored lower than the old one, and no decision program ever worked live. The cause: too much new code before any of it was tested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things made testing difficult. AI answers vary run to run. Live tests consume a limited daily quota. Tests with simulated AI answers miss real behaviour. The live agent used as the judge is itself sometimes wrong. Shared test sites and servers collided with tests. And running many AI helpers in parallel hit usage limits repeatedly.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lesson is paired with the problem that taught it. The most important ones: code should compute; every cache must prove itself against an independent answer; trust is per kind of case; an AI saying it is sure is not a check; and build one thing at a time, proving it live before building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reliable core works: learn once, prove it, reuse. The unproven ambitious pieces were switched off by default after they scored worse live. A fair description is a dependable assistant for one repeating web job, not yet a general AI employee. As a rough estimate, the project is perhaps fifteen to twenty percent of the way to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next steps. First, compare agent tools on one test site. Second, pilot on one real repeating business task. Third, rebuild the core step by step so the team fully understands it. Fourth, improve the referee so a wrong live agent cannot overrule a right plan. Fifth, treat decision programs as a research track, offline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core idea works, safety checks mattered more than raw speed, over-building before testing live was the main mistake, and the next steps are to compare tools, pilot a real task and rebuild step by step so the team understands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F7F6F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7F6F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txBox="1"/>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tx2"/>
                </a:solidFill>
              </a:rPr>
              <a:t>terminautomator v3 overview</a:t>
            </a:r>
            <a:endParaRPr lang="en-US" sz="10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3.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3.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slideLayout" Target="../slideLayouts/slideLayout3.xml"/><Relationship Id="rId1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3.xml"/><Relationship Id="rId7"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itle"/>
          <p:cNvSpPr txBox="1"/>
          <p:nvPr/>
        </p:nvSpPr>
        <p:spPr>
          <a:xfrm>
            <a:off x="822960" y="1097280"/>
            <a:ext cx="10515600" cy="1005840"/>
          </a:xfrm>
          <a:prstGeom prst="rect">
            <a:avLst/>
          </a:prstGeom>
          <a:noFill/>
          <a:ln/>
        </p:spPr>
        <p:txBody>
          <a:bodyPr wrap="square" lIns="0" tIns="0" rIns="0" bIns="0" rtlCol="0" anchor="ctr"/>
          <a:lstStyle/>
          <a:p>
            <a:pPr algn="l" indent="0" marL="0">
              <a:buNone/>
            </a:pPr>
            <a:r>
              <a:rPr lang="en-US" sz="5400" b="1" dirty="0">
                <a:solidFill>
                  <a:schemeClr val="tx1"/>
                </a:solidFill>
              </a:rPr>
              <a:t>terminautomator v3</a:t>
            </a:r>
            <a:endParaRPr lang="en-US" sz="5400" dirty="0"/>
          </a:p>
        </p:txBody>
      </p:sp>
      <p:sp>
        <p:nvSpPr>
          <p:cNvPr id="4" name="subtitle"/>
          <p:cNvSpPr txBox="1"/>
          <p:nvPr/>
        </p:nvSpPr>
        <p:spPr>
          <a:xfrm>
            <a:off x="822960" y="2148840"/>
            <a:ext cx="10515600" cy="548640"/>
          </a:xfrm>
          <a:prstGeom prst="rect">
            <a:avLst/>
          </a:prstGeom>
          <a:noFill/>
          <a:ln/>
        </p:spPr>
        <p:txBody>
          <a:bodyPr wrap="square" lIns="0" tIns="0" rIns="0" bIns="0" rtlCol="0" anchor="t"/>
          <a:lstStyle/>
          <a:p>
            <a:pPr algn="l" indent="0" marL="0">
              <a:buNone/>
            </a:pPr>
            <a:r>
              <a:rPr lang="en-US" sz="2400" dirty="0">
                <a:solidFill>
                  <a:schemeClr val="tx2"/>
                </a:solidFill>
              </a:rPr>
              <a:t>Making browser automation cheap, without making it wrong</a:t>
            </a:r>
            <a:endParaRPr lang="en-US" sz="2400" dirty="0"/>
          </a:p>
        </p:txBody>
      </p:sp>
      <p:sp>
        <p:nvSpPr>
          <p:cNvPr id="5" name="teacher"/>
          <p:cNvSpPr/>
          <p:nvPr/>
        </p:nvSpPr>
        <p:spPr>
          <a:xfrm>
            <a:off x="822960" y="3063240"/>
            <a:ext cx="1188720" cy="1188720"/>
          </a:xfrm>
          <a:prstGeom prst="ellipse">
            <a:avLst/>
          </a:prstGeom>
          <a:solidFill>
            <a:schemeClr val="accent1"/>
          </a:solidFill>
          <a:ln/>
          <a:effectLst>
            <a:outerShdw sx="100000" sy="100000" kx="0" ky="0" algn="bl" rotWithShape="0" blurRad="88900" dist="25400" dir="5400000">
              <a:srgbClr val="000000">
                <a:alpha val="13000"/>
              </a:srgbClr>
            </a:outerShdw>
          </a:effectLst>
        </p:spPr>
      </p:sp>
      <p:pic>
        <p:nvPicPr>
          <p:cNvPr id="6" name="icon FaRobot" descr="Robot icon">    </p:cNvPr>
          <p:cNvPicPr>
            <a:picLocks noChangeAspect="1"/>
          </p:cNvPicPr>
          <p:nvPr/>
        </p:nvPicPr>
        <p:blipFill>
          <a:blip r:embed="rId1"/>
          <a:stretch>
            <a:fillRect/>
          </a:stretch>
        </p:blipFill>
        <p:spPr>
          <a:xfrm>
            <a:off x="1097280" y="3337560"/>
            <a:ext cx="640080" cy="640080"/>
          </a:xfrm>
          <a:prstGeom prst="rect">
            <a:avLst/>
          </a:prstGeom>
        </p:spPr>
      </p:pic>
      <p:sp>
        <p:nvSpPr>
          <p:cNvPr id="7" name="record"/>
          <p:cNvSpPr/>
          <p:nvPr/>
        </p:nvSpPr>
        <p:spPr>
          <a:xfrm>
            <a:off x="2377440" y="3200400"/>
            <a:ext cx="457200" cy="182880"/>
          </a:xfrm>
          <a:prstGeom prst="roundRect">
            <a:avLst>
              <a:gd name="adj" fmla="val 25000"/>
            </a:avLst>
          </a:prstGeom>
          <a:solidFill>
            <a:schemeClr val="accent2">
              <a:alpha val="15000"/>
            </a:schemeClr>
          </a:solidFill>
          <a:ln/>
        </p:spPr>
      </p:sp>
      <p:sp>
        <p:nvSpPr>
          <p:cNvPr id="8" name="record"/>
          <p:cNvSpPr/>
          <p:nvPr/>
        </p:nvSpPr>
        <p:spPr>
          <a:xfrm>
            <a:off x="2962656" y="3200400"/>
            <a:ext cx="457200" cy="182880"/>
          </a:xfrm>
          <a:prstGeom prst="roundRect">
            <a:avLst>
              <a:gd name="adj" fmla="val 25000"/>
            </a:avLst>
          </a:prstGeom>
          <a:solidFill>
            <a:schemeClr val="accent2">
              <a:alpha val="21000"/>
            </a:schemeClr>
          </a:solidFill>
          <a:ln/>
        </p:spPr>
      </p:sp>
      <p:sp>
        <p:nvSpPr>
          <p:cNvPr id="9" name="record"/>
          <p:cNvSpPr/>
          <p:nvPr/>
        </p:nvSpPr>
        <p:spPr>
          <a:xfrm>
            <a:off x="3547872" y="3200400"/>
            <a:ext cx="457200" cy="182880"/>
          </a:xfrm>
          <a:prstGeom prst="roundRect">
            <a:avLst>
              <a:gd name="adj" fmla="val 25000"/>
            </a:avLst>
          </a:prstGeom>
          <a:solidFill>
            <a:schemeClr val="accent2">
              <a:alpha val="26000"/>
            </a:schemeClr>
          </a:solidFill>
          <a:ln/>
        </p:spPr>
      </p:sp>
      <p:sp>
        <p:nvSpPr>
          <p:cNvPr id="10" name="record"/>
          <p:cNvSpPr/>
          <p:nvPr/>
        </p:nvSpPr>
        <p:spPr>
          <a:xfrm>
            <a:off x="4133088" y="3200400"/>
            <a:ext cx="457200" cy="182880"/>
          </a:xfrm>
          <a:prstGeom prst="roundRect">
            <a:avLst>
              <a:gd name="adj" fmla="val 25000"/>
            </a:avLst>
          </a:prstGeom>
          <a:solidFill>
            <a:schemeClr val="accent2">
              <a:alpha val="32000"/>
            </a:schemeClr>
          </a:solidFill>
          <a:ln/>
        </p:spPr>
      </p:sp>
      <p:sp>
        <p:nvSpPr>
          <p:cNvPr id="11" name="record"/>
          <p:cNvSpPr/>
          <p:nvPr/>
        </p:nvSpPr>
        <p:spPr>
          <a:xfrm>
            <a:off x="4718304" y="3200400"/>
            <a:ext cx="457200" cy="182880"/>
          </a:xfrm>
          <a:prstGeom prst="roundRect">
            <a:avLst>
              <a:gd name="adj" fmla="val 25000"/>
            </a:avLst>
          </a:prstGeom>
          <a:solidFill>
            <a:schemeClr val="accent2">
              <a:alpha val="38000"/>
            </a:schemeClr>
          </a:solidFill>
          <a:ln/>
        </p:spPr>
      </p:sp>
      <p:sp>
        <p:nvSpPr>
          <p:cNvPr id="12" name="record"/>
          <p:cNvSpPr/>
          <p:nvPr/>
        </p:nvSpPr>
        <p:spPr>
          <a:xfrm>
            <a:off x="5303520" y="3200400"/>
            <a:ext cx="457200" cy="182880"/>
          </a:xfrm>
          <a:prstGeom prst="roundRect">
            <a:avLst>
              <a:gd name="adj" fmla="val 25000"/>
            </a:avLst>
          </a:prstGeom>
          <a:solidFill>
            <a:schemeClr val="accent2">
              <a:alpha val="43000"/>
            </a:schemeClr>
          </a:solidFill>
          <a:ln/>
        </p:spPr>
      </p:sp>
      <p:sp>
        <p:nvSpPr>
          <p:cNvPr id="13" name="record"/>
          <p:cNvSpPr/>
          <p:nvPr/>
        </p:nvSpPr>
        <p:spPr>
          <a:xfrm>
            <a:off x="5888736" y="3200400"/>
            <a:ext cx="457200" cy="182880"/>
          </a:xfrm>
          <a:prstGeom prst="roundRect">
            <a:avLst>
              <a:gd name="adj" fmla="val 25000"/>
            </a:avLst>
          </a:prstGeom>
          <a:solidFill>
            <a:schemeClr val="accent2">
              <a:alpha val="49000"/>
            </a:schemeClr>
          </a:solidFill>
          <a:ln/>
        </p:spPr>
      </p:sp>
      <p:sp>
        <p:nvSpPr>
          <p:cNvPr id="14" name="record"/>
          <p:cNvSpPr/>
          <p:nvPr/>
        </p:nvSpPr>
        <p:spPr>
          <a:xfrm>
            <a:off x="6473952" y="3200400"/>
            <a:ext cx="457200" cy="182880"/>
          </a:xfrm>
          <a:prstGeom prst="roundRect">
            <a:avLst>
              <a:gd name="adj" fmla="val 25000"/>
            </a:avLst>
          </a:prstGeom>
          <a:solidFill>
            <a:schemeClr val="accent2">
              <a:alpha val="55000"/>
            </a:schemeClr>
          </a:solidFill>
          <a:ln/>
        </p:spPr>
      </p:sp>
      <p:sp>
        <p:nvSpPr>
          <p:cNvPr id="15" name="record"/>
          <p:cNvSpPr/>
          <p:nvPr/>
        </p:nvSpPr>
        <p:spPr>
          <a:xfrm>
            <a:off x="7059168" y="3200400"/>
            <a:ext cx="457200" cy="182880"/>
          </a:xfrm>
          <a:prstGeom prst="roundRect">
            <a:avLst>
              <a:gd name="adj" fmla="val 25000"/>
            </a:avLst>
          </a:prstGeom>
          <a:solidFill>
            <a:schemeClr val="accent2">
              <a:alpha val="60000"/>
            </a:schemeClr>
          </a:solidFill>
          <a:ln/>
        </p:spPr>
      </p:sp>
      <p:sp>
        <p:nvSpPr>
          <p:cNvPr id="16" name="record"/>
          <p:cNvSpPr/>
          <p:nvPr/>
        </p:nvSpPr>
        <p:spPr>
          <a:xfrm>
            <a:off x="7644384" y="3200400"/>
            <a:ext cx="457200" cy="182880"/>
          </a:xfrm>
          <a:prstGeom prst="roundRect">
            <a:avLst>
              <a:gd name="adj" fmla="val 25000"/>
            </a:avLst>
          </a:prstGeom>
          <a:solidFill>
            <a:schemeClr val="accent2">
              <a:alpha val="66000"/>
            </a:schemeClr>
          </a:solidFill>
          <a:ln/>
        </p:spPr>
      </p:sp>
      <p:sp>
        <p:nvSpPr>
          <p:cNvPr id="17" name="record"/>
          <p:cNvSpPr/>
          <p:nvPr/>
        </p:nvSpPr>
        <p:spPr>
          <a:xfrm>
            <a:off x="8229600" y="3200400"/>
            <a:ext cx="457200" cy="182880"/>
          </a:xfrm>
          <a:prstGeom prst="roundRect">
            <a:avLst>
              <a:gd name="adj" fmla="val 25000"/>
            </a:avLst>
          </a:prstGeom>
          <a:solidFill>
            <a:schemeClr val="accent2">
              <a:alpha val="72000"/>
            </a:schemeClr>
          </a:solidFill>
          <a:ln/>
        </p:spPr>
      </p:sp>
      <p:sp>
        <p:nvSpPr>
          <p:cNvPr id="18" name="record"/>
          <p:cNvSpPr/>
          <p:nvPr/>
        </p:nvSpPr>
        <p:spPr>
          <a:xfrm>
            <a:off x="8814816" y="3200400"/>
            <a:ext cx="457200" cy="182880"/>
          </a:xfrm>
          <a:prstGeom prst="roundRect">
            <a:avLst>
              <a:gd name="adj" fmla="val 25000"/>
            </a:avLst>
          </a:prstGeom>
          <a:solidFill>
            <a:schemeClr val="accent2">
              <a:alpha val="77000"/>
            </a:schemeClr>
          </a:solidFill>
          <a:ln/>
        </p:spPr>
      </p:sp>
      <p:sp>
        <p:nvSpPr>
          <p:cNvPr id="19" name="record"/>
          <p:cNvSpPr/>
          <p:nvPr/>
        </p:nvSpPr>
        <p:spPr>
          <a:xfrm>
            <a:off x="9400032" y="3200400"/>
            <a:ext cx="457200" cy="182880"/>
          </a:xfrm>
          <a:prstGeom prst="roundRect">
            <a:avLst>
              <a:gd name="adj" fmla="val 25000"/>
            </a:avLst>
          </a:prstGeom>
          <a:solidFill>
            <a:schemeClr val="accent2">
              <a:alpha val="83000"/>
            </a:schemeClr>
          </a:solidFill>
          <a:ln/>
        </p:spPr>
      </p:sp>
      <p:sp>
        <p:nvSpPr>
          <p:cNvPr id="20" name="record"/>
          <p:cNvSpPr/>
          <p:nvPr/>
        </p:nvSpPr>
        <p:spPr>
          <a:xfrm>
            <a:off x="9985248" y="3200400"/>
            <a:ext cx="457200" cy="182880"/>
          </a:xfrm>
          <a:prstGeom prst="roundRect">
            <a:avLst>
              <a:gd name="adj" fmla="val 25000"/>
            </a:avLst>
          </a:prstGeom>
          <a:solidFill>
            <a:schemeClr val="accent2">
              <a:alpha val="89000"/>
            </a:schemeClr>
          </a:solidFill>
          <a:ln/>
        </p:spPr>
      </p:sp>
      <p:sp>
        <p:nvSpPr>
          <p:cNvPr id="21" name="record"/>
          <p:cNvSpPr/>
          <p:nvPr/>
        </p:nvSpPr>
        <p:spPr>
          <a:xfrm>
            <a:off x="10570464" y="3200400"/>
            <a:ext cx="457200" cy="182880"/>
          </a:xfrm>
          <a:prstGeom prst="roundRect">
            <a:avLst>
              <a:gd name="adj" fmla="val 25000"/>
            </a:avLst>
          </a:prstGeom>
          <a:solidFill>
            <a:schemeClr val="accent2">
              <a:alpha val="94000"/>
            </a:schemeClr>
          </a:solidFill>
          <a:ln/>
        </p:spPr>
      </p:sp>
      <p:sp>
        <p:nvSpPr>
          <p:cNvPr id="22" name="record"/>
          <p:cNvSpPr/>
          <p:nvPr/>
        </p:nvSpPr>
        <p:spPr>
          <a:xfrm>
            <a:off x="11155680" y="3200400"/>
            <a:ext cx="457200" cy="182880"/>
          </a:xfrm>
          <a:prstGeom prst="roundRect">
            <a:avLst>
              <a:gd name="adj" fmla="val 25000"/>
            </a:avLst>
          </a:prstGeom>
          <a:solidFill>
            <a:schemeClr val="accent2"/>
          </a:solidFill>
          <a:ln/>
        </p:spPr>
      </p:sp>
      <p:sp>
        <p:nvSpPr>
          <p:cNvPr id="23" name="record"/>
          <p:cNvSpPr/>
          <p:nvPr/>
        </p:nvSpPr>
        <p:spPr>
          <a:xfrm>
            <a:off x="2377440" y="3547872"/>
            <a:ext cx="457200" cy="182880"/>
          </a:xfrm>
          <a:prstGeom prst="roundRect">
            <a:avLst>
              <a:gd name="adj" fmla="val 25000"/>
            </a:avLst>
          </a:prstGeom>
          <a:solidFill>
            <a:schemeClr val="accent2">
              <a:alpha val="15000"/>
            </a:schemeClr>
          </a:solidFill>
          <a:ln/>
        </p:spPr>
      </p:sp>
      <p:sp>
        <p:nvSpPr>
          <p:cNvPr id="24" name="record"/>
          <p:cNvSpPr/>
          <p:nvPr/>
        </p:nvSpPr>
        <p:spPr>
          <a:xfrm>
            <a:off x="2962656" y="3547872"/>
            <a:ext cx="457200" cy="182880"/>
          </a:xfrm>
          <a:prstGeom prst="roundRect">
            <a:avLst>
              <a:gd name="adj" fmla="val 25000"/>
            </a:avLst>
          </a:prstGeom>
          <a:solidFill>
            <a:schemeClr val="accent2">
              <a:alpha val="21000"/>
            </a:schemeClr>
          </a:solidFill>
          <a:ln/>
        </p:spPr>
      </p:sp>
      <p:sp>
        <p:nvSpPr>
          <p:cNvPr id="25" name="record"/>
          <p:cNvSpPr/>
          <p:nvPr/>
        </p:nvSpPr>
        <p:spPr>
          <a:xfrm>
            <a:off x="3547872" y="3547872"/>
            <a:ext cx="457200" cy="182880"/>
          </a:xfrm>
          <a:prstGeom prst="roundRect">
            <a:avLst>
              <a:gd name="adj" fmla="val 25000"/>
            </a:avLst>
          </a:prstGeom>
          <a:solidFill>
            <a:schemeClr val="accent2">
              <a:alpha val="26000"/>
            </a:schemeClr>
          </a:solidFill>
          <a:ln/>
        </p:spPr>
      </p:sp>
      <p:sp>
        <p:nvSpPr>
          <p:cNvPr id="26" name="record"/>
          <p:cNvSpPr/>
          <p:nvPr/>
        </p:nvSpPr>
        <p:spPr>
          <a:xfrm>
            <a:off x="4133088" y="3547872"/>
            <a:ext cx="457200" cy="182880"/>
          </a:xfrm>
          <a:prstGeom prst="roundRect">
            <a:avLst>
              <a:gd name="adj" fmla="val 25000"/>
            </a:avLst>
          </a:prstGeom>
          <a:solidFill>
            <a:schemeClr val="accent2">
              <a:alpha val="32000"/>
            </a:schemeClr>
          </a:solidFill>
          <a:ln/>
        </p:spPr>
      </p:sp>
      <p:sp>
        <p:nvSpPr>
          <p:cNvPr id="27" name="record"/>
          <p:cNvSpPr/>
          <p:nvPr/>
        </p:nvSpPr>
        <p:spPr>
          <a:xfrm>
            <a:off x="4718304" y="3547872"/>
            <a:ext cx="457200" cy="182880"/>
          </a:xfrm>
          <a:prstGeom prst="roundRect">
            <a:avLst>
              <a:gd name="adj" fmla="val 25000"/>
            </a:avLst>
          </a:prstGeom>
          <a:solidFill>
            <a:schemeClr val="accent2">
              <a:alpha val="38000"/>
            </a:schemeClr>
          </a:solidFill>
          <a:ln/>
        </p:spPr>
      </p:sp>
      <p:sp>
        <p:nvSpPr>
          <p:cNvPr id="28" name="record"/>
          <p:cNvSpPr/>
          <p:nvPr/>
        </p:nvSpPr>
        <p:spPr>
          <a:xfrm>
            <a:off x="5303520" y="3547872"/>
            <a:ext cx="457200" cy="182880"/>
          </a:xfrm>
          <a:prstGeom prst="roundRect">
            <a:avLst>
              <a:gd name="adj" fmla="val 25000"/>
            </a:avLst>
          </a:prstGeom>
          <a:solidFill>
            <a:schemeClr val="accent2">
              <a:alpha val="43000"/>
            </a:schemeClr>
          </a:solidFill>
          <a:ln/>
        </p:spPr>
      </p:sp>
      <p:sp>
        <p:nvSpPr>
          <p:cNvPr id="29" name="record"/>
          <p:cNvSpPr/>
          <p:nvPr/>
        </p:nvSpPr>
        <p:spPr>
          <a:xfrm>
            <a:off x="5888736" y="3547872"/>
            <a:ext cx="457200" cy="182880"/>
          </a:xfrm>
          <a:prstGeom prst="roundRect">
            <a:avLst>
              <a:gd name="adj" fmla="val 25000"/>
            </a:avLst>
          </a:prstGeom>
          <a:solidFill>
            <a:schemeClr val="accent2">
              <a:alpha val="49000"/>
            </a:schemeClr>
          </a:solidFill>
          <a:ln/>
        </p:spPr>
      </p:sp>
      <p:sp>
        <p:nvSpPr>
          <p:cNvPr id="30" name="record"/>
          <p:cNvSpPr/>
          <p:nvPr/>
        </p:nvSpPr>
        <p:spPr>
          <a:xfrm>
            <a:off x="6473952" y="3547872"/>
            <a:ext cx="457200" cy="182880"/>
          </a:xfrm>
          <a:prstGeom prst="roundRect">
            <a:avLst>
              <a:gd name="adj" fmla="val 25000"/>
            </a:avLst>
          </a:prstGeom>
          <a:solidFill>
            <a:schemeClr val="accent2">
              <a:alpha val="55000"/>
            </a:schemeClr>
          </a:solidFill>
          <a:ln/>
        </p:spPr>
      </p:sp>
      <p:sp>
        <p:nvSpPr>
          <p:cNvPr id="31" name="record"/>
          <p:cNvSpPr/>
          <p:nvPr/>
        </p:nvSpPr>
        <p:spPr>
          <a:xfrm>
            <a:off x="7059168" y="3547872"/>
            <a:ext cx="457200" cy="182880"/>
          </a:xfrm>
          <a:prstGeom prst="roundRect">
            <a:avLst>
              <a:gd name="adj" fmla="val 25000"/>
            </a:avLst>
          </a:prstGeom>
          <a:solidFill>
            <a:schemeClr val="accent2">
              <a:alpha val="60000"/>
            </a:schemeClr>
          </a:solidFill>
          <a:ln/>
        </p:spPr>
      </p:sp>
      <p:sp>
        <p:nvSpPr>
          <p:cNvPr id="32" name="record"/>
          <p:cNvSpPr/>
          <p:nvPr/>
        </p:nvSpPr>
        <p:spPr>
          <a:xfrm>
            <a:off x="7644384" y="3547872"/>
            <a:ext cx="457200" cy="182880"/>
          </a:xfrm>
          <a:prstGeom prst="roundRect">
            <a:avLst>
              <a:gd name="adj" fmla="val 25000"/>
            </a:avLst>
          </a:prstGeom>
          <a:solidFill>
            <a:schemeClr val="accent2">
              <a:alpha val="66000"/>
            </a:schemeClr>
          </a:solidFill>
          <a:ln/>
        </p:spPr>
      </p:sp>
      <p:sp>
        <p:nvSpPr>
          <p:cNvPr id="33" name="record"/>
          <p:cNvSpPr/>
          <p:nvPr/>
        </p:nvSpPr>
        <p:spPr>
          <a:xfrm>
            <a:off x="8229600" y="3547872"/>
            <a:ext cx="457200" cy="182880"/>
          </a:xfrm>
          <a:prstGeom prst="roundRect">
            <a:avLst>
              <a:gd name="adj" fmla="val 25000"/>
            </a:avLst>
          </a:prstGeom>
          <a:solidFill>
            <a:schemeClr val="accent2">
              <a:alpha val="72000"/>
            </a:schemeClr>
          </a:solidFill>
          <a:ln/>
        </p:spPr>
      </p:sp>
      <p:sp>
        <p:nvSpPr>
          <p:cNvPr id="34" name="record"/>
          <p:cNvSpPr/>
          <p:nvPr/>
        </p:nvSpPr>
        <p:spPr>
          <a:xfrm>
            <a:off x="8814816" y="3547872"/>
            <a:ext cx="457200" cy="182880"/>
          </a:xfrm>
          <a:prstGeom prst="roundRect">
            <a:avLst>
              <a:gd name="adj" fmla="val 25000"/>
            </a:avLst>
          </a:prstGeom>
          <a:solidFill>
            <a:schemeClr val="accent2">
              <a:alpha val="77000"/>
            </a:schemeClr>
          </a:solidFill>
          <a:ln/>
        </p:spPr>
      </p:sp>
      <p:sp>
        <p:nvSpPr>
          <p:cNvPr id="35" name="record"/>
          <p:cNvSpPr/>
          <p:nvPr/>
        </p:nvSpPr>
        <p:spPr>
          <a:xfrm>
            <a:off x="9400032" y="3547872"/>
            <a:ext cx="457200" cy="182880"/>
          </a:xfrm>
          <a:prstGeom prst="roundRect">
            <a:avLst>
              <a:gd name="adj" fmla="val 25000"/>
            </a:avLst>
          </a:prstGeom>
          <a:solidFill>
            <a:schemeClr val="accent2">
              <a:alpha val="83000"/>
            </a:schemeClr>
          </a:solidFill>
          <a:ln/>
        </p:spPr>
      </p:sp>
      <p:sp>
        <p:nvSpPr>
          <p:cNvPr id="36" name="record"/>
          <p:cNvSpPr/>
          <p:nvPr/>
        </p:nvSpPr>
        <p:spPr>
          <a:xfrm>
            <a:off x="9985248" y="3547872"/>
            <a:ext cx="457200" cy="182880"/>
          </a:xfrm>
          <a:prstGeom prst="roundRect">
            <a:avLst>
              <a:gd name="adj" fmla="val 25000"/>
            </a:avLst>
          </a:prstGeom>
          <a:solidFill>
            <a:schemeClr val="accent2">
              <a:alpha val="89000"/>
            </a:schemeClr>
          </a:solidFill>
          <a:ln/>
        </p:spPr>
      </p:sp>
      <p:sp>
        <p:nvSpPr>
          <p:cNvPr id="37" name="record"/>
          <p:cNvSpPr/>
          <p:nvPr/>
        </p:nvSpPr>
        <p:spPr>
          <a:xfrm>
            <a:off x="10570464" y="3547872"/>
            <a:ext cx="457200" cy="182880"/>
          </a:xfrm>
          <a:prstGeom prst="roundRect">
            <a:avLst>
              <a:gd name="adj" fmla="val 25000"/>
            </a:avLst>
          </a:prstGeom>
          <a:solidFill>
            <a:schemeClr val="accent2">
              <a:alpha val="94000"/>
            </a:schemeClr>
          </a:solidFill>
          <a:ln/>
        </p:spPr>
      </p:sp>
      <p:sp>
        <p:nvSpPr>
          <p:cNvPr id="38" name="record"/>
          <p:cNvSpPr/>
          <p:nvPr/>
        </p:nvSpPr>
        <p:spPr>
          <a:xfrm>
            <a:off x="11155680" y="3547872"/>
            <a:ext cx="457200" cy="182880"/>
          </a:xfrm>
          <a:prstGeom prst="roundRect">
            <a:avLst>
              <a:gd name="adj" fmla="val 25000"/>
            </a:avLst>
          </a:prstGeom>
          <a:solidFill>
            <a:schemeClr val="accent2"/>
          </a:solidFill>
          <a:ln/>
        </p:spPr>
      </p:sp>
      <p:sp>
        <p:nvSpPr>
          <p:cNvPr id="39" name="record"/>
          <p:cNvSpPr/>
          <p:nvPr/>
        </p:nvSpPr>
        <p:spPr>
          <a:xfrm>
            <a:off x="2377440" y="3895344"/>
            <a:ext cx="457200" cy="182880"/>
          </a:xfrm>
          <a:prstGeom prst="roundRect">
            <a:avLst>
              <a:gd name="adj" fmla="val 25000"/>
            </a:avLst>
          </a:prstGeom>
          <a:solidFill>
            <a:schemeClr val="accent2">
              <a:alpha val="15000"/>
            </a:schemeClr>
          </a:solidFill>
          <a:ln/>
        </p:spPr>
      </p:sp>
      <p:sp>
        <p:nvSpPr>
          <p:cNvPr id="40" name="record"/>
          <p:cNvSpPr/>
          <p:nvPr/>
        </p:nvSpPr>
        <p:spPr>
          <a:xfrm>
            <a:off x="2962656" y="3895344"/>
            <a:ext cx="457200" cy="182880"/>
          </a:xfrm>
          <a:prstGeom prst="roundRect">
            <a:avLst>
              <a:gd name="adj" fmla="val 25000"/>
            </a:avLst>
          </a:prstGeom>
          <a:solidFill>
            <a:schemeClr val="accent2">
              <a:alpha val="21000"/>
            </a:schemeClr>
          </a:solidFill>
          <a:ln/>
        </p:spPr>
      </p:sp>
      <p:sp>
        <p:nvSpPr>
          <p:cNvPr id="41" name="record"/>
          <p:cNvSpPr/>
          <p:nvPr/>
        </p:nvSpPr>
        <p:spPr>
          <a:xfrm>
            <a:off x="3547872" y="3895344"/>
            <a:ext cx="457200" cy="182880"/>
          </a:xfrm>
          <a:prstGeom prst="roundRect">
            <a:avLst>
              <a:gd name="adj" fmla="val 25000"/>
            </a:avLst>
          </a:prstGeom>
          <a:solidFill>
            <a:schemeClr val="accent2">
              <a:alpha val="26000"/>
            </a:schemeClr>
          </a:solidFill>
          <a:ln/>
        </p:spPr>
      </p:sp>
      <p:sp>
        <p:nvSpPr>
          <p:cNvPr id="42" name="record"/>
          <p:cNvSpPr/>
          <p:nvPr/>
        </p:nvSpPr>
        <p:spPr>
          <a:xfrm>
            <a:off x="4133088" y="3895344"/>
            <a:ext cx="457200" cy="182880"/>
          </a:xfrm>
          <a:prstGeom prst="roundRect">
            <a:avLst>
              <a:gd name="adj" fmla="val 25000"/>
            </a:avLst>
          </a:prstGeom>
          <a:solidFill>
            <a:schemeClr val="accent2">
              <a:alpha val="32000"/>
            </a:schemeClr>
          </a:solidFill>
          <a:ln/>
        </p:spPr>
      </p:sp>
      <p:sp>
        <p:nvSpPr>
          <p:cNvPr id="43" name="record"/>
          <p:cNvSpPr/>
          <p:nvPr/>
        </p:nvSpPr>
        <p:spPr>
          <a:xfrm>
            <a:off x="4718304" y="3895344"/>
            <a:ext cx="457200" cy="182880"/>
          </a:xfrm>
          <a:prstGeom prst="roundRect">
            <a:avLst>
              <a:gd name="adj" fmla="val 25000"/>
            </a:avLst>
          </a:prstGeom>
          <a:solidFill>
            <a:schemeClr val="accent2">
              <a:alpha val="38000"/>
            </a:schemeClr>
          </a:solidFill>
          <a:ln/>
        </p:spPr>
      </p:sp>
      <p:sp>
        <p:nvSpPr>
          <p:cNvPr id="44" name="record"/>
          <p:cNvSpPr/>
          <p:nvPr/>
        </p:nvSpPr>
        <p:spPr>
          <a:xfrm>
            <a:off x="5303520" y="3895344"/>
            <a:ext cx="457200" cy="182880"/>
          </a:xfrm>
          <a:prstGeom prst="roundRect">
            <a:avLst>
              <a:gd name="adj" fmla="val 25000"/>
            </a:avLst>
          </a:prstGeom>
          <a:solidFill>
            <a:schemeClr val="accent2">
              <a:alpha val="43000"/>
            </a:schemeClr>
          </a:solidFill>
          <a:ln/>
        </p:spPr>
      </p:sp>
      <p:sp>
        <p:nvSpPr>
          <p:cNvPr id="45" name="record"/>
          <p:cNvSpPr/>
          <p:nvPr/>
        </p:nvSpPr>
        <p:spPr>
          <a:xfrm>
            <a:off x="5888736" y="3895344"/>
            <a:ext cx="457200" cy="182880"/>
          </a:xfrm>
          <a:prstGeom prst="roundRect">
            <a:avLst>
              <a:gd name="adj" fmla="val 25000"/>
            </a:avLst>
          </a:prstGeom>
          <a:solidFill>
            <a:schemeClr val="accent2">
              <a:alpha val="49000"/>
            </a:schemeClr>
          </a:solidFill>
          <a:ln/>
        </p:spPr>
      </p:sp>
      <p:sp>
        <p:nvSpPr>
          <p:cNvPr id="46" name="record"/>
          <p:cNvSpPr/>
          <p:nvPr/>
        </p:nvSpPr>
        <p:spPr>
          <a:xfrm>
            <a:off x="6473952" y="3895344"/>
            <a:ext cx="457200" cy="182880"/>
          </a:xfrm>
          <a:prstGeom prst="roundRect">
            <a:avLst>
              <a:gd name="adj" fmla="val 25000"/>
            </a:avLst>
          </a:prstGeom>
          <a:solidFill>
            <a:schemeClr val="accent2">
              <a:alpha val="55000"/>
            </a:schemeClr>
          </a:solidFill>
          <a:ln/>
        </p:spPr>
      </p:sp>
      <p:sp>
        <p:nvSpPr>
          <p:cNvPr id="47" name="record"/>
          <p:cNvSpPr/>
          <p:nvPr/>
        </p:nvSpPr>
        <p:spPr>
          <a:xfrm>
            <a:off x="7059168" y="3895344"/>
            <a:ext cx="457200" cy="182880"/>
          </a:xfrm>
          <a:prstGeom prst="roundRect">
            <a:avLst>
              <a:gd name="adj" fmla="val 25000"/>
            </a:avLst>
          </a:prstGeom>
          <a:solidFill>
            <a:schemeClr val="accent2">
              <a:alpha val="60000"/>
            </a:schemeClr>
          </a:solidFill>
          <a:ln/>
        </p:spPr>
      </p:sp>
      <p:sp>
        <p:nvSpPr>
          <p:cNvPr id="48" name="record"/>
          <p:cNvSpPr/>
          <p:nvPr/>
        </p:nvSpPr>
        <p:spPr>
          <a:xfrm>
            <a:off x="7644384" y="3895344"/>
            <a:ext cx="457200" cy="182880"/>
          </a:xfrm>
          <a:prstGeom prst="roundRect">
            <a:avLst>
              <a:gd name="adj" fmla="val 25000"/>
            </a:avLst>
          </a:prstGeom>
          <a:solidFill>
            <a:schemeClr val="accent2">
              <a:alpha val="66000"/>
            </a:schemeClr>
          </a:solidFill>
          <a:ln/>
        </p:spPr>
      </p:sp>
      <p:sp>
        <p:nvSpPr>
          <p:cNvPr id="49" name="record"/>
          <p:cNvSpPr/>
          <p:nvPr/>
        </p:nvSpPr>
        <p:spPr>
          <a:xfrm>
            <a:off x="8229600" y="3895344"/>
            <a:ext cx="457200" cy="182880"/>
          </a:xfrm>
          <a:prstGeom prst="roundRect">
            <a:avLst>
              <a:gd name="adj" fmla="val 25000"/>
            </a:avLst>
          </a:prstGeom>
          <a:solidFill>
            <a:schemeClr val="accent2">
              <a:alpha val="72000"/>
            </a:schemeClr>
          </a:solidFill>
          <a:ln/>
        </p:spPr>
      </p:sp>
      <p:sp>
        <p:nvSpPr>
          <p:cNvPr id="50" name="record"/>
          <p:cNvSpPr/>
          <p:nvPr/>
        </p:nvSpPr>
        <p:spPr>
          <a:xfrm>
            <a:off x="8814816" y="3895344"/>
            <a:ext cx="457200" cy="182880"/>
          </a:xfrm>
          <a:prstGeom prst="roundRect">
            <a:avLst>
              <a:gd name="adj" fmla="val 25000"/>
            </a:avLst>
          </a:prstGeom>
          <a:solidFill>
            <a:schemeClr val="accent2">
              <a:alpha val="77000"/>
            </a:schemeClr>
          </a:solidFill>
          <a:ln/>
        </p:spPr>
      </p:sp>
      <p:sp>
        <p:nvSpPr>
          <p:cNvPr id="51" name="record"/>
          <p:cNvSpPr/>
          <p:nvPr/>
        </p:nvSpPr>
        <p:spPr>
          <a:xfrm>
            <a:off x="9400032" y="3895344"/>
            <a:ext cx="457200" cy="182880"/>
          </a:xfrm>
          <a:prstGeom prst="roundRect">
            <a:avLst>
              <a:gd name="adj" fmla="val 25000"/>
            </a:avLst>
          </a:prstGeom>
          <a:solidFill>
            <a:schemeClr val="accent2">
              <a:alpha val="83000"/>
            </a:schemeClr>
          </a:solidFill>
          <a:ln/>
        </p:spPr>
      </p:sp>
      <p:sp>
        <p:nvSpPr>
          <p:cNvPr id="52" name="record"/>
          <p:cNvSpPr/>
          <p:nvPr/>
        </p:nvSpPr>
        <p:spPr>
          <a:xfrm>
            <a:off x="9985248" y="3895344"/>
            <a:ext cx="457200" cy="182880"/>
          </a:xfrm>
          <a:prstGeom prst="roundRect">
            <a:avLst>
              <a:gd name="adj" fmla="val 25000"/>
            </a:avLst>
          </a:prstGeom>
          <a:solidFill>
            <a:schemeClr val="accent2">
              <a:alpha val="89000"/>
            </a:schemeClr>
          </a:solidFill>
          <a:ln/>
        </p:spPr>
      </p:sp>
      <p:sp>
        <p:nvSpPr>
          <p:cNvPr id="53" name="record"/>
          <p:cNvSpPr/>
          <p:nvPr/>
        </p:nvSpPr>
        <p:spPr>
          <a:xfrm>
            <a:off x="10570464" y="3895344"/>
            <a:ext cx="457200" cy="182880"/>
          </a:xfrm>
          <a:prstGeom prst="roundRect">
            <a:avLst>
              <a:gd name="adj" fmla="val 25000"/>
            </a:avLst>
          </a:prstGeom>
          <a:solidFill>
            <a:schemeClr val="accent2">
              <a:alpha val="94000"/>
            </a:schemeClr>
          </a:solidFill>
          <a:ln/>
        </p:spPr>
      </p:sp>
      <p:sp>
        <p:nvSpPr>
          <p:cNvPr id="54" name="record"/>
          <p:cNvSpPr/>
          <p:nvPr/>
        </p:nvSpPr>
        <p:spPr>
          <a:xfrm>
            <a:off x="11155680" y="3895344"/>
            <a:ext cx="457200" cy="182880"/>
          </a:xfrm>
          <a:prstGeom prst="roundRect">
            <a:avLst>
              <a:gd name="adj" fmla="val 25000"/>
            </a:avLst>
          </a:prstGeom>
          <a:solidFill>
            <a:schemeClr val="accent2"/>
          </a:solidFill>
          <a:ln/>
        </p:spPr>
      </p:sp>
      <p:sp>
        <p:nvSpPr>
          <p:cNvPr id="55" name="tagline"/>
          <p:cNvSpPr txBox="1"/>
          <p:nvPr/>
        </p:nvSpPr>
        <p:spPr>
          <a:xfrm>
            <a:off x="822960" y="4937760"/>
            <a:ext cx="10515600" cy="457200"/>
          </a:xfrm>
          <a:prstGeom prst="rect">
            <a:avLst/>
          </a:prstGeom>
          <a:noFill/>
          <a:ln/>
        </p:spPr>
        <p:txBody>
          <a:bodyPr wrap="square" lIns="0" tIns="0" rIns="0" bIns="0" rtlCol="0" anchor="t"/>
          <a:lstStyle/>
          <a:p>
            <a:pPr algn="l" indent="0" marL="0">
              <a:buNone/>
            </a:pPr>
            <a:r>
              <a:rPr lang="en-US" sz="1800" dirty="0">
                <a:solidFill>
                  <a:schemeClr val="tx2"/>
                </a:solidFill>
              </a:rPr>
              <a:t>Overview of results, lessons learned and next steps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1"/>
                </a:solidFill>
              </a:rPr>
              <a:t>The problem: AI browsing is slow and costly</a:t>
            </a:r>
            <a:endParaRPr lang="en-US" sz="3200" dirty="0"/>
          </a:p>
        </p:txBody>
      </p:sp>
      <p:sp>
        <p:nvSpPr>
          <p:cNvPr id="4" name="card"/>
          <p:cNvSpPr/>
          <p:nvPr/>
        </p:nvSpPr>
        <p:spPr>
          <a:xfrm>
            <a:off x="548640" y="1508760"/>
            <a:ext cx="3520440" cy="2148840"/>
          </a:xfrm>
          <a:prstGeom prst="roundRect">
            <a:avLst>
              <a:gd name="adj" fmla="val 5106"/>
            </a:avLst>
          </a:prstGeom>
          <a:solidFill>
            <a:schemeClr val="bg1"/>
          </a:solidFill>
          <a:ln/>
          <a:effectLst>
            <a:outerShdw sx="100000" sy="100000" kx="0" ky="0" algn="bl" rotWithShape="0" blurRad="88900" dist="25400" dir="5400000">
              <a:srgbClr val="000000">
                <a:alpha val="13000"/>
              </a:srgbClr>
            </a:outerShdw>
          </a:effectLst>
        </p:spPr>
      </p:sp>
      <p:sp>
        <p:nvSpPr>
          <p:cNvPr id="5" name="text"/>
          <p:cNvSpPr txBox="1"/>
          <p:nvPr/>
        </p:nvSpPr>
        <p:spPr>
          <a:xfrm>
            <a:off x="822960" y="1645920"/>
            <a:ext cx="2971800" cy="914400"/>
          </a:xfrm>
          <a:prstGeom prst="rect">
            <a:avLst/>
          </a:prstGeom>
          <a:noFill/>
          <a:ln/>
        </p:spPr>
        <p:txBody>
          <a:bodyPr wrap="square" lIns="0" tIns="0" rIns="0" bIns="0" rtlCol="0" anchor="ctr"/>
          <a:lstStyle/>
          <a:p>
            <a:pPr algn="l" indent="0" marL="0">
              <a:buNone/>
            </a:pPr>
            <a:r>
              <a:rPr lang="en-US" sz="5400" b="1" dirty="0">
                <a:solidFill>
                  <a:schemeClr val="accent1"/>
                </a:solidFill>
              </a:rPr>
              <a:t>≈15</a:t>
            </a:r>
            <a:endParaRPr lang="en-US" sz="5400" dirty="0"/>
          </a:p>
        </p:txBody>
      </p:sp>
      <p:sp>
        <p:nvSpPr>
          <p:cNvPr id="6" name="text"/>
          <p:cNvSpPr txBox="1"/>
          <p:nvPr/>
        </p:nvSpPr>
        <p:spPr>
          <a:xfrm>
            <a:off x="822960" y="2606040"/>
            <a:ext cx="2971800" cy="868680"/>
          </a:xfrm>
          <a:prstGeom prst="rect">
            <a:avLst/>
          </a:prstGeom>
          <a:noFill/>
          <a:ln/>
        </p:spPr>
        <p:txBody>
          <a:bodyPr wrap="square" lIns="0" tIns="0" rIns="0" bIns="0" rtlCol="0" anchor="t"/>
          <a:lstStyle/>
          <a:p>
            <a:pPr algn="l" indent="0" marL="0">
              <a:buNone/>
            </a:pPr>
            <a:r>
              <a:rPr lang="en-US" sz="1600" dirty="0">
                <a:solidFill>
                  <a:schemeClr val="tx2"/>
                </a:solidFill>
              </a:rPr>
              <a:t>AI calls to process one record, about a minute each</a:t>
            </a:r>
            <a:endParaRPr lang="en-US" sz="1600" dirty="0"/>
          </a:p>
        </p:txBody>
      </p:sp>
      <p:sp>
        <p:nvSpPr>
          <p:cNvPr id="7" name="card"/>
          <p:cNvSpPr/>
          <p:nvPr/>
        </p:nvSpPr>
        <p:spPr>
          <a:xfrm>
            <a:off x="4334256" y="1508760"/>
            <a:ext cx="3520440" cy="2148840"/>
          </a:xfrm>
          <a:prstGeom prst="roundRect">
            <a:avLst>
              <a:gd name="adj" fmla="val 5106"/>
            </a:avLst>
          </a:prstGeom>
          <a:solidFill>
            <a:schemeClr val="bg1"/>
          </a:solidFill>
          <a:ln/>
          <a:effectLst>
            <a:outerShdw sx="100000" sy="100000" kx="0" ky="0" algn="bl" rotWithShape="0" blurRad="88900" dist="25400" dir="5400000">
              <a:srgbClr val="000000">
                <a:alpha val="13000"/>
              </a:srgbClr>
            </a:outerShdw>
          </a:effectLst>
        </p:spPr>
      </p:sp>
      <p:sp>
        <p:nvSpPr>
          <p:cNvPr id="8" name="text"/>
          <p:cNvSpPr txBox="1"/>
          <p:nvPr/>
        </p:nvSpPr>
        <p:spPr>
          <a:xfrm>
            <a:off x="4608576" y="1645920"/>
            <a:ext cx="2971800" cy="914400"/>
          </a:xfrm>
          <a:prstGeom prst="rect">
            <a:avLst/>
          </a:prstGeom>
          <a:noFill/>
          <a:ln/>
        </p:spPr>
        <p:txBody>
          <a:bodyPr wrap="square" lIns="0" tIns="0" rIns="0" bIns="0" rtlCol="0" anchor="ctr"/>
          <a:lstStyle/>
          <a:p>
            <a:pPr algn="l" indent="0" marL="0">
              <a:buNone/>
            </a:pPr>
            <a:r>
              <a:rPr lang="en-US" sz="5400" b="1" dirty="0">
                <a:solidFill>
                  <a:schemeClr val="accent2"/>
                </a:solidFill>
              </a:rPr>
              <a:t>≈1,500</a:t>
            </a:r>
            <a:endParaRPr lang="en-US" sz="5400" dirty="0"/>
          </a:p>
        </p:txBody>
      </p:sp>
      <p:sp>
        <p:nvSpPr>
          <p:cNvPr id="9" name="text"/>
          <p:cNvSpPr txBox="1"/>
          <p:nvPr/>
        </p:nvSpPr>
        <p:spPr>
          <a:xfrm>
            <a:off x="4608576" y="2606040"/>
            <a:ext cx="2971800" cy="868680"/>
          </a:xfrm>
          <a:prstGeom prst="rect">
            <a:avLst/>
          </a:prstGeom>
          <a:noFill/>
          <a:ln/>
        </p:spPr>
        <p:txBody>
          <a:bodyPr wrap="square" lIns="0" tIns="0" rIns="0" bIns="0" rtlCol="0" anchor="t"/>
          <a:lstStyle/>
          <a:p>
            <a:pPr algn="l" indent="0" marL="0">
              <a:buNone/>
            </a:pPr>
            <a:r>
              <a:rPr lang="en-US" sz="1600" dirty="0">
                <a:solidFill>
                  <a:schemeClr val="tx2"/>
                </a:solidFill>
              </a:rPr>
              <a:t>AI calls for a batch of 100 records, over an hour</a:t>
            </a:r>
            <a:endParaRPr lang="en-US" sz="1600" dirty="0"/>
          </a:p>
        </p:txBody>
      </p:sp>
      <p:sp>
        <p:nvSpPr>
          <p:cNvPr id="10" name="card"/>
          <p:cNvSpPr/>
          <p:nvPr/>
        </p:nvSpPr>
        <p:spPr>
          <a:xfrm>
            <a:off x="8119872" y="1508760"/>
            <a:ext cx="3520440" cy="2148840"/>
          </a:xfrm>
          <a:prstGeom prst="roundRect">
            <a:avLst>
              <a:gd name="adj" fmla="val 5106"/>
            </a:avLst>
          </a:prstGeom>
          <a:solidFill>
            <a:schemeClr val="bg1"/>
          </a:solidFill>
          <a:ln/>
          <a:effectLst>
            <a:outerShdw sx="100000" sy="100000" kx="0" ky="0" algn="bl" rotWithShape="0" blurRad="88900" dist="25400" dir="5400000">
              <a:srgbClr val="000000">
                <a:alpha val="13000"/>
              </a:srgbClr>
            </a:outerShdw>
          </a:effectLst>
        </p:spPr>
      </p:sp>
      <p:sp>
        <p:nvSpPr>
          <p:cNvPr id="11" name="text"/>
          <p:cNvSpPr txBox="1"/>
          <p:nvPr/>
        </p:nvSpPr>
        <p:spPr>
          <a:xfrm>
            <a:off x="8394192" y="1645920"/>
            <a:ext cx="2971800" cy="914400"/>
          </a:xfrm>
          <a:prstGeom prst="rect">
            <a:avLst/>
          </a:prstGeom>
          <a:noFill/>
          <a:ln/>
        </p:spPr>
        <p:txBody>
          <a:bodyPr wrap="square" lIns="0" tIns="0" rIns="0" bIns="0" rtlCol="0" anchor="ctr"/>
          <a:lstStyle/>
          <a:p>
            <a:pPr algn="l" indent="0" marL="0">
              <a:buNone/>
            </a:pPr>
            <a:r>
              <a:rPr lang="en-US" sz="5400" b="1" dirty="0">
                <a:solidFill>
                  <a:schemeClr val="accent3"/>
                </a:solidFill>
              </a:rPr>
              <a:t>≈500</a:t>
            </a:r>
            <a:endParaRPr lang="en-US" sz="5400" dirty="0"/>
          </a:p>
        </p:txBody>
      </p:sp>
      <p:sp>
        <p:nvSpPr>
          <p:cNvPr id="12" name="text"/>
          <p:cNvSpPr txBox="1"/>
          <p:nvPr/>
        </p:nvSpPr>
        <p:spPr>
          <a:xfrm>
            <a:off x="8394192" y="2606040"/>
            <a:ext cx="2971800" cy="868680"/>
          </a:xfrm>
          <a:prstGeom prst="rect">
            <a:avLst/>
          </a:prstGeom>
          <a:noFill/>
          <a:ln/>
        </p:spPr>
        <p:txBody>
          <a:bodyPr wrap="square" lIns="0" tIns="0" rIns="0" bIns="0" rtlCol="0" anchor="t"/>
          <a:lstStyle/>
          <a:p>
            <a:pPr algn="l" indent="0" marL="0">
              <a:buNone/>
            </a:pPr>
            <a:r>
              <a:rPr lang="en-US" sz="1600" dirty="0">
                <a:solidFill>
                  <a:schemeClr val="tx2"/>
                </a:solidFill>
              </a:rPr>
              <a:t>calls per day on the free tier, per model (15 per minute)</a:t>
            </a:r>
            <a:endParaRPr lang="en-US" sz="1600" dirty="0"/>
          </a:p>
        </p:txBody>
      </p:sp>
      <p:sp>
        <p:nvSpPr>
          <p:cNvPr id="13" name="card"/>
          <p:cNvSpPr/>
          <p:nvPr/>
        </p:nvSpPr>
        <p:spPr>
          <a:xfrm>
            <a:off x="548640" y="3931920"/>
            <a:ext cx="11094415" cy="2194560"/>
          </a:xfrm>
          <a:prstGeom prst="roundRect">
            <a:avLst>
              <a:gd name="adj" fmla="val 5000"/>
            </a:avLst>
          </a:prstGeom>
          <a:solidFill>
            <a:schemeClr val="bg1"/>
          </a:solidFill>
          <a:ln/>
          <a:effectLst>
            <a:outerShdw sx="100000" sy="100000" kx="0" ky="0" algn="bl" rotWithShape="0" blurRad="88900" dist="25400" dir="5400000">
              <a:srgbClr val="000000">
                <a:alpha val="13000"/>
              </a:srgbClr>
            </a:outerShdw>
          </a:effectLst>
        </p:spPr>
      </p:sp>
      <p:sp>
        <p:nvSpPr>
          <p:cNvPr id="14" name="circle"/>
          <p:cNvSpPr/>
          <p:nvPr/>
        </p:nvSpPr>
        <p:spPr>
          <a:xfrm>
            <a:off x="914400" y="4434840"/>
            <a:ext cx="1005840" cy="1005840"/>
          </a:xfrm>
          <a:prstGeom prst="ellipse">
            <a:avLst/>
          </a:prstGeom>
          <a:solidFill>
            <a:schemeClr val="accent2"/>
          </a:solidFill>
          <a:ln/>
        </p:spPr>
      </p:sp>
      <p:pic>
        <p:nvPicPr>
          <p:cNvPr id="15" name="icon FaRedo" descr="Redo icon">    </p:cNvPr>
          <p:cNvPicPr>
            <a:picLocks noChangeAspect="1"/>
          </p:cNvPicPr>
          <p:nvPr/>
        </p:nvPicPr>
        <p:blipFill>
          <a:blip r:embed="rId1"/>
          <a:stretch>
            <a:fillRect/>
          </a:stretch>
        </p:blipFill>
        <p:spPr>
          <a:xfrm>
            <a:off x="1135685" y="4656125"/>
            <a:ext cx="563270" cy="563270"/>
          </a:xfrm>
          <a:prstGeom prst="rect">
            <a:avLst/>
          </a:prstGeom>
        </p:spPr>
      </p:pic>
      <p:sp>
        <p:nvSpPr>
          <p:cNvPr id="16" name="text"/>
          <p:cNvSpPr txBox="1"/>
          <p:nvPr/>
        </p:nvSpPr>
        <p:spPr>
          <a:xfrm>
            <a:off x="2286000" y="4206240"/>
            <a:ext cx="8961120" cy="457200"/>
          </a:xfrm>
          <a:prstGeom prst="rect">
            <a:avLst/>
          </a:prstGeom>
          <a:noFill/>
          <a:ln/>
        </p:spPr>
        <p:txBody>
          <a:bodyPr wrap="square" lIns="0" tIns="0" rIns="0" bIns="0" rtlCol="0" anchor="t"/>
          <a:lstStyle/>
          <a:p>
            <a:pPr algn="l" indent="0" marL="0">
              <a:buNone/>
            </a:pPr>
            <a:r>
              <a:rPr lang="en-US" sz="2200" b="1" dirty="0">
                <a:solidFill>
                  <a:schemeClr val="tx1"/>
                </a:solidFill>
              </a:rPr>
              <a:t>The 100 records are the same job, repeated</a:t>
            </a:r>
            <a:endParaRPr lang="en-US" sz="2200" dirty="0"/>
          </a:p>
        </p:txBody>
      </p:sp>
      <p:sp>
        <p:nvSpPr>
          <p:cNvPr id="17" name="text"/>
          <p:cNvSpPr txBox="1"/>
          <p:nvPr/>
        </p:nvSpPr>
        <p:spPr>
          <a:xfrm>
            <a:off x="2286000" y="4754880"/>
            <a:ext cx="8961120" cy="1097280"/>
          </a:xfrm>
          <a:prstGeom prst="rect">
            <a:avLst/>
          </a:prstGeom>
          <a:noFill/>
          <a:ln/>
        </p:spPr>
        <p:txBody>
          <a:bodyPr wrap="square" lIns="0" tIns="0" rIns="0" bIns="0" rtlCol="0" anchor="t"/>
          <a:lstStyle/>
          <a:p>
            <a:pPr algn="l" indent="0" marL="0">
              <a:buNone/>
            </a:pPr>
            <a:r>
              <a:rPr lang="en-US" sz="1800" dirty="0">
                <a:solidFill>
                  <a:schemeClr val="tx2"/>
                </a:solidFill>
              </a:rPr>
              <a:t>A person learns the route once and gets fast. The goal: let the AI do the first record the slow, smart way, then do the rest cheaply, without getting any of them wrong.</a:t>
            </a:r>
            <a:endParaRPr lang="en-US" sz="18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1"/>
                </a:solidFill>
              </a:rPr>
              <a:t>The core idea: teach once, prove it, reuse</a:t>
            </a:r>
            <a:endParaRPr lang="en-US" sz="3200" dirty="0"/>
          </a:p>
        </p:txBody>
      </p:sp>
      <p:sp>
        <p:nvSpPr>
          <p:cNvPr id="4" name="card"/>
          <p:cNvSpPr/>
          <p:nvPr/>
        </p:nvSpPr>
        <p:spPr>
          <a:xfrm>
            <a:off x="548640" y="1508760"/>
            <a:ext cx="1920240" cy="3017520"/>
          </a:xfrm>
          <a:prstGeom prst="roundRect">
            <a:avLst>
              <a:gd name="adj" fmla="val 5714"/>
            </a:avLst>
          </a:prstGeom>
          <a:solidFill>
            <a:schemeClr val="bg1"/>
          </a:solidFill>
          <a:ln/>
          <a:effectLst>
            <a:outerShdw sx="100000" sy="100000" kx="0" ky="0" algn="bl" rotWithShape="0" blurRad="88900" dist="25400" dir="5400000">
              <a:srgbClr val="000000">
                <a:alpha val="13000"/>
              </a:srgbClr>
            </a:outerShdw>
          </a:effectLst>
        </p:spPr>
      </p:sp>
      <p:sp>
        <p:nvSpPr>
          <p:cNvPr id="5" name="circle"/>
          <p:cNvSpPr/>
          <p:nvPr/>
        </p:nvSpPr>
        <p:spPr>
          <a:xfrm>
            <a:off x="1143000" y="1737360"/>
            <a:ext cx="731520" cy="731520"/>
          </a:xfrm>
          <a:prstGeom prst="ellipse">
            <a:avLst/>
          </a:prstGeom>
          <a:solidFill>
            <a:schemeClr val="accent1"/>
          </a:solidFill>
          <a:ln/>
        </p:spPr>
      </p:sp>
      <p:pic>
        <p:nvPicPr>
          <p:cNvPr id="6" name="icon FaRobot" descr="Robot icon">    </p:cNvPr>
          <p:cNvPicPr>
            <a:picLocks noChangeAspect="1"/>
          </p:cNvPicPr>
          <p:nvPr/>
        </p:nvPicPr>
        <p:blipFill>
          <a:blip r:embed="rId1"/>
          <a:stretch>
            <a:fillRect/>
          </a:stretch>
        </p:blipFill>
        <p:spPr>
          <a:xfrm>
            <a:off x="1303934" y="1898294"/>
            <a:ext cx="409651" cy="409651"/>
          </a:xfrm>
          <a:prstGeom prst="rect">
            <a:avLst/>
          </a:prstGeom>
        </p:spPr>
      </p:pic>
      <p:sp>
        <p:nvSpPr>
          <p:cNvPr id="7" name="text"/>
          <p:cNvSpPr txBox="1"/>
          <p:nvPr/>
        </p:nvSpPr>
        <p:spPr>
          <a:xfrm>
            <a:off x="685800" y="2651760"/>
            <a:ext cx="1645920" cy="594360"/>
          </a:xfrm>
          <a:prstGeom prst="rect">
            <a:avLst/>
          </a:prstGeom>
          <a:noFill/>
          <a:ln/>
        </p:spPr>
        <p:txBody>
          <a:bodyPr wrap="square" lIns="0" tIns="0" rIns="0" bIns="0" rtlCol="0" anchor="t"/>
          <a:lstStyle/>
          <a:p>
            <a:pPr algn="ctr" indent="0" marL="0">
              <a:buNone/>
            </a:pPr>
            <a:r>
              <a:rPr lang="en-US" sz="1600" b="1" dirty="0">
                <a:solidFill>
                  <a:schemeClr val="tx1"/>
                </a:solidFill>
              </a:rPr>
              <a:t>Live agent teaches</a:t>
            </a:r>
            <a:endParaRPr lang="en-US" sz="1600" dirty="0"/>
          </a:p>
        </p:txBody>
      </p:sp>
      <p:sp>
        <p:nvSpPr>
          <p:cNvPr id="8" name="text"/>
          <p:cNvSpPr txBox="1"/>
          <p:nvPr/>
        </p:nvSpPr>
        <p:spPr>
          <a:xfrm>
            <a:off x="685800" y="3291840"/>
            <a:ext cx="1645920" cy="1143000"/>
          </a:xfrm>
          <a:prstGeom prst="rect">
            <a:avLst/>
          </a:prstGeom>
          <a:noFill/>
          <a:ln/>
        </p:spPr>
        <p:txBody>
          <a:bodyPr wrap="square" lIns="0" tIns="0" rIns="0" bIns="0" rtlCol="0" anchor="t"/>
          <a:lstStyle/>
          <a:p>
            <a:pPr algn="ctr" indent="0" marL="0">
              <a:buNone/>
            </a:pPr>
            <a:r>
              <a:rPr lang="en-US" sz="1400" dirty="0">
                <a:solidFill>
                  <a:schemeClr val="tx2"/>
                </a:solidFill>
              </a:rPr>
              <a:t>An AI does record 1 the slow way, about 15 calls</a:t>
            </a:r>
            <a:endParaRPr lang="en-US" sz="1400" dirty="0"/>
          </a:p>
        </p:txBody>
      </p:sp>
      <p:sp>
        <p:nvSpPr>
          <p:cNvPr id="9" name="arrow"/>
          <p:cNvSpPr/>
          <p:nvPr/>
        </p:nvSpPr>
        <p:spPr>
          <a:xfrm>
            <a:off x="2505456" y="2834640"/>
            <a:ext cx="292608" cy="274320"/>
          </a:xfrm>
          <a:prstGeom prst="rightArrow">
            <a:avLst/>
          </a:prstGeom>
          <a:solidFill>
            <a:schemeClr val="accent5"/>
          </a:solidFill>
          <a:ln/>
        </p:spPr>
      </p:sp>
      <p:sp>
        <p:nvSpPr>
          <p:cNvPr id="10" name="card"/>
          <p:cNvSpPr/>
          <p:nvPr/>
        </p:nvSpPr>
        <p:spPr>
          <a:xfrm>
            <a:off x="2834640" y="1508760"/>
            <a:ext cx="1920240" cy="3017520"/>
          </a:xfrm>
          <a:prstGeom prst="roundRect">
            <a:avLst>
              <a:gd name="adj" fmla="val 5714"/>
            </a:avLst>
          </a:prstGeom>
          <a:solidFill>
            <a:schemeClr val="bg1"/>
          </a:solidFill>
          <a:ln/>
          <a:effectLst>
            <a:outerShdw sx="100000" sy="100000" kx="0" ky="0" algn="bl" rotWithShape="0" blurRad="88900" dist="25400" dir="5400000">
              <a:srgbClr val="000000">
                <a:alpha val="13000"/>
              </a:srgbClr>
            </a:outerShdw>
          </a:effectLst>
        </p:spPr>
      </p:sp>
      <p:sp>
        <p:nvSpPr>
          <p:cNvPr id="11" name="circle"/>
          <p:cNvSpPr/>
          <p:nvPr/>
        </p:nvSpPr>
        <p:spPr>
          <a:xfrm>
            <a:off x="3429000" y="1737360"/>
            <a:ext cx="731520" cy="731520"/>
          </a:xfrm>
          <a:prstGeom prst="ellipse">
            <a:avLst/>
          </a:prstGeom>
          <a:solidFill>
            <a:schemeClr val="accent2"/>
          </a:solidFill>
          <a:ln/>
        </p:spPr>
      </p:sp>
      <p:pic>
        <p:nvPicPr>
          <p:cNvPr id="12" name="icon FaClipboardList" descr="ClipboardList icon">    </p:cNvPr>
          <p:cNvPicPr>
            <a:picLocks noChangeAspect="1"/>
          </p:cNvPicPr>
          <p:nvPr/>
        </p:nvPicPr>
        <p:blipFill>
          <a:blip r:embed="rId2"/>
          <a:stretch>
            <a:fillRect/>
          </a:stretch>
        </p:blipFill>
        <p:spPr>
          <a:xfrm>
            <a:off x="3589934" y="1898294"/>
            <a:ext cx="409651" cy="409651"/>
          </a:xfrm>
          <a:prstGeom prst="rect">
            <a:avLst/>
          </a:prstGeom>
        </p:spPr>
      </p:pic>
      <p:sp>
        <p:nvSpPr>
          <p:cNvPr id="13" name="text"/>
          <p:cNvSpPr txBox="1"/>
          <p:nvPr/>
        </p:nvSpPr>
        <p:spPr>
          <a:xfrm>
            <a:off x="2971800" y="2651760"/>
            <a:ext cx="1645920" cy="594360"/>
          </a:xfrm>
          <a:prstGeom prst="rect">
            <a:avLst/>
          </a:prstGeom>
          <a:noFill/>
          <a:ln/>
        </p:spPr>
        <p:txBody>
          <a:bodyPr wrap="square" lIns="0" tIns="0" rIns="0" bIns="0" rtlCol="0" anchor="t"/>
          <a:lstStyle/>
          <a:p>
            <a:pPr algn="ctr" indent="0" marL="0">
              <a:buNone/>
            </a:pPr>
            <a:r>
              <a:rPr lang="en-US" sz="1600" b="1" dirty="0">
                <a:solidFill>
                  <a:schemeClr val="tx1"/>
                </a:solidFill>
              </a:rPr>
              <a:t>Trace recorded</a:t>
            </a:r>
            <a:endParaRPr lang="en-US" sz="1600" dirty="0"/>
          </a:p>
        </p:txBody>
      </p:sp>
      <p:sp>
        <p:nvSpPr>
          <p:cNvPr id="14" name="text"/>
          <p:cNvSpPr txBox="1"/>
          <p:nvPr/>
        </p:nvSpPr>
        <p:spPr>
          <a:xfrm>
            <a:off x="2971800" y="3291840"/>
            <a:ext cx="1645920" cy="1143000"/>
          </a:xfrm>
          <a:prstGeom prst="rect">
            <a:avLst/>
          </a:prstGeom>
          <a:noFill/>
          <a:ln/>
        </p:spPr>
        <p:txBody>
          <a:bodyPr wrap="square" lIns="0" tIns="0" rIns="0" bIns="0" rtlCol="0" anchor="t"/>
          <a:lstStyle/>
          <a:p>
            <a:pPr algn="ctr" indent="0" marL="0">
              <a:buNone/>
            </a:pPr>
            <a:r>
              <a:rPr lang="en-US" sz="1400" dirty="0">
                <a:solidFill>
                  <a:schemeClr val="tx2"/>
                </a:solidFill>
              </a:rPr>
              <a:t>Every click, typed value and page it saw</a:t>
            </a:r>
            <a:endParaRPr lang="en-US" sz="1400" dirty="0"/>
          </a:p>
        </p:txBody>
      </p:sp>
      <p:sp>
        <p:nvSpPr>
          <p:cNvPr id="15" name="arrow"/>
          <p:cNvSpPr/>
          <p:nvPr/>
        </p:nvSpPr>
        <p:spPr>
          <a:xfrm>
            <a:off x="4791456" y="2834640"/>
            <a:ext cx="292608" cy="274320"/>
          </a:xfrm>
          <a:prstGeom prst="rightArrow">
            <a:avLst/>
          </a:prstGeom>
          <a:solidFill>
            <a:schemeClr val="accent5"/>
          </a:solidFill>
          <a:ln/>
        </p:spPr>
      </p:sp>
      <p:sp>
        <p:nvSpPr>
          <p:cNvPr id="16" name="card"/>
          <p:cNvSpPr/>
          <p:nvPr/>
        </p:nvSpPr>
        <p:spPr>
          <a:xfrm>
            <a:off x="5120640" y="1508760"/>
            <a:ext cx="1920240" cy="3017520"/>
          </a:xfrm>
          <a:prstGeom prst="roundRect">
            <a:avLst>
              <a:gd name="adj" fmla="val 5714"/>
            </a:avLst>
          </a:prstGeom>
          <a:solidFill>
            <a:schemeClr val="bg1"/>
          </a:solidFill>
          <a:ln/>
          <a:effectLst>
            <a:outerShdw sx="100000" sy="100000" kx="0" ky="0" algn="bl" rotWithShape="0" blurRad="88900" dist="25400" dir="5400000">
              <a:srgbClr val="000000">
                <a:alpha val="13000"/>
              </a:srgbClr>
            </a:outerShdw>
          </a:effectLst>
        </p:spPr>
      </p:sp>
      <p:sp>
        <p:nvSpPr>
          <p:cNvPr id="17" name="circle"/>
          <p:cNvSpPr/>
          <p:nvPr/>
        </p:nvSpPr>
        <p:spPr>
          <a:xfrm>
            <a:off x="5715000" y="1737360"/>
            <a:ext cx="731520" cy="731520"/>
          </a:xfrm>
          <a:prstGeom prst="ellipse">
            <a:avLst/>
          </a:prstGeom>
          <a:solidFill>
            <a:schemeClr val="accent2"/>
          </a:solidFill>
          <a:ln/>
        </p:spPr>
      </p:sp>
      <p:pic>
        <p:nvPicPr>
          <p:cNvPr id="18" name="icon FaSitemap" descr="Sitemap icon">    </p:cNvPr>
          <p:cNvPicPr>
            <a:picLocks noChangeAspect="1"/>
          </p:cNvPicPr>
          <p:nvPr/>
        </p:nvPicPr>
        <p:blipFill>
          <a:blip r:embed="rId3"/>
          <a:stretch>
            <a:fillRect/>
          </a:stretch>
        </p:blipFill>
        <p:spPr>
          <a:xfrm>
            <a:off x="5875934" y="1898294"/>
            <a:ext cx="409651" cy="409651"/>
          </a:xfrm>
          <a:prstGeom prst="rect">
            <a:avLst/>
          </a:prstGeom>
        </p:spPr>
      </p:pic>
      <p:sp>
        <p:nvSpPr>
          <p:cNvPr id="19" name="text"/>
          <p:cNvSpPr txBox="1"/>
          <p:nvPr/>
        </p:nvSpPr>
        <p:spPr>
          <a:xfrm>
            <a:off x="5257800" y="2651760"/>
            <a:ext cx="1645920" cy="594360"/>
          </a:xfrm>
          <a:prstGeom prst="rect">
            <a:avLst/>
          </a:prstGeom>
          <a:noFill/>
          <a:ln/>
        </p:spPr>
        <p:txBody>
          <a:bodyPr wrap="square" lIns="0" tIns="0" rIns="0" bIns="0" rtlCol="0" anchor="t"/>
          <a:lstStyle/>
          <a:p>
            <a:pPr algn="ctr" indent="0" marL="0">
              <a:buNone/>
            </a:pPr>
            <a:r>
              <a:rPr lang="en-US" sz="1600" b="1" dirty="0">
                <a:solidFill>
                  <a:schemeClr val="tx1"/>
                </a:solidFill>
              </a:rPr>
              <a:t>Plan learned</a:t>
            </a:r>
            <a:endParaRPr lang="en-US" sz="1600" dirty="0"/>
          </a:p>
        </p:txBody>
      </p:sp>
      <p:sp>
        <p:nvSpPr>
          <p:cNvPr id="20" name="text"/>
          <p:cNvSpPr txBox="1"/>
          <p:nvPr/>
        </p:nvSpPr>
        <p:spPr>
          <a:xfrm>
            <a:off x="5257800" y="3291840"/>
            <a:ext cx="1645920" cy="1143000"/>
          </a:xfrm>
          <a:prstGeom prst="rect">
            <a:avLst/>
          </a:prstGeom>
          <a:noFill/>
          <a:ln/>
        </p:spPr>
        <p:txBody>
          <a:bodyPr wrap="square" lIns="0" tIns="0" rIns="0" bIns="0" rtlCol="0" anchor="t"/>
          <a:lstStyle/>
          <a:p>
            <a:pPr algn="ctr" indent="0" marL="0">
              <a:buNone/>
            </a:pPr>
            <a:r>
              <a:rPr lang="en-US" sz="1400" dirty="0">
                <a:solidFill>
                  <a:schemeClr val="tx2"/>
                </a:solidFill>
              </a:rPr>
              <a:t>The route, and which values come from the record, a page or a decision</a:t>
            </a:r>
            <a:endParaRPr lang="en-US" sz="1400" dirty="0"/>
          </a:p>
        </p:txBody>
      </p:sp>
      <p:sp>
        <p:nvSpPr>
          <p:cNvPr id="21" name="arrow"/>
          <p:cNvSpPr/>
          <p:nvPr/>
        </p:nvSpPr>
        <p:spPr>
          <a:xfrm>
            <a:off x="7077456" y="2834640"/>
            <a:ext cx="292608" cy="274320"/>
          </a:xfrm>
          <a:prstGeom prst="rightArrow">
            <a:avLst/>
          </a:prstGeom>
          <a:solidFill>
            <a:schemeClr val="accent5"/>
          </a:solidFill>
          <a:ln/>
        </p:spPr>
      </p:sp>
      <p:sp>
        <p:nvSpPr>
          <p:cNvPr id="22" name="card"/>
          <p:cNvSpPr/>
          <p:nvPr/>
        </p:nvSpPr>
        <p:spPr>
          <a:xfrm>
            <a:off x="7406640" y="1508760"/>
            <a:ext cx="1920240" cy="3017520"/>
          </a:xfrm>
          <a:prstGeom prst="roundRect">
            <a:avLst>
              <a:gd name="adj" fmla="val 5714"/>
            </a:avLst>
          </a:prstGeom>
          <a:solidFill>
            <a:schemeClr val="bg1"/>
          </a:solidFill>
          <a:ln/>
          <a:effectLst>
            <a:outerShdw sx="100000" sy="100000" kx="0" ky="0" algn="bl" rotWithShape="0" blurRad="88900" dist="25400" dir="5400000">
              <a:srgbClr val="000000">
                <a:alpha val="13000"/>
              </a:srgbClr>
            </a:outerShdw>
          </a:effectLst>
        </p:spPr>
      </p:sp>
      <p:sp>
        <p:nvSpPr>
          <p:cNvPr id="23" name="circle"/>
          <p:cNvSpPr/>
          <p:nvPr/>
        </p:nvSpPr>
        <p:spPr>
          <a:xfrm>
            <a:off x="8001000" y="1737360"/>
            <a:ext cx="731520" cy="731520"/>
          </a:xfrm>
          <a:prstGeom prst="ellipse">
            <a:avLst/>
          </a:prstGeom>
          <a:solidFill>
            <a:schemeClr val="accent1"/>
          </a:solidFill>
          <a:ln/>
        </p:spPr>
      </p:sp>
      <p:pic>
        <p:nvPicPr>
          <p:cNvPr id="24" name="icon FaBalanceScale" descr="BalanceScale icon">    </p:cNvPr>
          <p:cNvPicPr>
            <a:picLocks noChangeAspect="1"/>
          </p:cNvPicPr>
          <p:nvPr/>
        </p:nvPicPr>
        <p:blipFill>
          <a:blip r:embed="rId4"/>
          <a:stretch>
            <a:fillRect/>
          </a:stretch>
        </p:blipFill>
        <p:spPr>
          <a:xfrm>
            <a:off x="8161934" y="1898294"/>
            <a:ext cx="409651" cy="409651"/>
          </a:xfrm>
          <a:prstGeom prst="rect">
            <a:avLst/>
          </a:prstGeom>
        </p:spPr>
      </p:pic>
      <p:sp>
        <p:nvSpPr>
          <p:cNvPr id="25" name="text"/>
          <p:cNvSpPr txBox="1"/>
          <p:nvPr/>
        </p:nvSpPr>
        <p:spPr>
          <a:xfrm>
            <a:off x="7543800" y="2651760"/>
            <a:ext cx="1645920" cy="594360"/>
          </a:xfrm>
          <a:prstGeom prst="rect">
            <a:avLst/>
          </a:prstGeom>
          <a:noFill/>
          <a:ln/>
        </p:spPr>
        <p:txBody>
          <a:bodyPr wrap="square" lIns="0" tIns="0" rIns="0" bIns="0" rtlCol="0" anchor="t"/>
          <a:lstStyle/>
          <a:p>
            <a:pPr algn="ctr" indent="0" marL="0">
              <a:buNone/>
            </a:pPr>
            <a:r>
              <a:rPr lang="en-US" sz="1600" b="1" dirty="0">
                <a:solidFill>
                  <a:schemeClr val="tx1"/>
                </a:solidFill>
              </a:rPr>
              <a:t>Plan must prove itself</a:t>
            </a:r>
            <a:endParaRPr lang="en-US" sz="1600" dirty="0"/>
          </a:p>
        </p:txBody>
      </p:sp>
      <p:sp>
        <p:nvSpPr>
          <p:cNvPr id="26" name="text"/>
          <p:cNvSpPr txBox="1"/>
          <p:nvPr/>
        </p:nvSpPr>
        <p:spPr>
          <a:xfrm>
            <a:off x="7543800" y="3291840"/>
            <a:ext cx="1645920" cy="1143000"/>
          </a:xfrm>
          <a:prstGeom prst="rect">
            <a:avLst/>
          </a:prstGeom>
          <a:noFill/>
          <a:ln/>
        </p:spPr>
        <p:txBody>
          <a:bodyPr wrap="square" lIns="0" tIns="0" rIns="0" bIns="0" rtlCol="0" anchor="t"/>
          <a:lstStyle/>
          <a:p>
            <a:pPr algn="ctr" indent="0" marL="0">
              <a:buNone/>
            </a:pPr>
            <a:r>
              <a:rPr lang="en-US" sz="1400" dirty="0">
                <a:solidFill>
                  <a:schemeClr val="tx2"/>
                </a:solidFill>
              </a:rPr>
              <a:t>It is compared with the live agent before it is trusted</a:t>
            </a:r>
            <a:endParaRPr lang="en-US" sz="1400" dirty="0"/>
          </a:p>
        </p:txBody>
      </p:sp>
      <p:sp>
        <p:nvSpPr>
          <p:cNvPr id="27" name="arrow"/>
          <p:cNvSpPr/>
          <p:nvPr/>
        </p:nvSpPr>
        <p:spPr>
          <a:xfrm>
            <a:off x="9363456" y="2834640"/>
            <a:ext cx="292608" cy="274320"/>
          </a:xfrm>
          <a:prstGeom prst="rightArrow">
            <a:avLst/>
          </a:prstGeom>
          <a:solidFill>
            <a:schemeClr val="accent5"/>
          </a:solidFill>
          <a:ln/>
        </p:spPr>
      </p:sp>
      <p:sp>
        <p:nvSpPr>
          <p:cNvPr id="28" name="card"/>
          <p:cNvSpPr/>
          <p:nvPr/>
        </p:nvSpPr>
        <p:spPr>
          <a:xfrm>
            <a:off x="9692640" y="1508760"/>
            <a:ext cx="1920240" cy="3017520"/>
          </a:xfrm>
          <a:prstGeom prst="roundRect">
            <a:avLst>
              <a:gd name="adj" fmla="val 5714"/>
            </a:avLst>
          </a:prstGeom>
          <a:solidFill>
            <a:schemeClr val="bg1"/>
          </a:solidFill>
          <a:ln/>
          <a:effectLst>
            <a:outerShdw sx="100000" sy="100000" kx="0" ky="0" algn="bl" rotWithShape="0" blurRad="88900" dist="25400" dir="5400000">
              <a:srgbClr val="000000">
                <a:alpha val="13000"/>
              </a:srgbClr>
            </a:outerShdw>
          </a:effectLst>
        </p:spPr>
      </p:sp>
      <p:sp>
        <p:nvSpPr>
          <p:cNvPr id="29" name="circle"/>
          <p:cNvSpPr/>
          <p:nvPr/>
        </p:nvSpPr>
        <p:spPr>
          <a:xfrm>
            <a:off x="10287000" y="1737360"/>
            <a:ext cx="731520" cy="731520"/>
          </a:xfrm>
          <a:prstGeom prst="ellipse">
            <a:avLst/>
          </a:prstGeom>
          <a:solidFill>
            <a:schemeClr val="accent4"/>
          </a:solidFill>
          <a:ln/>
        </p:spPr>
      </p:sp>
      <p:pic>
        <p:nvPicPr>
          <p:cNvPr id="30" name="icon FaRocket" descr="Rocket icon">    </p:cNvPr>
          <p:cNvPicPr>
            <a:picLocks noChangeAspect="1"/>
          </p:cNvPicPr>
          <p:nvPr/>
        </p:nvPicPr>
        <p:blipFill>
          <a:blip r:embed="rId5"/>
          <a:stretch>
            <a:fillRect/>
          </a:stretch>
        </p:blipFill>
        <p:spPr>
          <a:xfrm>
            <a:off x="10447934" y="1898294"/>
            <a:ext cx="409651" cy="409651"/>
          </a:xfrm>
          <a:prstGeom prst="rect">
            <a:avLst/>
          </a:prstGeom>
        </p:spPr>
      </p:pic>
      <p:sp>
        <p:nvSpPr>
          <p:cNvPr id="31" name="text"/>
          <p:cNvSpPr txBox="1"/>
          <p:nvPr/>
        </p:nvSpPr>
        <p:spPr>
          <a:xfrm>
            <a:off x="9829800" y="2651760"/>
            <a:ext cx="1645920" cy="594360"/>
          </a:xfrm>
          <a:prstGeom prst="rect">
            <a:avLst/>
          </a:prstGeom>
          <a:noFill/>
          <a:ln/>
        </p:spPr>
        <p:txBody>
          <a:bodyPr wrap="square" lIns="0" tIns="0" rIns="0" bIns="0" rtlCol="0" anchor="t"/>
          <a:lstStyle/>
          <a:p>
            <a:pPr algn="ctr" indent="0" marL="0">
              <a:buNone/>
            </a:pPr>
            <a:r>
              <a:rPr lang="en-US" sz="1600" b="1" dirty="0">
                <a:solidFill>
                  <a:schemeClr val="tx1"/>
                </a:solidFill>
              </a:rPr>
              <a:t>Plan runs the rest</a:t>
            </a:r>
            <a:endParaRPr lang="en-US" sz="1600" dirty="0"/>
          </a:p>
        </p:txBody>
      </p:sp>
      <p:sp>
        <p:nvSpPr>
          <p:cNvPr id="32" name="text"/>
          <p:cNvSpPr txBox="1"/>
          <p:nvPr/>
        </p:nvSpPr>
        <p:spPr>
          <a:xfrm>
            <a:off x="9829800" y="3291840"/>
            <a:ext cx="1645920" cy="1143000"/>
          </a:xfrm>
          <a:prstGeom prst="rect">
            <a:avLst/>
          </a:prstGeom>
          <a:noFill/>
          <a:ln/>
        </p:spPr>
        <p:txBody>
          <a:bodyPr wrap="square" lIns="0" tIns="0" rIns="0" bIns="0" rtlCol="0" anchor="t"/>
          <a:lstStyle/>
          <a:p>
            <a:pPr algn="ctr" indent="0" marL="0">
              <a:buNone/>
            </a:pPr>
            <a:r>
              <a:rPr lang="en-US" sz="1400" dirty="0">
                <a:solidFill>
                  <a:schemeClr val="tx2"/>
                </a:solidFill>
              </a:rPr>
              <a:t>About 0.3 to 1 AI call per record, instead of 15</a:t>
            </a:r>
            <a:endParaRPr lang="en-US" sz="1400" dirty="0"/>
          </a:p>
        </p:txBody>
      </p:sp>
      <p:sp>
        <p:nvSpPr>
          <p:cNvPr id="33" name="card"/>
          <p:cNvSpPr/>
          <p:nvPr/>
        </p:nvSpPr>
        <p:spPr>
          <a:xfrm>
            <a:off x="548640" y="4800600"/>
            <a:ext cx="11094415" cy="1325880"/>
          </a:xfrm>
          <a:prstGeom prst="roundRect">
            <a:avLst>
              <a:gd name="adj" fmla="val 8276"/>
            </a:avLst>
          </a:prstGeom>
          <a:solidFill>
            <a:schemeClr val="accent6"/>
          </a:solidFill>
          <a:ln/>
        </p:spPr>
      </p:sp>
      <p:sp>
        <p:nvSpPr>
          <p:cNvPr id="34" name="circle"/>
          <p:cNvSpPr/>
          <p:nvPr/>
        </p:nvSpPr>
        <p:spPr>
          <a:xfrm>
            <a:off x="868680" y="5138928"/>
            <a:ext cx="640080" cy="640080"/>
          </a:xfrm>
          <a:prstGeom prst="ellipse">
            <a:avLst/>
          </a:prstGeom>
          <a:solidFill>
            <a:schemeClr val="accent2"/>
          </a:solidFill>
          <a:ln/>
        </p:spPr>
      </p:sp>
      <p:pic>
        <p:nvPicPr>
          <p:cNvPr id="35" name="icon FaCalculator" descr="Calculator icon">    </p:cNvPr>
          <p:cNvPicPr>
            <a:picLocks noChangeAspect="1"/>
          </p:cNvPicPr>
          <p:nvPr/>
        </p:nvPicPr>
        <p:blipFill>
          <a:blip r:embed="rId6"/>
          <a:stretch>
            <a:fillRect/>
          </a:stretch>
        </p:blipFill>
        <p:spPr>
          <a:xfrm>
            <a:off x="1009498" y="5279746"/>
            <a:ext cx="358445" cy="358445"/>
          </a:xfrm>
          <a:prstGeom prst="rect">
            <a:avLst/>
          </a:prstGeom>
        </p:spPr>
      </p:pic>
      <p:sp>
        <p:nvSpPr>
          <p:cNvPr id="36" name="text"/>
          <p:cNvSpPr txBox="1"/>
          <p:nvPr/>
        </p:nvSpPr>
        <p:spPr>
          <a:xfrm>
            <a:off x="1737360" y="4937760"/>
            <a:ext cx="4206240" cy="1005840"/>
          </a:xfrm>
          <a:prstGeom prst="rect">
            <a:avLst/>
          </a:prstGeom>
          <a:noFill/>
          <a:ln/>
        </p:spPr>
        <p:txBody>
          <a:bodyPr wrap="square" lIns="0" tIns="0" rIns="0" bIns="0" rtlCol="0" anchor="ctr"/>
          <a:lstStyle/>
          <a:p>
            <a:pPr algn="l" indent="0" marL="0">
              <a:buNone/>
            </a:pPr>
            <a:r>
              <a:rPr lang="en-US" sz="1600" b="1" dirty="0">
                <a:solidFill>
                  <a:schemeClr val="tx1"/>
                </a:solidFill>
              </a:rPr>
              <a:t>Code does the arithmetic and the rule order; the AI only reads and translates.</a:t>
            </a:r>
            <a:endParaRPr lang="en-US" sz="1600" dirty="0"/>
          </a:p>
        </p:txBody>
      </p:sp>
      <p:sp>
        <p:nvSpPr>
          <p:cNvPr id="37" name="circle"/>
          <p:cNvSpPr/>
          <p:nvPr/>
        </p:nvSpPr>
        <p:spPr>
          <a:xfrm>
            <a:off x="6355080" y="5138928"/>
            <a:ext cx="640080" cy="640080"/>
          </a:xfrm>
          <a:prstGeom prst="ellipse">
            <a:avLst/>
          </a:prstGeom>
          <a:solidFill>
            <a:schemeClr val="accent4"/>
          </a:solidFill>
          <a:ln/>
        </p:spPr>
      </p:sp>
      <p:pic>
        <p:nvPicPr>
          <p:cNvPr id="38" name="icon FaCheckCircle" descr="CheckCircle icon">    </p:cNvPr>
          <p:cNvPicPr>
            <a:picLocks noChangeAspect="1"/>
          </p:cNvPicPr>
          <p:nvPr/>
        </p:nvPicPr>
        <p:blipFill>
          <a:blip r:embed="rId7"/>
          <a:stretch>
            <a:fillRect/>
          </a:stretch>
        </p:blipFill>
        <p:spPr>
          <a:xfrm>
            <a:off x="6495898" y="5279746"/>
            <a:ext cx="358445" cy="358445"/>
          </a:xfrm>
          <a:prstGeom prst="rect">
            <a:avLst/>
          </a:prstGeom>
        </p:spPr>
      </p:pic>
      <p:sp>
        <p:nvSpPr>
          <p:cNvPr id="39" name="text"/>
          <p:cNvSpPr txBox="1"/>
          <p:nvPr/>
        </p:nvSpPr>
        <p:spPr>
          <a:xfrm>
            <a:off x="7223760" y="4937760"/>
            <a:ext cx="4206240" cy="1005840"/>
          </a:xfrm>
          <a:prstGeom prst="rect">
            <a:avLst/>
          </a:prstGeom>
          <a:noFill/>
          <a:ln/>
        </p:spPr>
        <p:txBody>
          <a:bodyPr wrap="square" lIns="0" tIns="0" rIns="0" bIns="0" rtlCol="0" anchor="ctr"/>
          <a:lstStyle/>
          <a:p>
            <a:pPr algn="l" indent="0" marL="0">
              <a:buNone/>
            </a:pPr>
            <a:r>
              <a:rPr lang="en-US" sz="1600" b="1" dirty="0">
                <a:solidFill>
                  <a:schemeClr val="tx1"/>
                </a:solidFill>
              </a:rPr>
              <a:t>Nothing is saved from a guess: every number must come from the record, the pages or the instructions.</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1"/>
                </a:solidFill>
              </a:rPr>
              <a:t>What v3 added</a:t>
            </a:r>
            <a:endParaRPr lang="en-US" sz="3200" dirty="0"/>
          </a:p>
        </p:txBody>
      </p:sp>
      <p:sp>
        <p:nvSpPr>
          <p:cNvPr id="4" name="card"/>
          <p:cNvSpPr/>
          <p:nvPr/>
        </p:nvSpPr>
        <p:spPr>
          <a:xfrm>
            <a:off x="548640" y="1508760"/>
            <a:ext cx="3520440" cy="2194560"/>
          </a:xfrm>
          <a:prstGeom prst="roundRect">
            <a:avLst>
              <a:gd name="adj" fmla="val 5000"/>
            </a:avLst>
          </a:prstGeom>
          <a:solidFill>
            <a:schemeClr val="bg1"/>
          </a:solidFill>
          <a:ln/>
          <a:effectLst>
            <a:outerShdw sx="100000" sy="100000" kx="0" ky="0" algn="bl" rotWithShape="0" blurRad="88900" dist="25400" dir="5400000">
              <a:srgbClr val="000000">
                <a:alpha val="13000"/>
              </a:srgbClr>
            </a:outerShdw>
          </a:effectLst>
        </p:spPr>
      </p:sp>
      <p:sp>
        <p:nvSpPr>
          <p:cNvPr id="5" name="circle"/>
          <p:cNvSpPr/>
          <p:nvPr/>
        </p:nvSpPr>
        <p:spPr>
          <a:xfrm>
            <a:off x="822960" y="1783080"/>
            <a:ext cx="640080" cy="640080"/>
          </a:xfrm>
          <a:prstGeom prst="ellipse">
            <a:avLst/>
          </a:prstGeom>
          <a:solidFill>
            <a:schemeClr val="accent2"/>
          </a:solidFill>
          <a:ln/>
        </p:spPr>
      </p:sp>
      <p:pic>
        <p:nvPicPr>
          <p:cNvPr id="6" name="icon FaDesktop" descr="Desktop icon">    </p:cNvPr>
          <p:cNvPicPr>
            <a:picLocks noChangeAspect="1"/>
          </p:cNvPicPr>
          <p:nvPr/>
        </p:nvPicPr>
        <p:blipFill>
          <a:blip r:embed="rId1"/>
          <a:stretch>
            <a:fillRect/>
          </a:stretch>
        </p:blipFill>
        <p:spPr>
          <a:xfrm>
            <a:off x="963778" y="1923898"/>
            <a:ext cx="358445" cy="358445"/>
          </a:xfrm>
          <a:prstGeom prst="rect">
            <a:avLst/>
          </a:prstGeom>
        </p:spPr>
      </p:pic>
      <p:sp>
        <p:nvSpPr>
          <p:cNvPr id="7" name="text"/>
          <p:cNvSpPr txBox="1"/>
          <p:nvPr/>
        </p:nvSpPr>
        <p:spPr>
          <a:xfrm>
            <a:off x="1645920" y="1783080"/>
            <a:ext cx="2240280" cy="640080"/>
          </a:xfrm>
          <a:prstGeom prst="rect">
            <a:avLst/>
          </a:prstGeom>
          <a:noFill/>
          <a:ln/>
        </p:spPr>
        <p:txBody>
          <a:bodyPr wrap="square" lIns="0" tIns="0" rIns="0" bIns="0" rtlCol="0" anchor="ctr"/>
          <a:lstStyle/>
          <a:p>
            <a:pPr algn="l" indent="0" marL="0">
              <a:buNone/>
            </a:pPr>
            <a:r>
              <a:rPr lang="en-US" sz="1800" b="1" dirty="0">
                <a:solidFill>
                  <a:schemeClr val="tx1"/>
                </a:solidFill>
              </a:rPr>
              <a:t>Web application</a:t>
            </a:r>
            <a:endParaRPr lang="en-US" sz="1800" dirty="0"/>
          </a:p>
        </p:txBody>
      </p:sp>
      <p:sp>
        <p:nvSpPr>
          <p:cNvPr id="8" name="text"/>
          <p:cNvSpPr txBox="1"/>
          <p:nvPr/>
        </p:nvSpPr>
        <p:spPr>
          <a:xfrm>
            <a:off x="822960" y="2606040"/>
            <a:ext cx="2971800" cy="1005840"/>
          </a:xfrm>
          <a:prstGeom prst="rect">
            <a:avLst/>
          </a:prstGeom>
          <a:noFill/>
          <a:ln/>
        </p:spPr>
        <p:txBody>
          <a:bodyPr wrap="square" lIns="0" tIns="0" rIns="0" bIns="0" rtlCol="0" anchor="t"/>
          <a:lstStyle/>
          <a:p>
            <a:pPr algn="l" indent="0" marL="0">
              <a:buNone/>
            </a:pPr>
            <a:r>
              <a:rPr lang="en-US" sz="1400" dirty="0">
                <a:solidFill>
                  <a:schemeClr val="tx2"/>
                </a:solidFill>
              </a:rPr>
              <a:t>Create tasks in plain English, run them, and watch every record live on a Logs page</a:t>
            </a:r>
            <a:endParaRPr lang="en-US" sz="1400" dirty="0"/>
          </a:p>
        </p:txBody>
      </p:sp>
      <p:sp>
        <p:nvSpPr>
          <p:cNvPr id="9" name="card"/>
          <p:cNvSpPr/>
          <p:nvPr/>
        </p:nvSpPr>
        <p:spPr>
          <a:xfrm>
            <a:off x="4334256" y="1508760"/>
            <a:ext cx="3520440" cy="2194560"/>
          </a:xfrm>
          <a:prstGeom prst="roundRect">
            <a:avLst>
              <a:gd name="adj" fmla="val 5000"/>
            </a:avLst>
          </a:prstGeom>
          <a:solidFill>
            <a:schemeClr val="bg1"/>
          </a:solidFill>
          <a:ln/>
          <a:effectLst>
            <a:outerShdw sx="100000" sy="100000" kx="0" ky="0" algn="bl" rotWithShape="0" blurRad="88900" dist="25400" dir="5400000">
              <a:srgbClr val="000000">
                <a:alpha val="13000"/>
              </a:srgbClr>
            </a:outerShdw>
          </a:effectLst>
        </p:spPr>
      </p:sp>
      <p:sp>
        <p:nvSpPr>
          <p:cNvPr id="10" name="circle"/>
          <p:cNvSpPr/>
          <p:nvPr/>
        </p:nvSpPr>
        <p:spPr>
          <a:xfrm>
            <a:off x="4608576" y="1783080"/>
            <a:ext cx="640080" cy="640080"/>
          </a:xfrm>
          <a:prstGeom prst="ellipse">
            <a:avLst/>
          </a:prstGeom>
          <a:solidFill>
            <a:schemeClr val="accent2"/>
          </a:solidFill>
          <a:ln/>
        </p:spPr>
      </p:sp>
      <p:pic>
        <p:nvPicPr>
          <p:cNvPr id="11" name="icon FaDatabase" descr="Database icon">    </p:cNvPr>
          <p:cNvPicPr>
            <a:picLocks noChangeAspect="1"/>
          </p:cNvPicPr>
          <p:nvPr/>
        </p:nvPicPr>
        <p:blipFill>
          <a:blip r:embed="rId2"/>
          <a:stretch>
            <a:fillRect/>
          </a:stretch>
        </p:blipFill>
        <p:spPr>
          <a:xfrm>
            <a:off x="4749394" y="1923898"/>
            <a:ext cx="358445" cy="358445"/>
          </a:xfrm>
          <a:prstGeom prst="rect">
            <a:avLst/>
          </a:prstGeom>
        </p:spPr>
      </p:pic>
      <p:sp>
        <p:nvSpPr>
          <p:cNvPr id="12" name="text"/>
          <p:cNvSpPr txBox="1"/>
          <p:nvPr/>
        </p:nvSpPr>
        <p:spPr>
          <a:xfrm>
            <a:off x="5431536" y="1783080"/>
            <a:ext cx="2240280" cy="640080"/>
          </a:xfrm>
          <a:prstGeom prst="rect">
            <a:avLst/>
          </a:prstGeom>
          <a:noFill/>
          <a:ln/>
        </p:spPr>
        <p:txBody>
          <a:bodyPr wrap="square" lIns="0" tIns="0" rIns="0" bIns="0" rtlCol="0" anchor="ctr"/>
          <a:lstStyle/>
          <a:p>
            <a:pPr algn="l" indent="0" marL="0">
              <a:buNone/>
            </a:pPr>
            <a:r>
              <a:rPr lang="en-US" sz="1800" b="1" dirty="0">
                <a:solidFill>
                  <a:schemeClr val="tx1"/>
                </a:solidFill>
              </a:rPr>
              <a:t>Database</a:t>
            </a:r>
            <a:endParaRPr lang="en-US" sz="1800" dirty="0"/>
          </a:p>
        </p:txBody>
      </p:sp>
      <p:sp>
        <p:nvSpPr>
          <p:cNvPr id="13" name="text"/>
          <p:cNvSpPr txBox="1"/>
          <p:nvPr/>
        </p:nvSpPr>
        <p:spPr>
          <a:xfrm>
            <a:off x="4608576" y="2606040"/>
            <a:ext cx="2971800" cy="1005840"/>
          </a:xfrm>
          <a:prstGeom prst="rect">
            <a:avLst/>
          </a:prstGeom>
          <a:noFill/>
          <a:ln/>
        </p:spPr>
        <p:txBody>
          <a:bodyPr wrap="square" lIns="0" tIns="0" rIns="0" bIns="0" rtlCol="0" anchor="t"/>
          <a:lstStyle/>
          <a:p>
            <a:pPr algn="l" indent="0" marL="0">
              <a:buNone/>
            </a:pPr>
            <a:r>
              <a:rPr lang="en-US" sz="1400" dirty="0">
                <a:solidFill>
                  <a:schemeClr val="tx2"/>
                </a:solidFill>
              </a:rPr>
              <a:t>Tasks, runs, logs, encrypted keys and everything the system learned</a:t>
            </a:r>
            <a:endParaRPr lang="en-US" sz="1400" dirty="0"/>
          </a:p>
        </p:txBody>
      </p:sp>
      <p:sp>
        <p:nvSpPr>
          <p:cNvPr id="14" name="card"/>
          <p:cNvSpPr/>
          <p:nvPr/>
        </p:nvSpPr>
        <p:spPr>
          <a:xfrm>
            <a:off x="8119872" y="1508760"/>
            <a:ext cx="3520440" cy="2194560"/>
          </a:xfrm>
          <a:prstGeom prst="roundRect">
            <a:avLst>
              <a:gd name="adj" fmla="val 5000"/>
            </a:avLst>
          </a:prstGeom>
          <a:solidFill>
            <a:schemeClr val="bg1"/>
          </a:solidFill>
          <a:ln/>
          <a:effectLst>
            <a:outerShdw sx="100000" sy="100000" kx="0" ky="0" algn="bl" rotWithShape="0" blurRad="88900" dist="25400" dir="5400000">
              <a:srgbClr val="000000">
                <a:alpha val="13000"/>
              </a:srgbClr>
            </a:outerShdw>
          </a:effectLst>
        </p:spPr>
      </p:sp>
      <p:sp>
        <p:nvSpPr>
          <p:cNvPr id="15" name="circle"/>
          <p:cNvSpPr/>
          <p:nvPr/>
        </p:nvSpPr>
        <p:spPr>
          <a:xfrm>
            <a:off x="8394192" y="1783080"/>
            <a:ext cx="640080" cy="640080"/>
          </a:xfrm>
          <a:prstGeom prst="ellipse">
            <a:avLst/>
          </a:prstGeom>
          <a:solidFill>
            <a:schemeClr val="accent2"/>
          </a:solidFill>
          <a:ln/>
        </p:spPr>
      </p:sp>
      <p:pic>
        <p:nvPicPr>
          <p:cNvPr id="16" name="icon FaKey" descr="Key icon">    </p:cNvPr>
          <p:cNvPicPr>
            <a:picLocks noChangeAspect="1"/>
          </p:cNvPicPr>
          <p:nvPr/>
        </p:nvPicPr>
        <p:blipFill>
          <a:blip r:embed="rId3"/>
          <a:stretch>
            <a:fillRect/>
          </a:stretch>
        </p:blipFill>
        <p:spPr>
          <a:xfrm>
            <a:off x="8535010" y="1923898"/>
            <a:ext cx="358445" cy="358445"/>
          </a:xfrm>
          <a:prstGeom prst="rect">
            <a:avLst/>
          </a:prstGeom>
        </p:spPr>
      </p:pic>
      <p:sp>
        <p:nvSpPr>
          <p:cNvPr id="17" name="text"/>
          <p:cNvSpPr txBox="1"/>
          <p:nvPr/>
        </p:nvSpPr>
        <p:spPr>
          <a:xfrm>
            <a:off x="9217152" y="1783080"/>
            <a:ext cx="2240280" cy="640080"/>
          </a:xfrm>
          <a:prstGeom prst="rect">
            <a:avLst/>
          </a:prstGeom>
          <a:noFill/>
          <a:ln/>
        </p:spPr>
        <p:txBody>
          <a:bodyPr wrap="square" lIns="0" tIns="0" rIns="0" bIns="0" rtlCol="0" anchor="ctr"/>
          <a:lstStyle/>
          <a:p>
            <a:pPr algn="l" indent="0" marL="0">
              <a:buNone/>
            </a:pPr>
            <a:r>
              <a:rPr lang="en-US" sz="1800" b="1" dirty="0">
                <a:solidFill>
                  <a:schemeClr val="tx1"/>
                </a:solidFill>
              </a:rPr>
              <a:t>Keys and pacing</a:t>
            </a:r>
            <a:endParaRPr lang="en-US" sz="1800" dirty="0"/>
          </a:p>
        </p:txBody>
      </p:sp>
      <p:sp>
        <p:nvSpPr>
          <p:cNvPr id="18" name="text"/>
          <p:cNvSpPr txBox="1"/>
          <p:nvPr/>
        </p:nvSpPr>
        <p:spPr>
          <a:xfrm>
            <a:off x="8394192" y="2606040"/>
            <a:ext cx="2971800" cy="1005840"/>
          </a:xfrm>
          <a:prstGeom prst="rect">
            <a:avLst/>
          </a:prstGeom>
          <a:noFill/>
          <a:ln/>
        </p:spPr>
        <p:txBody>
          <a:bodyPr wrap="square" lIns="0" tIns="0" rIns="0" bIns="0" rtlCol="0" anchor="t"/>
          <a:lstStyle/>
          <a:p>
            <a:pPr algn="l" indent="0" marL="0">
              <a:buNone/>
            </a:pPr>
            <a:r>
              <a:rPr lang="en-US" sz="1400" dirty="0">
                <a:solidFill>
                  <a:schemeClr val="tx2"/>
                </a:solidFill>
              </a:rPr>
              <a:t>Rotates several API keys and stays under the 15-calls-per-minute limit</a:t>
            </a:r>
            <a:endParaRPr lang="en-US" sz="1400" dirty="0"/>
          </a:p>
        </p:txBody>
      </p:sp>
      <p:sp>
        <p:nvSpPr>
          <p:cNvPr id="19" name="card"/>
          <p:cNvSpPr/>
          <p:nvPr/>
        </p:nvSpPr>
        <p:spPr>
          <a:xfrm>
            <a:off x="548640" y="3931920"/>
            <a:ext cx="3520440" cy="2194560"/>
          </a:xfrm>
          <a:prstGeom prst="roundRect">
            <a:avLst>
              <a:gd name="adj" fmla="val 5000"/>
            </a:avLst>
          </a:prstGeom>
          <a:solidFill>
            <a:schemeClr val="bg1"/>
          </a:solidFill>
          <a:ln/>
          <a:effectLst>
            <a:outerShdw sx="100000" sy="100000" kx="0" ky="0" algn="bl" rotWithShape="0" blurRad="88900" dist="25400" dir="5400000">
              <a:srgbClr val="000000">
                <a:alpha val="13000"/>
              </a:srgbClr>
            </a:outerShdw>
          </a:effectLst>
        </p:spPr>
      </p:sp>
      <p:sp>
        <p:nvSpPr>
          <p:cNvPr id="20" name="circle"/>
          <p:cNvSpPr/>
          <p:nvPr/>
        </p:nvSpPr>
        <p:spPr>
          <a:xfrm>
            <a:off x="822960" y="4206240"/>
            <a:ext cx="640080" cy="640080"/>
          </a:xfrm>
          <a:prstGeom prst="ellipse">
            <a:avLst/>
          </a:prstGeom>
          <a:solidFill>
            <a:schemeClr val="accent4"/>
          </a:solidFill>
          <a:ln/>
        </p:spPr>
      </p:sp>
      <p:pic>
        <p:nvPicPr>
          <p:cNvPr id="21" name="icon FaCheckDouble" descr="CheckDouble icon">    </p:cNvPr>
          <p:cNvPicPr>
            <a:picLocks noChangeAspect="1"/>
          </p:cNvPicPr>
          <p:nvPr/>
        </p:nvPicPr>
        <p:blipFill>
          <a:blip r:embed="rId4"/>
          <a:stretch>
            <a:fillRect/>
          </a:stretch>
        </p:blipFill>
        <p:spPr>
          <a:xfrm>
            <a:off x="963778" y="4347058"/>
            <a:ext cx="358445" cy="358445"/>
          </a:xfrm>
          <a:prstGeom prst="rect">
            <a:avLst/>
          </a:prstGeom>
        </p:spPr>
      </p:pic>
      <p:sp>
        <p:nvSpPr>
          <p:cNvPr id="22" name="text"/>
          <p:cNvSpPr txBox="1"/>
          <p:nvPr/>
        </p:nvSpPr>
        <p:spPr>
          <a:xfrm>
            <a:off x="1645920" y="4206240"/>
            <a:ext cx="2240280" cy="640080"/>
          </a:xfrm>
          <a:prstGeom prst="rect">
            <a:avLst/>
          </a:prstGeom>
          <a:noFill/>
          <a:ln/>
        </p:spPr>
        <p:txBody>
          <a:bodyPr wrap="square" lIns="0" tIns="0" rIns="0" bIns="0" rtlCol="0" anchor="ctr"/>
          <a:lstStyle/>
          <a:p>
            <a:pPr algn="l" indent="0" marL="0">
              <a:buNone/>
            </a:pPr>
            <a:r>
              <a:rPr lang="en-US" sz="1800" b="1" dirty="0">
                <a:solidFill>
                  <a:schemeClr val="tx1"/>
                </a:solidFill>
              </a:rPr>
              <a:t>Automatic grading</a:t>
            </a:r>
            <a:endParaRPr lang="en-US" sz="1800" dirty="0"/>
          </a:p>
        </p:txBody>
      </p:sp>
      <p:sp>
        <p:nvSpPr>
          <p:cNvPr id="23" name="text"/>
          <p:cNvSpPr txBox="1"/>
          <p:nvPr/>
        </p:nvSpPr>
        <p:spPr>
          <a:xfrm>
            <a:off x="822960" y="5029200"/>
            <a:ext cx="2971800" cy="1005840"/>
          </a:xfrm>
          <a:prstGeom prst="rect">
            <a:avLst/>
          </a:prstGeom>
          <a:noFill/>
          <a:ln/>
        </p:spPr>
        <p:txBody>
          <a:bodyPr wrap="square" lIns="0" tIns="0" rIns="0" bIns="0" rtlCol="0" anchor="t"/>
          <a:lstStyle/>
          <a:p>
            <a:pPr algn="l" indent="0" marL="0">
              <a:buNone/>
            </a:pPr>
            <a:r>
              <a:rPr lang="en-US" sz="1400" dirty="0">
                <a:solidFill>
                  <a:schemeClr val="tx2"/>
                </a:solidFill>
              </a:rPr>
              <a:t>Every run is scored against an answer key, so accuracy is measured</a:t>
            </a:r>
            <a:endParaRPr lang="en-US" sz="1400" dirty="0"/>
          </a:p>
        </p:txBody>
      </p:sp>
      <p:sp>
        <p:nvSpPr>
          <p:cNvPr id="24" name="card"/>
          <p:cNvSpPr/>
          <p:nvPr/>
        </p:nvSpPr>
        <p:spPr>
          <a:xfrm>
            <a:off x="4334256" y="3931920"/>
            <a:ext cx="3520440" cy="2194560"/>
          </a:xfrm>
          <a:prstGeom prst="roundRect">
            <a:avLst>
              <a:gd name="adj" fmla="val 5000"/>
            </a:avLst>
          </a:prstGeom>
          <a:solidFill>
            <a:schemeClr val="bg1"/>
          </a:solidFill>
          <a:ln/>
          <a:effectLst>
            <a:outerShdw sx="100000" sy="100000" kx="0" ky="0" algn="bl" rotWithShape="0" blurRad="88900" dist="25400" dir="5400000">
              <a:srgbClr val="000000">
                <a:alpha val="13000"/>
              </a:srgbClr>
            </a:outerShdw>
          </a:effectLst>
        </p:spPr>
      </p:sp>
      <p:sp>
        <p:nvSpPr>
          <p:cNvPr id="25" name="circle"/>
          <p:cNvSpPr/>
          <p:nvPr/>
        </p:nvSpPr>
        <p:spPr>
          <a:xfrm>
            <a:off x="4608576" y="4206240"/>
            <a:ext cx="640080" cy="640080"/>
          </a:xfrm>
          <a:prstGeom prst="ellipse">
            <a:avLst/>
          </a:prstGeom>
          <a:solidFill>
            <a:schemeClr val="accent1"/>
          </a:solidFill>
          <a:ln/>
        </p:spPr>
      </p:sp>
      <p:pic>
        <p:nvPicPr>
          <p:cNvPr id="26" name="icon FaFileAlt" descr="FileAlt icon">    </p:cNvPr>
          <p:cNvPicPr>
            <a:picLocks noChangeAspect="1"/>
          </p:cNvPicPr>
          <p:nvPr/>
        </p:nvPicPr>
        <p:blipFill>
          <a:blip r:embed="rId5"/>
          <a:stretch>
            <a:fillRect/>
          </a:stretch>
        </p:blipFill>
        <p:spPr>
          <a:xfrm>
            <a:off x="4749394" y="4347058"/>
            <a:ext cx="358445" cy="358445"/>
          </a:xfrm>
          <a:prstGeom prst="rect">
            <a:avLst/>
          </a:prstGeom>
        </p:spPr>
      </p:pic>
      <p:sp>
        <p:nvSpPr>
          <p:cNvPr id="27" name="text"/>
          <p:cNvSpPr txBox="1"/>
          <p:nvPr/>
        </p:nvSpPr>
        <p:spPr>
          <a:xfrm>
            <a:off x="5431536" y="4206240"/>
            <a:ext cx="2240280" cy="640080"/>
          </a:xfrm>
          <a:prstGeom prst="rect">
            <a:avLst/>
          </a:prstGeom>
          <a:noFill/>
          <a:ln/>
        </p:spPr>
        <p:txBody>
          <a:bodyPr wrap="square" lIns="0" tIns="0" rIns="0" bIns="0" rtlCol="0" anchor="ctr"/>
          <a:lstStyle/>
          <a:p>
            <a:pPr algn="l" indent="0" marL="0">
              <a:buNone/>
            </a:pPr>
            <a:r>
              <a:rPr lang="en-US" sz="1800" b="1" dirty="0">
                <a:solidFill>
                  <a:schemeClr val="tx1"/>
                </a:solidFill>
              </a:rPr>
              <a:t>Recipe engine</a:t>
            </a:r>
            <a:endParaRPr lang="en-US" sz="1800" dirty="0"/>
          </a:p>
        </p:txBody>
      </p:sp>
      <p:sp>
        <p:nvSpPr>
          <p:cNvPr id="28" name="text"/>
          <p:cNvSpPr txBox="1"/>
          <p:nvPr/>
        </p:nvSpPr>
        <p:spPr>
          <a:xfrm>
            <a:off x="4608576" y="5029200"/>
            <a:ext cx="2971800" cy="1005840"/>
          </a:xfrm>
          <a:prstGeom prst="rect">
            <a:avLst/>
          </a:prstGeom>
          <a:noFill/>
          <a:ln/>
        </p:spPr>
        <p:txBody>
          <a:bodyPr wrap="square" lIns="0" tIns="0" rIns="0" bIns="0" rtlCol="0" anchor="t"/>
          <a:lstStyle/>
          <a:p>
            <a:pPr algn="l" indent="0" marL="0">
              <a:buNone/>
            </a:pPr>
            <a:r>
              <a:rPr lang="en-US" sz="1400" dirty="0">
                <a:solidFill>
                  <a:schemeClr val="tx2"/>
                </a:solidFill>
              </a:rPr>
              <a:t>Fast path for read, decide, click tasks: 100/100 with about 7% of the AI calls</a:t>
            </a:r>
            <a:endParaRPr lang="en-US" sz="1400" dirty="0"/>
          </a:p>
        </p:txBody>
      </p:sp>
      <p:sp>
        <p:nvSpPr>
          <p:cNvPr id="29" name="card"/>
          <p:cNvSpPr/>
          <p:nvPr/>
        </p:nvSpPr>
        <p:spPr>
          <a:xfrm>
            <a:off x="8119872" y="3931920"/>
            <a:ext cx="3520440" cy="2194560"/>
          </a:xfrm>
          <a:prstGeom prst="roundRect">
            <a:avLst>
              <a:gd name="adj" fmla="val 5000"/>
            </a:avLst>
          </a:prstGeom>
          <a:solidFill>
            <a:schemeClr val="bg1"/>
          </a:solidFill>
          <a:ln/>
          <a:effectLst>
            <a:outerShdw sx="100000" sy="100000" kx="0" ky="0" algn="bl" rotWithShape="0" blurRad="88900" dist="25400" dir="5400000">
              <a:srgbClr val="000000">
                <a:alpha val="13000"/>
              </a:srgbClr>
            </a:outerShdw>
          </a:effectLst>
        </p:spPr>
      </p:sp>
      <p:sp>
        <p:nvSpPr>
          <p:cNvPr id="30" name="circle"/>
          <p:cNvSpPr/>
          <p:nvPr/>
        </p:nvSpPr>
        <p:spPr>
          <a:xfrm>
            <a:off x="8394192" y="4206240"/>
            <a:ext cx="640080" cy="640080"/>
          </a:xfrm>
          <a:prstGeom prst="ellipse">
            <a:avLst/>
          </a:prstGeom>
          <a:solidFill>
            <a:schemeClr val="accent1"/>
          </a:solidFill>
          <a:ln/>
        </p:spPr>
      </p:sp>
      <p:pic>
        <p:nvPicPr>
          <p:cNvPr id="31" name="icon FaSitemap" descr="Sitemap icon">    </p:cNvPr>
          <p:cNvPicPr>
            <a:picLocks noChangeAspect="1"/>
          </p:cNvPicPr>
          <p:nvPr/>
        </p:nvPicPr>
        <p:blipFill>
          <a:blip r:embed="rId6"/>
          <a:stretch>
            <a:fillRect/>
          </a:stretch>
        </p:blipFill>
        <p:spPr>
          <a:xfrm>
            <a:off x="8535010" y="4347058"/>
            <a:ext cx="358445" cy="358445"/>
          </a:xfrm>
          <a:prstGeom prst="rect">
            <a:avLst/>
          </a:prstGeom>
        </p:spPr>
      </p:pic>
      <p:sp>
        <p:nvSpPr>
          <p:cNvPr id="32" name="text"/>
          <p:cNvSpPr txBox="1"/>
          <p:nvPr/>
        </p:nvSpPr>
        <p:spPr>
          <a:xfrm>
            <a:off x="9217152" y="4206240"/>
            <a:ext cx="2240280" cy="640080"/>
          </a:xfrm>
          <a:prstGeom prst="rect">
            <a:avLst/>
          </a:prstGeom>
          <a:noFill/>
          <a:ln/>
        </p:spPr>
        <p:txBody>
          <a:bodyPr wrap="square" lIns="0" tIns="0" rIns="0" bIns="0" rtlCol="0" anchor="ctr"/>
          <a:lstStyle/>
          <a:p>
            <a:pPr algn="l" indent="0" marL="0">
              <a:buNone/>
            </a:pPr>
            <a:r>
              <a:rPr lang="en-US" sz="1800" b="1" dirty="0">
                <a:solidFill>
                  <a:schemeClr val="tx1"/>
                </a:solidFill>
              </a:rPr>
              <a:t>Plan engine</a:t>
            </a:r>
            <a:endParaRPr lang="en-US" sz="1800" dirty="0"/>
          </a:p>
        </p:txBody>
      </p:sp>
      <p:sp>
        <p:nvSpPr>
          <p:cNvPr id="33" name="text"/>
          <p:cNvSpPr txBox="1"/>
          <p:nvPr/>
        </p:nvSpPr>
        <p:spPr>
          <a:xfrm>
            <a:off x="8394192" y="5029200"/>
            <a:ext cx="2971800" cy="1005840"/>
          </a:xfrm>
          <a:prstGeom prst="rect">
            <a:avLst/>
          </a:prstGeom>
          <a:noFill/>
          <a:ln/>
        </p:spPr>
        <p:txBody>
          <a:bodyPr wrap="square" lIns="0" tIns="0" rIns="0" bIns="0" rtlCol="0" anchor="t"/>
          <a:lstStyle/>
          <a:p>
            <a:pPr algn="l" indent="0" marL="0">
              <a:buNone/>
            </a:pPr>
            <a:r>
              <a:rPr lang="en-US" sz="1400" dirty="0">
                <a:solidFill>
                  <a:schemeClr val="tx2"/>
                </a:solidFill>
              </a:rPr>
              <a:t>General fast path: learn the route, ask small questions, prove before trusting</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1"/>
                </a:solidFill>
              </a:rPr>
              <a:t>Cost: AI calls needed for 100 records</a:t>
            </a:r>
            <a:endParaRPr lang="en-US" sz="3200" dirty="0"/>
          </a:p>
        </p:txBody>
      </p:sp>
      <p:sp>
        <p:nvSpPr>
          <p:cNvPr id="4" name="card"/>
          <p:cNvSpPr/>
          <p:nvPr/>
        </p:nvSpPr>
        <p:spPr>
          <a:xfrm>
            <a:off x="548640" y="1463040"/>
            <a:ext cx="6949440" cy="4663440"/>
          </a:xfrm>
          <a:prstGeom prst="roundRect">
            <a:avLst>
              <a:gd name="adj" fmla="val 2353"/>
            </a:avLst>
          </a:prstGeom>
          <a:solidFill>
            <a:schemeClr val="bg1"/>
          </a:solidFill>
          <a:ln/>
          <a:effectLst>
            <a:outerShdw sx="100000" sy="100000" kx="0" ky="0" algn="bl" rotWithShape="0" blurRad="88900" dist="25400" dir="5400000">
              <a:srgbClr val="000000">
                <a:alpha val="13000"/>
              </a:srgbClr>
            </a:outerShdw>
          </a:effectLst>
        </p:spPr>
      </p:sp>
      <p:graphicFrame>
        <p:nvGraphicFramePr>
          <p:cNvPr id="5" name="Chart 0" descr=""/>
          <p:cNvGraphicFramePr/>
          <p:nvPr/>
        </p:nvGraphicFramePr>
        <p:xfrm>
          <a:off x="731520" y="1600200"/>
          <a:ext cx="6583680" cy="4389120"/>
        </p:xfrm>
        <a:graphic xmlns:a="http://schemas.openxmlformats.org/drawingml/2006/main">
          <a:graphicData uri="http://schemas.openxmlformats.org/drawingml/2006/chart">
            <c:chart xmlns:c="http://schemas.openxmlformats.org/drawingml/2006/chart" r:id="rId1"/>
          </a:graphicData>
        </a:graphic>
      </p:graphicFrame>
      <p:sp>
        <p:nvSpPr>
          <p:cNvPr id="6" name="card"/>
          <p:cNvSpPr/>
          <p:nvPr/>
        </p:nvSpPr>
        <p:spPr>
          <a:xfrm>
            <a:off x="7863840" y="1463040"/>
            <a:ext cx="3776472" cy="1463040"/>
          </a:xfrm>
          <a:prstGeom prst="roundRect">
            <a:avLst>
              <a:gd name="adj" fmla="val 7500"/>
            </a:avLst>
          </a:prstGeom>
          <a:solidFill>
            <a:schemeClr val="bg1"/>
          </a:solidFill>
          <a:ln/>
          <a:effectLst>
            <a:outerShdw sx="100000" sy="100000" kx="0" ky="0" algn="bl" rotWithShape="0" blurRad="88900" dist="25400" dir="5400000">
              <a:srgbClr val="000000">
                <a:alpha val="13000"/>
              </a:srgbClr>
            </a:outerShdw>
          </a:effectLst>
        </p:spPr>
      </p:sp>
      <p:sp>
        <p:nvSpPr>
          <p:cNvPr id="7" name="text"/>
          <p:cNvSpPr txBox="1"/>
          <p:nvPr/>
        </p:nvSpPr>
        <p:spPr>
          <a:xfrm>
            <a:off x="8092440" y="1554480"/>
            <a:ext cx="1737360" cy="1280160"/>
          </a:xfrm>
          <a:prstGeom prst="rect">
            <a:avLst/>
          </a:prstGeom>
          <a:noFill/>
          <a:ln/>
        </p:spPr>
        <p:txBody>
          <a:bodyPr wrap="square" lIns="0" tIns="0" rIns="0" bIns="0" rtlCol="0" anchor="ctr"/>
          <a:lstStyle/>
          <a:p>
            <a:pPr algn="l" indent="0" marL="0">
              <a:buNone/>
            </a:pPr>
            <a:r>
              <a:rPr lang="en-US" sz="4400" b="1" dirty="0">
                <a:solidFill>
                  <a:schemeClr val="accent1"/>
                </a:solidFill>
              </a:rPr>
              <a:t>≈14×</a:t>
            </a:r>
            <a:endParaRPr lang="en-US" sz="4400" dirty="0"/>
          </a:p>
        </p:txBody>
      </p:sp>
      <p:sp>
        <p:nvSpPr>
          <p:cNvPr id="8" name="text"/>
          <p:cNvSpPr txBox="1"/>
          <p:nvPr/>
        </p:nvSpPr>
        <p:spPr>
          <a:xfrm>
            <a:off x="9829800" y="1554480"/>
            <a:ext cx="1645920" cy="1280160"/>
          </a:xfrm>
          <a:prstGeom prst="rect">
            <a:avLst/>
          </a:prstGeom>
          <a:noFill/>
          <a:ln/>
        </p:spPr>
        <p:txBody>
          <a:bodyPr wrap="square" lIns="0" tIns="0" rIns="0" bIns="0" rtlCol="0" anchor="ctr"/>
          <a:lstStyle/>
          <a:p>
            <a:pPr algn="l" indent="0" marL="0">
              <a:buNone/>
            </a:pPr>
            <a:r>
              <a:rPr lang="en-US" sz="1400" dirty="0">
                <a:solidFill>
                  <a:schemeClr val="tx2"/>
                </a:solidFill>
              </a:rPr>
              <a:t>fewer AI calls on the Credit Desk</a:t>
            </a:r>
            <a:endParaRPr lang="en-US" sz="1400" dirty="0"/>
          </a:p>
        </p:txBody>
      </p:sp>
      <p:sp>
        <p:nvSpPr>
          <p:cNvPr id="9" name="card"/>
          <p:cNvSpPr/>
          <p:nvPr/>
        </p:nvSpPr>
        <p:spPr>
          <a:xfrm>
            <a:off x="7863840" y="3108960"/>
            <a:ext cx="3776472" cy="1463040"/>
          </a:xfrm>
          <a:prstGeom prst="roundRect">
            <a:avLst>
              <a:gd name="adj" fmla="val 7500"/>
            </a:avLst>
          </a:prstGeom>
          <a:solidFill>
            <a:schemeClr val="bg1"/>
          </a:solidFill>
          <a:ln/>
          <a:effectLst>
            <a:outerShdw sx="100000" sy="100000" kx="0" ky="0" algn="bl" rotWithShape="0" blurRad="88900" dist="25400" dir="5400000">
              <a:srgbClr val="000000">
                <a:alpha val="13000"/>
              </a:srgbClr>
            </a:outerShdw>
          </a:effectLst>
        </p:spPr>
      </p:sp>
      <p:sp>
        <p:nvSpPr>
          <p:cNvPr id="10" name="text"/>
          <p:cNvSpPr txBox="1"/>
          <p:nvPr/>
        </p:nvSpPr>
        <p:spPr>
          <a:xfrm>
            <a:off x="8092440" y="3200400"/>
            <a:ext cx="1737360" cy="1280160"/>
          </a:xfrm>
          <a:prstGeom prst="rect">
            <a:avLst/>
          </a:prstGeom>
          <a:noFill/>
          <a:ln/>
        </p:spPr>
        <p:txBody>
          <a:bodyPr wrap="square" lIns="0" tIns="0" rIns="0" bIns="0" rtlCol="0" anchor="ctr"/>
          <a:lstStyle/>
          <a:p>
            <a:pPr algn="l" indent="0" marL="0">
              <a:buNone/>
            </a:pPr>
            <a:r>
              <a:rPr lang="en-US" sz="4400" b="1" dirty="0">
                <a:solidFill>
                  <a:schemeClr val="accent2"/>
                </a:solidFill>
              </a:rPr>
              <a:t>≈12×</a:t>
            </a:r>
            <a:endParaRPr lang="en-US" sz="4400" dirty="0"/>
          </a:p>
        </p:txBody>
      </p:sp>
      <p:sp>
        <p:nvSpPr>
          <p:cNvPr id="11" name="text"/>
          <p:cNvSpPr txBox="1"/>
          <p:nvPr/>
        </p:nvSpPr>
        <p:spPr>
          <a:xfrm>
            <a:off x="9829800" y="3200400"/>
            <a:ext cx="1645920" cy="1280160"/>
          </a:xfrm>
          <a:prstGeom prst="rect">
            <a:avLst/>
          </a:prstGeom>
          <a:noFill/>
          <a:ln/>
        </p:spPr>
        <p:txBody>
          <a:bodyPr wrap="square" lIns="0" tIns="0" rIns="0" bIns="0" rtlCol="0" anchor="ctr"/>
          <a:lstStyle/>
          <a:p>
            <a:pPr algn="l" indent="0" marL="0">
              <a:buNone/>
            </a:pPr>
            <a:r>
              <a:rPr lang="en-US" sz="1400" dirty="0">
                <a:solidFill>
                  <a:schemeClr val="tx2"/>
                </a:solidFill>
              </a:rPr>
              <a:t>fewer AI calls on the AP Desk</a:t>
            </a:r>
            <a:endParaRPr lang="en-US" sz="1400" dirty="0"/>
          </a:p>
        </p:txBody>
      </p:sp>
      <p:sp>
        <p:nvSpPr>
          <p:cNvPr id="12" name="card"/>
          <p:cNvSpPr/>
          <p:nvPr/>
        </p:nvSpPr>
        <p:spPr>
          <a:xfrm>
            <a:off x="7863840" y="4754880"/>
            <a:ext cx="3776472" cy="1371600"/>
          </a:xfrm>
          <a:prstGeom prst="roundRect">
            <a:avLst>
              <a:gd name="adj" fmla="val 8000"/>
            </a:avLst>
          </a:prstGeom>
          <a:solidFill>
            <a:schemeClr val="accent6"/>
          </a:solidFill>
          <a:ln/>
        </p:spPr>
      </p:sp>
      <p:sp>
        <p:nvSpPr>
          <p:cNvPr id="13" name="text"/>
          <p:cNvSpPr txBox="1"/>
          <p:nvPr/>
        </p:nvSpPr>
        <p:spPr>
          <a:xfrm>
            <a:off x="8092440" y="4846320"/>
            <a:ext cx="3337560" cy="1188720"/>
          </a:xfrm>
          <a:prstGeom prst="rect">
            <a:avLst/>
          </a:prstGeom>
          <a:noFill/>
          <a:ln/>
        </p:spPr>
        <p:txBody>
          <a:bodyPr wrap="square" lIns="0" tIns="0" rIns="0" bIns="0" rtlCol="0" anchor="ctr"/>
          <a:lstStyle/>
          <a:p>
            <a:pPr algn="l" indent="0" marL="0">
              <a:buNone/>
            </a:pPr>
            <a:r>
              <a:rPr lang="en-US" sz="1600" b="1" dirty="0">
                <a:solidFill>
                  <a:schemeClr val="tx1"/>
                </a:solidFill>
              </a:rPr>
              <a:t>Both 100/100 correct. AP Desk: about 10 minutes instead of about 70.</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1"/>
                </a:solidFill>
              </a:rPr>
              <a:t>Five test sites, each built to break the last</a:t>
            </a:r>
            <a:endParaRPr lang="en-US" sz="3200" dirty="0"/>
          </a:p>
        </p:txBody>
      </p:sp>
      <p:graphicFrame>
        <p:nvGraphicFramePr>
          <p:cNvPr id="7" name="sites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011680"/>
                <a:gridCol w="6035040"/>
                <a:gridCol w="3047695"/>
              </a:tblGrid>
              <a:tr h="457200">
                <a:tc>
                  <a:txBody>
                    <a:bodyPr/>
                    <a:lstStyle/>
                    <a:p>
                      <a:pPr indent="0" marL="0">
                        <a:buNone/>
                      </a:pPr>
                      <a:r>
                        <a:rPr lang="en-US" sz="1400" b="1" dirty="0">
                          <a:solidFill>
                            <a:schemeClr val="bg1"/>
                          </a:solidFill>
                        </a:rPr>
                        <a:t>Test site</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accent2"/>
                    </a:solidFill>
                  </a:tcPr>
                </a:tc>
                <a:tc>
                  <a:txBody>
                    <a:bodyPr/>
                    <a:lstStyle/>
                    <a:p>
                      <a:pPr indent="0" marL="0">
                        <a:buNone/>
                      </a:pPr>
                      <a:r>
                        <a:rPr lang="en-US" sz="1400" b="1" dirty="0">
                          <a:solidFill>
                            <a:schemeClr val="bg1"/>
                          </a:solidFill>
                        </a:rPr>
                        <a:t>What makes it hard</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accent2"/>
                    </a:solidFill>
                  </a:tcPr>
                </a:tc>
                <a:tc>
                  <a:txBody>
                    <a:bodyPr/>
                    <a:lstStyle/>
                    <a:p>
                      <a:pPr indent="0" marL="0">
                        <a:buNone/>
                      </a:pPr>
                      <a:r>
                        <a:rPr lang="en-US" sz="1400" b="1" dirty="0">
                          <a:solidFill>
                            <a:schemeClr val="bg1"/>
                          </a:solidFill>
                        </a:rPr>
                        <a:t>Result</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accent2"/>
                    </a:solidFill>
                  </a:tcPr>
                </a:tc>
              </a:tr>
              <a:tr h="713232">
                <a:tc>
                  <a:txBody>
                    <a:bodyPr/>
                    <a:lstStyle/>
                    <a:p>
                      <a:pPr indent="0" marL="0">
                        <a:buNone/>
                      </a:pPr>
                      <a:r>
                        <a:rPr lang="en-US" sz="1400" b="1" dirty="0">
                          <a:solidFill>
                            <a:schemeClr val="tx1"/>
                          </a:solidFill>
                        </a:rPr>
                        <a:t>Credit Desk</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Read a request and a ledger, apply rules, click Approve, Reject or Hold</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100/100, repeatedly</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r>
              <a:tr h="713232">
                <a:tc>
                  <a:txBody>
                    <a:bodyPr/>
                    <a:lstStyle/>
                    <a:p>
                      <a:pPr indent="0" marL="0">
                        <a:buNone/>
                      </a:pPr>
                      <a:r>
                        <a:rPr lang="en-US" sz="1400" b="1" dirty="0">
                          <a:solidFill>
                            <a:schemeClr val="tx1"/>
                          </a:solidFill>
                        </a:rPr>
                        <a:t>AP Desk</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Three-way invoice match across 4 pages, then a form with computed values</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100/100 (it started at 1/10)</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r>
              <a:tr h="713232">
                <a:tc>
                  <a:txBody>
                    <a:bodyPr/>
                    <a:lstStyle/>
                    <a:p>
                      <a:pPr indent="0" marL="0">
                        <a:buNone/>
                      </a:pPr>
                      <a:r>
                        <a:rPr lang="en-US" sz="1400" b="1" dirty="0">
                          <a:solidFill>
                            <a:schemeClr val="tx1"/>
                          </a:solidFill>
                        </a:rPr>
                        <a:t>Returns Desk</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Paging with no search, a calendar, a 20,000-character policy page, branching rules</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8/8 and 14/14 (small runs)</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r>
              <a:tr h="713232">
                <a:tc>
                  <a:txBody>
                    <a:bodyPr/>
                    <a:lstStyle/>
                    <a:p>
                      <a:pPr indent="0" marL="0">
                        <a:buNone/>
                      </a:pPr>
                      <a:r>
                        <a:rPr lang="en-US" sz="1400" b="1" dirty="0">
                          <a:solidFill>
                            <a:schemeClr val="tx1"/>
                          </a:solidFill>
                        </a:rPr>
                        <a:t>Expense Desk</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Single-page app, tabs, a 3-step wizard, ids that change on every load</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8/8, 16/16, 8/8, 8/8 (small runs)</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r>
              <a:tr h="713232">
                <a:tc>
                  <a:txBody>
                    <a:bodyPr/>
                    <a:lstStyle/>
                    <a:p>
                      <a:pPr indent="0" marL="0">
                        <a:buNone/>
                      </a:pPr>
                      <a:r>
                        <a:rPr lang="en-US" sz="1400" b="1" dirty="0">
                          <a:solidFill>
                            <a:schemeClr val="tx1"/>
                          </a:solidFill>
                        </a:rPr>
                        <a:t>Hazards Desk</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Login that expires, popups, a form inside an iframe, endless list, custom dropdowns</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1"/>
                          </a:solidFill>
                        </a:rPr>
                        <a:t>Built; not yet run live</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r>
            </a:tbl>
          </a:graphicData>
        </a:graphic>
      </p:graphicFrame>
      <p:sp>
        <p:nvSpPr>
          <p:cNvPr id="5" name="text"/>
          <p:cNvSpPr txBox="1"/>
          <p:nvPr/>
        </p:nvSpPr>
        <p:spPr>
          <a:xfrm>
            <a:off x="548640" y="5760720"/>
            <a:ext cx="11094415" cy="411480"/>
          </a:xfrm>
          <a:prstGeom prst="rect">
            <a:avLst/>
          </a:prstGeom>
          <a:noFill/>
          <a:ln/>
        </p:spPr>
        <p:txBody>
          <a:bodyPr wrap="square" lIns="0" tIns="0" rIns="0" bIns="0" rtlCol="0" anchor="t"/>
          <a:lstStyle/>
          <a:p>
            <a:pPr algn="l" indent="0" marL="0">
              <a:buNone/>
            </a:pPr>
            <a:r>
              <a:rPr lang="en-US" sz="1400" i="1" dirty="0">
                <a:solidFill>
                  <a:schemeClr val="tx2"/>
                </a:solidFill>
              </a:rPr>
              <a:t>All five sites were built in-house to be unlike each other. No third-party site has been tested yet.</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1"/>
                </a:solidFill>
              </a:rPr>
              <a:t>What went right</a:t>
            </a:r>
            <a:endParaRPr lang="en-US" sz="3200" dirty="0"/>
          </a:p>
        </p:txBody>
      </p:sp>
      <p:sp>
        <p:nvSpPr>
          <p:cNvPr id="4" name="card"/>
          <p:cNvSpPr/>
          <p:nvPr/>
        </p:nvSpPr>
        <p:spPr>
          <a:xfrm>
            <a:off x="548640" y="1508760"/>
            <a:ext cx="5440680" cy="2148840"/>
          </a:xfrm>
          <a:prstGeom prst="roundRect">
            <a:avLst>
              <a:gd name="adj" fmla="val 5106"/>
            </a:avLst>
          </a:prstGeom>
          <a:solidFill>
            <a:schemeClr val="bg1"/>
          </a:solidFill>
          <a:ln/>
          <a:effectLst>
            <a:outerShdw sx="100000" sy="100000" kx="0" ky="0" algn="bl" rotWithShape="0" blurRad="88900" dist="25400" dir="5400000">
              <a:srgbClr val="000000">
                <a:alpha val="13000"/>
              </a:srgbClr>
            </a:outerShdw>
          </a:effectLst>
        </p:spPr>
      </p:sp>
      <p:sp>
        <p:nvSpPr>
          <p:cNvPr id="5" name="circle"/>
          <p:cNvSpPr/>
          <p:nvPr/>
        </p:nvSpPr>
        <p:spPr>
          <a:xfrm>
            <a:off x="822960" y="1828800"/>
            <a:ext cx="822960" cy="822960"/>
          </a:xfrm>
          <a:prstGeom prst="ellipse">
            <a:avLst/>
          </a:prstGeom>
          <a:solidFill>
            <a:schemeClr val="accent4"/>
          </a:solidFill>
          <a:ln/>
        </p:spPr>
      </p:sp>
      <p:pic>
        <p:nvPicPr>
          <p:cNvPr id="6" name="icon FaCalculator" descr="Calculator icon">    </p:cNvPr>
          <p:cNvPicPr>
            <a:picLocks noChangeAspect="1"/>
          </p:cNvPicPr>
          <p:nvPr/>
        </p:nvPicPr>
        <p:blipFill>
          <a:blip r:embed="rId1"/>
          <a:stretch>
            <a:fillRect/>
          </a:stretch>
        </p:blipFill>
        <p:spPr>
          <a:xfrm>
            <a:off x="1004011" y="2009851"/>
            <a:ext cx="460858" cy="460858"/>
          </a:xfrm>
          <a:prstGeom prst="rect">
            <a:avLst/>
          </a:prstGeom>
        </p:spPr>
      </p:pic>
      <p:sp>
        <p:nvSpPr>
          <p:cNvPr id="7" name="text"/>
          <p:cNvSpPr txBox="1"/>
          <p:nvPr/>
        </p:nvSpPr>
        <p:spPr>
          <a:xfrm>
            <a:off x="1920240" y="1783080"/>
            <a:ext cx="3840480" cy="457200"/>
          </a:xfrm>
          <a:prstGeom prst="rect">
            <a:avLst/>
          </a:prstGeom>
          <a:noFill/>
          <a:ln/>
        </p:spPr>
        <p:txBody>
          <a:bodyPr wrap="square" lIns="0" tIns="0" rIns="0" bIns="0" rtlCol="0" anchor="t"/>
          <a:lstStyle/>
          <a:p>
            <a:pPr algn="l" indent="0" marL="0">
              <a:buNone/>
            </a:pPr>
            <a:r>
              <a:rPr lang="en-US" sz="2000" b="1" dirty="0">
                <a:solidFill>
                  <a:schemeClr val="tx1"/>
                </a:solidFill>
              </a:rPr>
              <a:t>Code does the arithmetic</a:t>
            </a:r>
            <a:endParaRPr lang="en-US" sz="2000" dirty="0"/>
          </a:p>
        </p:txBody>
      </p:sp>
      <p:sp>
        <p:nvSpPr>
          <p:cNvPr id="8" name="text"/>
          <p:cNvSpPr txBox="1"/>
          <p:nvPr/>
        </p:nvSpPr>
        <p:spPr>
          <a:xfrm>
            <a:off x="1920240" y="2313432"/>
            <a:ext cx="3840480" cy="1234440"/>
          </a:xfrm>
          <a:prstGeom prst="rect">
            <a:avLst/>
          </a:prstGeom>
          <a:noFill/>
          <a:ln/>
        </p:spPr>
        <p:txBody>
          <a:bodyPr wrap="square" lIns="0" tIns="0" rIns="0" bIns="0" rtlCol="0" anchor="t"/>
          <a:lstStyle/>
          <a:p>
            <a:pPr algn="l" indent="0" marL="0">
              <a:buNone/>
            </a:pPr>
            <a:r>
              <a:rPr lang="en-US" sz="1600" dirty="0">
                <a:solidFill>
                  <a:schemeClr val="tx2"/>
                </a:solidFill>
              </a:rPr>
              <a:t>The AI writes rules as formulas and code evaluates them in order. Credit Desk accuracy rose from about 80% to 100%.</a:t>
            </a:r>
            <a:endParaRPr lang="en-US" sz="1600" dirty="0"/>
          </a:p>
        </p:txBody>
      </p:sp>
      <p:sp>
        <p:nvSpPr>
          <p:cNvPr id="9" name="card"/>
          <p:cNvSpPr/>
          <p:nvPr/>
        </p:nvSpPr>
        <p:spPr>
          <a:xfrm>
            <a:off x="6199632" y="1508760"/>
            <a:ext cx="5440680" cy="2148840"/>
          </a:xfrm>
          <a:prstGeom prst="roundRect">
            <a:avLst>
              <a:gd name="adj" fmla="val 5106"/>
            </a:avLst>
          </a:prstGeom>
          <a:solidFill>
            <a:schemeClr val="bg1"/>
          </a:solidFill>
          <a:ln/>
          <a:effectLst>
            <a:outerShdw sx="100000" sy="100000" kx="0" ky="0" algn="bl" rotWithShape="0" blurRad="88900" dist="25400" dir="5400000">
              <a:srgbClr val="000000">
                <a:alpha val="13000"/>
              </a:srgbClr>
            </a:outerShdw>
          </a:effectLst>
        </p:spPr>
      </p:sp>
      <p:sp>
        <p:nvSpPr>
          <p:cNvPr id="10" name="circle"/>
          <p:cNvSpPr/>
          <p:nvPr/>
        </p:nvSpPr>
        <p:spPr>
          <a:xfrm>
            <a:off x="6473952" y="1828800"/>
            <a:ext cx="822960" cy="822960"/>
          </a:xfrm>
          <a:prstGeom prst="ellipse">
            <a:avLst/>
          </a:prstGeom>
          <a:solidFill>
            <a:schemeClr val="accent4"/>
          </a:solidFill>
          <a:ln/>
        </p:spPr>
      </p:sp>
      <p:pic>
        <p:nvPicPr>
          <p:cNvPr id="11" name="icon FaBalanceScale" descr="BalanceScale icon">    </p:cNvPr>
          <p:cNvPicPr>
            <a:picLocks noChangeAspect="1"/>
          </p:cNvPicPr>
          <p:nvPr/>
        </p:nvPicPr>
        <p:blipFill>
          <a:blip r:embed="rId2"/>
          <a:stretch>
            <a:fillRect/>
          </a:stretch>
        </p:blipFill>
        <p:spPr>
          <a:xfrm>
            <a:off x="6655003" y="2009851"/>
            <a:ext cx="460858" cy="460858"/>
          </a:xfrm>
          <a:prstGeom prst="rect">
            <a:avLst/>
          </a:prstGeom>
        </p:spPr>
      </p:pic>
      <p:sp>
        <p:nvSpPr>
          <p:cNvPr id="12" name="text"/>
          <p:cNvSpPr txBox="1"/>
          <p:nvPr/>
        </p:nvSpPr>
        <p:spPr>
          <a:xfrm>
            <a:off x="7571232" y="1783080"/>
            <a:ext cx="3840480" cy="457200"/>
          </a:xfrm>
          <a:prstGeom prst="rect">
            <a:avLst/>
          </a:prstGeom>
          <a:noFill/>
          <a:ln/>
        </p:spPr>
        <p:txBody>
          <a:bodyPr wrap="square" lIns="0" tIns="0" rIns="0" bIns="0" rtlCol="0" anchor="t"/>
          <a:lstStyle/>
          <a:p>
            <a:pPr algn="l" indent="0" marL="0">
              <a:buNone/>
            </a:pPr>
            <a:r>
              <a:rPr lang="en-US" sz="2000" b="1" dirty="0">
                <a:solidFill>
                  <a:schemeClr val="tx1"/>
                </a:solidFill>
              </a:rPr>
              <a:t>Plans prove themselves first</a:t>
            </a:r>
            <a:endParaRPr lang="en-US" sz="2000" dirty="0"/>
          </a:p>
        </p:txBody>
      </p:sp>
      <p:sp>
        <p:nvSpPr>
          <p:cNvPr id="13" name="text"/>
          <p:cNvSpPr txBox="1"/>
          <p:nvPr/>
        </p:nvSpPr>
        <p:spPr>
          <a:xfrm>
            <a:off x="7571232" y="2313432"/>
            <a:ext cx="3840480" cy="1234440"/>
          </a:xfrm>
          <a:prstGeom prst="rect">
            <a:avLst/>
          </a:prstGeom>
          <a:noFill/>
          <a:ln/>
        </p:spPr>
        <p:txBody>
          <a:bodyPr wrap="square" lIns="0" tIns="0" rIns="0" bIns="0" rtlCol="0" anchor="t"/>
          <a:lstStyle/>
          <a:p>
            <a:pPr algn="l" indent="0" marL="0">
              <a:buNone/>
            </a:pPr>
            <a:r>
              <a:rPr lang="en-US" sz="1600" dirty="0">
                <a:solidFill>
                  <a:schemeClr val="tx2"/>
                </a:solidFill>
              </a:rPr>
              <a:t>A new plan runs beside the live agent and must agree before it is trusted, and then only for the kinds of case it has matched.</a:t>
            </a:r>
            <a:endParaRPr lang="en-US" sz="1600" dirty="0"/>
          </a:p>
        </p:txBody>
      </p:sp>
      <p:sp>
        <p:nvSpPr>
          <p:cNvPr id="14" name="card"/>
          <p:cNvSpPr/>
          <p:nvPr/>
        </p:nvSpPr>
        <p:spPr>
          <a:xfrm>
            <a:off x="548640" y="3886200"/>
            <a:ext cx="5440680" cy="2148840"/>
          </a:xfrm>
          <a:prstGeom prst="roundRect">
            <a:avLst>
              <a:gd name="adj" fmla="val 5106"/>
            </a:avLst>
          </a:prstGeom>
          <a:solidFill>
            <a:schemeClr val="bg1"/>
          </a:solidFill>
          <a:ln/>
          <a:effectLst>
            <a:outerShdw sx="100000" sy="100000" kx="0" ky="0" algn="bl" rotWithShape="0" blurRad="88900" dist="25400" dir="5400000">
              <a:srgbClr val="000000">
                <a:alpha val="13000"/>
              </a:srgbClr>
            </a:outerShdw>
          </a:effectLst>
        </p:spPr>
      </p:sp>
      <p:sp>
        <p:nvSpPr>
          <p:cNvPr id="15" name="circle"/>
          <p:cNvSpPr/>
          <p:nvPr/>
        </p:nvSpPr>
        <p:spPr>
          <a:xfrm>
            <a:off x="822960" y="4206240"/>
            <a:ext cx="822960" cy="822960"/>
          </a:xfrm>
          <a:prstGeom prst="ellipse">
            <a:avLst/>
          </a:prstGeom>
          <a:solidFill>
            <a:schemeClr val="accent4"/>
          </a:solidFill>
          <a:ln/>
        </p:spPr>
      </p:sp>
      <p:pic>
        <p:nvPicPr>
          <p:cNvPr id="16" name="icon FaTools" descr="Tools icon">    </p:cNvPr>
          <p:cNvPicPr>
            <a:picLocks noChangeAspect="1"/>
          </p:cNvPicPr>
          <p:nvPr/>
        </p:nvPicPr>
        <p:blipFill>
          <a:blip r:embed="rId3"/>
          <a:stretch>
            <a:fillRect/>
          </a:stretch>
        </p:blipFill>
        <p:spPr>
          <a:xfrm>
            <a:off x="1004011" y="4387291"/>
            <a:ext cx="460858" cy="460858"/>
          </a:xfrm>
          <a:prstGeom prst="rect">
            <a:avLst/>
          </a:prstGeom>
        </p:spPr>
      </p:pic>
      <p:sp>
        <p:nvSpPr>
          <p:cNvPr id="17" name="text"/>
          <p:cNvSpPr txBox="1"/>
          <p:nvPr/>
        </p:nvSpPr>
        <p:spPr>
          <a:xfrm>
            <a:off x="1920240" y="4160520"/>
            <a:ext cx="3840480" cy="457200"/>
          </a:xfrm>
          <a:prstGeom prst="rect">
            <a:avLst/>
          </a:prstGeom>
          <a:noFill/>
          <a:ln/>
        </p:spPr>
        <p:txBody>
          <a:bodyPr wrap="square" lIns="0" tIns="0" rIns="0" bIns="0" rtlCol="0" anchor="t"/>
          <a:lstStyle/>
          <a:p>
            <a:pPr algn="l" indent="0" marL="0">
              <a:buNone/>
            </a:pPr>
            <a:r>
              <a:rPr lang="en-US" sz="2000" b="1" dirty="0">
                <a:solidFill>
                  <a:schemeClr val="tx1"/>
                </a:solidFill>
              </a:rPr>
              <a:t>Fixes were general</a:t>
            </a:r>
            <a:endParaRPr lang="en-US" sz="2000" dirty="0"/>
          </a:p>
        </p:txBody>
      </p:sp>
      <p:sp>
        <p:nvSpPr>
          <p:cNvPr id="18" name="text"/>
          <p:cNvSpPr txBox="1"/>
          <p:nvPr/>
        </p:nvSpPr>
        <p:spPr>
          <a:xfrm>
            <a:off x="1920240" y="4690872"/>
            <a:ext cx="3840480" cy="1234440"/>
          </a:xfrm>
          <a:prstGeom prst="rect">
            <a:avLst/>
          </a:prstGeom>
          <a:noFill/>
          <a:ln/>
        </p:spPr>
        <p:txBody>
          <a:bodyPr wrap="square" lIns="0" tIns="0" rIns="0" bIns="0" rtlCol="0" anchor="t"/>
          <a:lstStyle/>
          <a:p>
            <a:pPr algn="l" indent="0" marL="0">
              <a:buNone/>
            </a:pPr>
            <a:r>
              <a:rPr lang="en-US" sz="1600" dirty="0">
                <a:solidFill>
                  <a:schemeClr val="tx2"/>
                </a:solidFill>
              </a:rPr>
              <a:t>Each new test site broke something. Every fix was made for all sites, never just for one.</a:t>
            </a:r>
            <a:endParaRPr lang="en-US" sz="1600" dirty="0"/>
          </a:p>
        </p:txBody>
      </p:sp>
      <p:sp>
        <p:nvSpPr>
          <p:cNvPr id="19" name="card"/>
          <p:cNvSpPr/>
          <p:nvPr/>
        </p:nvSpPr>
        <p:spPr>
          <a:xfrm>
            <a:off x="6199632" y="3886200"/>
            <a:ext cx="5440680" cy="2148840"/>
          </a:xfrm>
          <a:prstGeom prst="roundRect">
            <a:avLst>
              <a:gd name="adj" fmla="val 5106"/>
            </a:avLst>
          </a:prstGeom>
          <a:solidFill>
            <a:schemeClr val="bg1"/>
          </a:solidFill>
          <a:ln/>
          <a:effectLst>
            <a:outerShdw sx="100000" sy="100000" kx="0" ky="0" algn="bl" rotWithShape="0" blurRad="88900" dist="25400" dir="5400000">
              <a:srgbClr val="000000">
                <a:alpha val="13000"/>
              </a:srgbClr>
            </a:outerShdw>
          </a:effectLst>
        </p:spPr>
      </p:sp>
      <p:sp>
        <p:nvSpPr>
          <p:cNvPr id="20" name="circle"/>
          <p:cNvSpPr/>
          <p:nvPr/>
        </p:nvSpPr>
        <p:spPr>
          <a:xfrm>
            <a:off x="6473952" y="4206240"/>
            <a:ext cx="822960" cy="822960"/>
          </a:xfrm>
          <a:prstGeom prst="ellipse">
            <a:avLst/>
          </a:prstGeom>
          <a:solidFill>
            <a:schemeClr val="accent4"/>
          </a:solidFill>
          <a:ln/>
        </p:spPr>
      </p:sp>
      <p:pic>
        <p:nvPicPr>
          <p:cNvPr id="21" name="icon FaClipboardCheck" descr="ClipboardCheck icon">    </p:cNvPr>
          <p:cNvPicPr>
            <a:picLocks noChangeAspect="1"/>
          </p:cNvPicPr>
          <p:nvPr/>
        </p:nvPicPr>
        <p:blipFill>
          <a:blip r:embed="rId4"/>
          <a:stretch>
            <a:fillRect/>
          </a:stretch>
        </p:blipFill>
        <p:spPr>
          <a:xfrm>
            <a:off x="6655003" y="4387291"/>
            <a:ext cx="460858" cy="460858"/>
          </a:xfrm>
          <a:prstGeom prst="rect">
            <a:avLst/>
          </a:prstGeom>
        </p:spPr>
      </p:pic>
      <p:sp>
        <p:nvSpPr>
          <p:cNvPr id="22" name="text"/>
          <p:cNvSpPr txBox="1"/>
          <p:nvPr/>
        </p:nvSpPr>
        <p:spPr>
          <a:xfrm>
            <a:off x="7571232" y="4160520"/>
            <a:ext cx="3840480" cy="457200"/>
          </a:xfrm>
          <a:prstGeom prst="rect">
            <a:avLst/>
          </a:prstGeom>
          <a:noFill/>
          <a:ln/>
        </p:spPr>
        <p:txBody>
          <a:bodyPr wrap="square" lIns="0" tIns="0" rIns="0" bIns="0" rtlCol="0" anchor="t"/>
          <a:lstStyle/>
          <a:p>
            <a:pPr algn="l" indent="0" marL="0">
              <a:buNone/>
            </a:pPr>
            <a:r>
              <a:rPr lang="en-US" sz="2000" b="1" dirty="0">
                <a:solidFill>
                  <a:schemeClr val="tx1"/>
                </a:solidFill>
              </a:rPr>
              <a:t>Everything was graded</a:t>
            </a:r>
            <a:endParaRPr lang="en-US" sz="2000" dirty="0"/>
          </a:p>
        </p:txBody>
      </p:sp>
      <p:sp>
        <p:nvSpPr>
          <p:cNvPr id="23" name="text"/>
          <p:cNvSpPr txBox="1"/>
          <p:nvPr/>
        </p:nvSpPr>
        <p:spPr>
          <a:xfrm>
            <a:off x="7571232" y="4690872"/>
            <a:ext cx="3840480" cy="1234440"/>
          </a:xfrm>
          <a:prstGeom prst="rect">
            <a:avLst/>
          </a:prstGeom>
          <a:noFill/>
          <a:ln/>
        </p:spPr>
        <p:txBody>
          <a:bodyPr wrap="square" lIns="0" tIns="0" rIns="0" bIns="0" rtlCol="0" anchor="t"/>
          <a:lstStyle/>
          <a:p>
            <a:pPr algn="l" indent="0" marL="0">
              <a:buNone/>
            </a:pPr>
            <a:r>
              <a:rPr lang="en-US" sz="1600" dirty="0">
                <a:solidFill>
                  <a:schemeClr val="tx2"/>
                </a:solidFill>
              </a:rPr>
              <a:t>Answer keys and independent graders turned 'it looks fine' into a measured accuracy.</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1"/>
                </a:solidFill>
              </a:rPr>
              <a:t>Wrong turn 1: a cache that fails silently</a:t>
            </a:r>
            <a:endParaRPr lang="en-US" sz="3200" dirty="0"/>
          </a:p>
        </p:txBody>
      </p:sp>
      <p:sp>
        <p:nvSpPr>
          <p:cNvPr id="4" name="card"/>
          <p:cNvSpPr/>
          <p:nvPr/>
        </p:nvSpPr>
        <p:spPr>
          <a:xfrm>
            <a:off x="548640" y="1508760"/>
            <a:ext cx="3840480" cy="3931920"/>
          </a:xfrm>
          <a:prstGeom prst="roundRect">
            <a:avLst>
              <a:gd name="adj" fmla="val 2857"/>
            </a:avLst>
          </a:prstGeom>
          <a:solidFill>
            <a:schemeClr val="bg1"/>
          </a:solidFill>
          <a:ln/>
          <a:effectLst>
            <a:outerShdw sx="100000" sy="100000" kx="0" ky="0" algn="bl" rotWithShape="0" blurRad="88900" dist="25400" dir="5400000">
              <a:srgbClr val="000000">
                <a:alpha val="13000"/>
              </a:srgbClr>
            </a:outerShdw>
          </a:effectLst>
        </p:spPr>
      </p:sp>
      <p:sp>
        <p:nvSpPr>
          <p:cNvPr id="5" name="text"/>
          <p:cNvSpPr txBox="1"/>
          <p:nvPr/>
        </p:nvSpPr>
        <p:spPr>
          <a:xfrm>
            <a:off x="822960" y="1783080"/>
            <a:ext cx="3291840" cy="1280160"/>
          </a:xfrm>
          <a:prstGeom prst="rect">
            <a:avLst/>
          </a:prstGeom>
          <a:noFill/>
          <a:ln/>
        </p:spPr>
        <p:txBody>
          <a:bodyPr wrap="square" lIns="0" tIns="0" rIns="0" bIns="0" rtlCol="0" anchor="ctr"/>
          <a:lstStyle/>
          <a:p>
            <a:pPr algn="l" indent="0" marL="0">
              <a:buNone/>
            </a:pPr>
            <a:r>
              <a:rPr lang="en-US" sz="7200" b="1" dirty="0">
                <a:solidFill>
                  <a:schemeClr val="accent3"/>
                </a:solidFill>
              </a:rPr>
              <a:t>1 / 10</a:t>
            </a:r>
            <a:endParaRPr lang="en-US" sz="7200" dirty="0"/>
          </a:p>
        </p:txBody>
      </p:sp>
      <p:sp>
        <p:nvSpPr>
          <p:cNvPr id="6" name="text"/>
          <p:cNvSpPr txBox="1"/>
          <p:nvPr/>
        </p:nvSpPr>
        <p:spPr>
          <a:xfrm>
            <a:off x="822960" y="3108960"/>
            <a:ext cx="3291840" cy="457200"/>
          </a:xfrm>
          <a:prstGeom prst="rect">
            <a:avLst/>
          </a:prstGeom>
          <a:noFill/>
          <a:ln/>
        </p:spPr>
        <p:txBody>
          <a:bodyPr wrap="square" lIns="0" tIns="0" rIns="0" bIns="0" rtlCol="0" anchor="t"/>
          <a:lstStyle/>
          <a:p>
            <a:pPr algn="l" indent="0" marL="0">
              <a:buNone/>
            </a:pPr>
            <a:r>
              <a:rPr lang="en-US" sz="1800" b="1" dirty="0">
                <a:solidFill>
                  <a:schemeClr val="tx1"/>
                </a:solidFill>
              </a:rPr>
              <a:t>AP Desk, first attempt</a:t>
            </a:r>
            <a:endParaRPr lang="en-US" sz="1800" dirty="0"/>
          </a:p>
        </p:txBody>
      </p:sp>
      <p:sp>
        <p:nvSpPr>
          <p:cNvPr id="7" name="text"/>
          <p:cNvSpPr txBox="1"/>
          <p:nvPr/>
        </p:nvSpPr>
        <p:spPr>
          <a:xfrm>
            <a:off x="822960" y="3657600"/>
            <a:ext cx="3291840" cy="1554480"/>
          </a:xfrm>
          <a:prstGeom prst="rect">
            <a:avLst/>
          </a:prstGeom>
          <a:noFill/>
          <a:ln/>
        </p:spPr>
        <p:txBody>
          <a:bodyPr wrap="square" lIns="0" tIns="0" rIns="0" bIns="0" rtlCol="0" anchor="t"/>
          <a:lstStyle/>
          <a:p>
            <a:pPr algn="l" indent="0" marL="0">
              <a:buNone/>
            </a:pPr>
            <a:r>
              <a:rPr lang="en-US" sz="1600" dirty="0">
                <a:solidFill>
                  <a:schemeClr val="tx2"/>
                </a:solidFill>
              </a:rPr>
              <a:t>Nine of the ten 'successes' were wrong: the same record processed again and again.</a:t>
            </a:r>
            <a:endParaRPr lang="en-US" sz="1600" dirty="0"/>
          </a:p>
        </p:txBody>
      </p:sp>
      <p:sp>
        <p:nvSpPr>
          <p:cNvPr id="8" name="card"/>
          <p:cNvSpPr/>
          <p:nvPr/>
        </p:nvSpPr>
        <p:spPr>
          <a:xfrm>
            <a:off x="4663440" y="1508760"/>
            <a:ext cx="6976872" cy="1234440"/>
          </a:xfrm>
          <a:prstGeom prst="roundRect">
            <a:avLst>
              <a:gd name="adj" fmla="val 8889"/>
            </a:avLst>
          </a:prstGeom>
          <a:solidFill>
            <a:schemeClr val="bg1"/>
          </a:solidFill>
          <a:ln/>
          <a:effectLst>
            <a:outerShdw sx="100000" sy="100000" kx="0" ky="0" algn="bl" rotWithShape="0" blurRad="88900" dist="25400" dir="5400000">
              <a:srgbClr val="000000">
                <a:alpha val="13000"/>
              </a:srgbClr>
            </a:outerShdw>
          </a:effectLst>
        </p:spPr>
      </p:sp>
      <p:sp>
        <p:nvSpPr>
          <p:cNvPr id="9" name="circle"/>
          <p:cNvSpPr/>
          <p:nvPr/>
        </p:nvSpPr>
        <p:spPr>
          <a:xfrm>
            <a:off x="4892040" y="1801368"/>
            <a:ext cx="640080" cy="640080"/>
          </a:xfrm>
          <a:prstGeom prst="ellipse">
            <a:avLst/>
          </a:prstGeom>
          <a:solidFill>
            <a:schemeClr val="accent3"/>
          </a:solidFill>
          <a:ln/>
        </p:spPr>
      </p:sp>
      <p:pic>
        <p:nvPicPr>
          <p:cNvPr id="10" name="icon FaCopy" descr="Copy icon">    </p:cNvPr>
          <p:cNvPicPr>
            <a:picLocks noChangeAspect="1"/>
          </p:cNvPicPr>
          <p:nvPr/>
        </p:nvPicPr>
        <p:blipFill>
          <a:blip r:embed="rId1"/>
          <a:stretch>
            <a:fillRect/>
          </a:stretch>
        </p:blipFill>
        <p:spPr>
          <a:xfrm>
            <a:off x="5032858" y="1942186"/>
            <a:ext cx="358445" cy="358445"/>
          </a:xfrm>
          <a:prstGeom prst="rect">
            <a:avLst/>
          </a:prstGeom>
        </p:spPr>
      </p:pic>
      <p:sp>
        <p:nvSpPr>
          <p:cNvPr id="11" name="text"/>
          <p:cNvSpPr txBox="1"/>
          <p:nvPr/>
        </p:nvSpPr>
        <p:spPr>
          <a:xfrm>
            <a:off x="5760720" y="1618488"/>
            <a:ext cx="5669280" cy="365760"/>
          </a:xfrm>
          <a:prstGeom prst="rect">
            <a:avLst/>
          </a:prstGeom>
          <a:noFill/>
          <a:ln/>
        </p:spPr>
        <p:txBody>
          <a:bodyPr wrap="square" lIns="0" tIns="0" rIns="0" bIns="0" rtlCol="0" anchor="t"/>
          <a:lstStyle/>
          <a:p>
            <a:pPr algn="l" indent="0" marL="0">
              <a:buNone/>
            </a:pPr>
            <a:r>
              <a:rPr lang="en-US" sz="1800" b="1" dirty="0">
                <a:solidFill>
                  <a:schemeClr val="tx1"/>
                </a:solidFill>
              </a:rPr>
              <a:t>What happened</a:t>
            </a:r>
            <a:endParaRPr lang="en-US" sz="1800" dirty="0"/>
          </a:p>
        </p:txBody>
      </p:sp>
      <p:sp>
        <p:nvSpPr>
          <p:cNvPr id="12" name="text"/>
          <p:cNvSpPr txBox="1"/>
          <p:nvPr/>
        </p:nvSpPr>
        <p:spPr>
          <a:xfrm>
            <a:off x="5760720" y="1984248"/>
            <a:ext cx="5669280" cy="713232"/>
          </a:xfrm>
          <a:prstGeom prst="rect">
            <a:avLst/>
          </a:prstGeom>
          <a:noFill/>
          <a:ln/>
        </p:spPr>
        <p:txBody>
          <a:bodyPr wrap="square" lIns="0" tIns="0" rIns="0" bIns="0" rtlCol="0" anchor="t"/>
          <a:lstStyle/>
          <a:p>
            <a:pPr algn="l" indent="0" marL="0">
              <a:buNone/>
            </a:pPr>
            <a:r>
              <a:rPr lang="en-US" sz="1400" dirty="0">
                <a:solidFill>
                  <a:schemeClr val="tx2"/>
                </a:solidFill>
              </a:rPr>
              <a:t>The old cache replayed the first record's clicks for every record, including a link to that record's own invoice.</a:t>
            </a:r>
            <a:endParaRPr lang="en-US" sz="1400" dirty="0"/>
          </a:p>
        </p:txBody>
      </p:sp>
      <p:sp>
        <p:nvSpPr>
          <p:cNvPr id="13" name="card"/>
          <p:cNvSpPr/>
          <p:nvPr/>
        </p:nvSpPr>
        <p:spPr>
          <a:xfrm>
            <a:off x="4663440" y="2880360"/>
            <a:ext cx="6976872" cy="1234440"/>
          </a:xfrm>
          <a:prstGeom prst="roundRect">
            <a:avLst>
              <a:gd name="adj" fmla="val 8889"/>
            </a:avLst>
          </a:prstGeom>
          <a:solidFill>
            <a:schemeClr val="bg1"/>
          </a:solidFill>
          <a:ln/>
          <a:effectLst>
            <a:outerShdw sx="100000" sy="100000" kx="0" ky="0" algn="bl" rotWithShape="0" blurRad="88900" dist="25400" dir="5400000">
              <a:srgbClr val="000000">
                <a:alpha val="13000"/>
              </a:srgbClr>
            </a:outerShdw>
          </a:effectLst>
        </p:spPr>
      </p:sp>
      <p:sp>
        <p:nvSpPr>
          <p:cNvPr id="14" name="circle"/>
          <p:cNvSpPr/>
          <p:nvPr/>
        </p:nvSpPr>
        <p:spPr>
          <a:xfrm>
            <a:off x="4892040" y="3172968"/>
            <a:ext cx="640080" cy="640080"/>
          </a:xfrm>
          <a:prstGeom prst="ellipse">
            <a:avLst/>
          </a:prstGeom>
          <a:solidFill>
            <a:schemeClr val="accent3"/>
          </a:solidFill>
          <a:ln/>
        </p:spPr>
      </p:sp>
      <p:pic>
        <p:nvPicPr>
          <p:cNvPr id="15" name="icon FaEyeSlash" descr="EyeSlash icon">    </p:cNvPr>
          <p:cNvPicPr>
            <a:picLocks noChangeAspect="1"/>
          </p:cNvPicPr>
          <p:nvPr/>
        </p:nvPicPr>
        <p:blipFill>
          <a:blip r:embed="rId2"/>
          <a:stretch>
            <a:fillRect/>
          </a:stretch>
        </p:blipFill>
        <p:spPr>
          <a:xfrm>
            <a:off x="5032858" y="3313786"/>
            <a:ext cx="358445" cy="358445"/>
          </a:xfrm>
          <a:prstGeom prst="rect">
            <a:avLst/>
          </a:prstGeom>
        </p:spPr>
      </p:pic>
      <p:sp>
        <p:nvSpPr>
          <p:cNvPr id="16" name="text"/>
          <p:cNvSpPr txBox="1"/>
          <p:nvPr/>
        </p:nvSpPr>
        <p:spPr>
          <a:xfrm>
            <a:off x="5760720" y="2990088"/>
            <a:ext cx="5669280" cy="365760"/>
          </a:xfrm>
          <a:prstGeom prst="rect">
            <a:avLst/>
          </a:prstGeom>
          <a:noFill/>
          <a:ln/>
        </p:spPr>
        <p:txBody>
          <a:bodyPr wrap="square" lIns="0" tIns="0" rIns="0" bIns="0" rtlCol="0" anchor="t"/>
          <a:lstStyle/>
          <a:p>
            <a:pPr algn="l" indent="0" marL="0">
              <a:buNone/>
            </a:pPr>
            <a:r>
              <a:rPr lang="en-US" sz="1800" b="1" dirty="0">
                <a:solidFill>
                  <a:schemeClr val="tx1"/>
                </a:solidFill>
              </a:rPr>
              <a:t>Why it was dangerous</a:t>
            </a:r>
            <a:endParaRPr lang="en-US" sz="1800" dirty="0"/>
          </a:p>
        </p:txBody>
      </p:sp>
      <p:sp>
        <p:nvSpPr>
          <p:cNvPr id="17" name="text"/>
          <p:cNvSpPr txBox="1"/>
          <p:nvPr/>
        </p:nvSpPr>
        <p:spPr>
          <a:xfrm>
            <a:off x="5760720" y="3355848"/>
            <a:ext cx="5669280" cy="713232"/>
          </a:xfrm>
          <a:prstGeom prst="rect">
            <a:avLst/>
          </a:prstGeom>
          <a:noFill/>
          <a:ln/>
        </p:spPr>
        <p:txBody>
          <a:bodyPr wrap="square" lIns="0" tIns="0" rIns="0" bIns="0" rtlCol="0" anchor="t"/>
          <a:lstStyle/>
          <a:p>
            <a:pPr algn="l" indent="0" marL="0">
              <a:buNone/>
            </a:pPr>
            <a:r>
              <a:rPr lang="en-US" sz="1400" dirty="0">
                <a:solidFill>
                  <a:schemeClr val="tx2"/>
                </a:solidFill>
              </a:rPr>
              <a:t>Nine records reported success and nothing crashed. Only refused saves and an outside grader revealed the problem.</a:t>
            </a:r>
            <a:endParaRPr lang="en-US" sz="1400" dirty="0"/>
          </a:p>
        </p:txBody>
      </p:sp>
      <p:sp>
        <p:nvSpPr>
          <p:cNvPr id="18" name="card"/>
          <p:cNvSpPr/>
          <p:nvPr/>
        </p:nvSpPr>
        <p:spPr>
          <a:xfrm>
            <a:off x="4663440" y="4251960"/>
            <a:ext cx="6976872" cy="1234440"/>
          </a:xfrm>
          <a:prstGeom prst="roundRect">
            <a:avLst>
              <a:gd name="adj" fmla="val 8889"/>
            </a:avLst>
          </a:prstGeom>
          <a:solidFill>
            <a:schemeClr val="bg1"/>
          </a:solidFill>
          <a:ln/>
          <a:effectLst>
            <a:outerShdw sx="100000" sy="100000" kx="0" ky="0" algn="bl" rotWithShape="0" blurRad="88900" dist="25400" dir="5400000">
              <a:srgbClr val="000000">
                <a:alpha val="13000"/>
              </a:srgbClr>
            </a:outerShdw>
          </a:effectLst>
        </p:spPr>
      </p:sp>
      <p:sp>
        <p:nvSpPr>
          <p:cNvPr id="19" name="circle"/>
          <p:cNvSpPr/>
          <p:nvPr/>
        </p:nvSpPr>
        <p:spPr>
          <a:xfrm>
            <a:off x="4892040" y="4544568"/>
            <a:ext cx="640080" cy="640080"/>
          </a:xfrm>
          <a:prstGeom prst="ellipse">
            <a:avLst/>
          </a:prstGeom>
          <a:solidFill>
            <a:schemeClr val="accent2"/>
          </a:solidFill>
          <a:ln/>
        </p:spPr>
      </p:sp>
      <p:pic>
        <p:nvPicPr>
          <p:cNvPr id="20" name="icon FaWrench" descr="Wrench icon">    </p:cNvPr>
          <p:cNvPicPr>
            <a:picLocks noChangeAspect="1"/>
          </p:cNvPicPr>
          <p:nvPr/>
        </p:nvPicPr>
        <p:blipFill>
          <a:blip r:embed="rId3"/>
          <a:stretch>
            <a:fillRect/>
          </a:stretch>
        </p:blipFill>
        <p:spPr>
          <a:xfrm>
            <a:off x="5032858" y="4685386"/>
            <a:ext cx="358445" cy="358445"/>
          </a:xfrm>
          <a:prstGeom prst="rect">
            <a:avLst/>
          </a:prstGeom>
        </p:spPr>
      </p:pic>
      <p:sp>
        <p:nvSpPr>
          <p:cNvPr id="21" name="text"/>
          <p:cNvSpPr txBox="1"/>
          <p:nvPr/>
        </p:nvSpPr>
        <p:spPr>
          <a:xfrm>
            <a:off x="5760720" y="4361688"/>
            <a:ext cx="5669280" cy="365760"/>
          </a:xfrm>
          <a:prstGeom prst="rect">
            <a:avLst/>
          </a:prstGeom>
          <a:noFill/>
          <a:ln/>
        </p:spPr>
        <p:txBody>
          <a:bodyPr wrap="square" lIns="0" tIns="0" rIns="0" bIns="0" rtlCol="0" anchor="t"/>
          <a:lstStyle/>
          <a:p>
            <a:pPr algn="l" indent="0" marL="0">
              <a:buNone/>
            </a:pPr>
            <a:r>
              <a:rPr lang="en-US" sz="1800" b="1" dirty="0">
                <a:solidFill>
                  <a:schemeClr val="tx1"/>
                </a:solidFill>
              </a:rPr>
              <a:t>The fix</a:t>
            </a:r>
            <a:endParaRPr lang="en-US" sz="1800" dirty="0"/>
          </a:p>
        </p:txBody>
      </p:sp>
      <p:sp>
        <p:nvSpPr>
          <p:cNvPr id="22" name="text"/>
          <p:cNvSpPr txBox="1"/>
          <p:nvPr/>
        </p:nvSpPr>
        <p:spPr>
          <a:xfrm>
            <a:off x="5760720" y="4727448"/>
            <a:ext cx="5669280" cy="713232"/>
          </a:xfrm>
          <a:prstGeom prst="rect">
            <a:avLst/>
          </a:prstGeom>
          <a:noFill/>
          <a:ln/>
        </p:spPr>
        <p:txBody>
          <a:bodyPr wrap="square" lIns="0" tIns="0" rIns="0" bIns="0" rtlCol="0" anchor="t"/>
          <a:lstStyle/>
          <a:p>
            <a:pPr algn="l" indent="0" marL="0">
              <a:buNone/>
            </a:pPr>
            <a:r>
              <a:rPr lang="en-US" sz="1400" dirty="0">
                <a:solidFill>
                  <a:schemeClr val="tx2"/>
                </a:solidFill>
              </a:rPr>
              <a:t>A replay-safety check, then the plan engine: every value is traced to the record, a page or a decision, and every plan must prove itself.</a:t>
            </a:r>
            <a:endParaRPr lang="en-US" sz="1400" dirty="0"/>
          </a:p>
        </p:txBody>
      </p:sp>
      <p:sp>
        <p:nvSpPr>
          <p:cNvPr id="23" name="banner"/>
          <p:cNvSpPr/>
          <p:nvPr/>
        </p:nvSpPr>
        <p:spPr>
          <a:xfrm>
            <a:off x="548640" y="5669280"/>
            <a:ext cx="11094415" cy="594360"/>
          </a:xfrm>
          <a:prstGeom prst="roundRect">
            <a:avLst>
              <a:gd name="adj" fmla="val 18462"/>
            </a:avLst>
          </a:prstGeom>
          <a:solidFill>
            <a:schemeClr val="tx1"/>
          </a:solidFill>
          <a:ln/>
        </p:spPr>
      </p:sp>
      <p:sp>
        <p:nvSpPr>
          <p:cNvPr id="24" name="text"/>
          <p:cNvSpPr txBox="1"/>
          <p:nvPr/>
        </p:nvSpPr>
        <p:spPr>
          <a:xfrm>
            <a:off x="822960" y="5669280"/>
            <a:ext cx="10545775" cy="594360"/>
          </a:xfrm>
          <a:prstGeom prst="rect">
            <a:avLst/>
          </a:prstGeom>
          <a:noFill/>
          <a:ln/>
        </p:spPr>
        <p:txBody>
          <a:bodyPr wrap="square" lIns="0" tIns="0" rIns="0" bIns="0" rtlCol="0" anchor="ctr"/>
          <a:lstStyle/>
          <a:p>
            <a:pPr algn="l" indent="0" marL="0">
              <a:buNone/>
            </a:pPr>
            <a:r>
              <a:rPr lang="en-US" sz="1800" b="1" dirty="0">
                <a:solidFill>
                  <a:schemeClr val="bg1"/>
                </a:solidFill>
              </a:rPr>
              <a:t>A wrong-but-quiet cache is worse than a slow one that fails loudly.</a:t>
            </a:r>
            <a:endParaRPr lang="en-US" sz="18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1"/>
                </a:solidFill>
              </a:rPr>
              <a:t>Wrong turn 2: right by luck, then wrong</a:t>
            </a:r>
            <a:endParaRPr lang="en-US" sz="3200" dirty="0"/>
          </a:p>
        </p:txBody>
      </p:sp>
      <p:sp>
        <p:nvSpPr>
          <p:cNvPr id="4" name="card"/>
          <p:cNvSpPr/>
          <p:nvPr/>
        </p:nvSpPr>
        <p:spPr>
          <a:xfrm>
            <a:off x="548640" y="1508760"/>
            <a:ext cx="3383280" cy="1325880"/>
          </a:xfrm>
          <a:prstGeom prst="roundRect">
            <a:avLst>
              <a:gd name="adj" fmla="val 8276"/>
            </a:avLst>
          </a:prstGeom>
          <a:solidFill>
            <a:schemeClr val="bg1"/>
          </a:solidFill>
          <a:ln/>
          <a:effectLst>
            <a:outerShdw sx="100000" sy="100000" kx="0" ky="0" algn="bl" rotWithShape="0" blurRad="88900" dist="25400" dir="5400000">
              <a:srgbClr val="000000">
                <a:alpha val="13000"/>
              </a:srgbClr>
            </a:outerShdw>
          </a:effectLst>
        </p:spPr>
      </p:sp>
      <p:sp>
        <p:nvSpPr>
          <p:cNvPr id="5" name="text"/>
          <p:cNvSpPr txBox="1"/>
          <p:nvPr/>
        </p:nvSpPr>
        <p:spPr>
          <a:xfrm>
            <a:off x="777240" y="1627632"/>
            <a:ext cx="2926080" cy="457200"/>
          </a:xfrm>
          <a:prstGeom prst="rect">
            <a:avLst/>
          </a:prstGeom>
          <a:noFill/>
          <a:ln/>
        </p:spPr>
        <p:txBody>
          <a:bodyPr wrap="square" lIns="0" tIns="0" rIns="0" bIns="0" rtlCol="0" anchor="ctr"/>
          <a:lstStyle/>
          <a:p>
            <a:pPr algn="l" indent="0" marL="0">
              <a:buNone/>
            </a:pPr>
            <a:r>
              <a:rPr lang="en-US" sz="1800" b="1" dirty="0">
                <a:solidFill>
                  <a:schemeClr val="tx1"/>
                </a:solidFill>
              </a:rPr>
              <a:t>Proven on 3 returns</a:t>
            </a:r>
            <a:endParaRPr lang="en-US" sz="1800" dirty="0"/>
          </a:p>
        </p:txBody>
      </p:sp>
      <p:sp>
        <p:nvSpPr>
          <p:cNvPr id="6" name="text"/>
          <p:cNvSpPr txBox="1"/>
          <p:nvPr/>
        </p:nvSpPr>
        <p:spPr>
          <a:xfrm>
            <a:off x="777240" y="2103120"/>
            <a:ext cx="2926080" cy="640080"/>
          </a:xfrm>
          <a:prstGeom prst="rect">
            <a:avLst/>
          </a:prstGeom>
          <a:noFill/>
          <a:ln/>
        </p:spPr>
        <p:txBody>
          <a:bodyPr wrap="square" lIns="0" tIns="0" rIns="0" bIns="0" rtlCol="0" anchor="t"/>
          <a:lstStyle/>
          <a:p>
            <a:pPr algn="l" indent="0" marL="0">
              <a:buNone/>
            </a:pPr>
            <a:r>
              <a:rPr lang="en-US" sz="1400" dirty="0">
                <a:solidFill>
                  <a:schemeClr val="tx2"/>
                </a:solidFill>
              </a:rPr>
              <a:t>They needed only the order page</a:t>
            </a:r>
            <a:endParaRPr lang="en-US" sz="1400" dirty="0"/>
          </a:p>
        </p:txBody>
      </p:sp>
      <p:sp>
        <p:nvSpPr>
          <p:cNvPr id="7" name="arrow"/>
          <p:cNvSpPr/>
          <p:nvPr/>
        </p:nvSpPr>
        <p:spPr>
          <a:xfrm>
            <a:off x="4005072" y="2057400"/>
            <a:ext cx="310896" cy="274320"/>
          </a:xfrm>
          <a:prstGeom prst="rightArrow">
            <a:avLst/>
          </a:prstGeom>
          <a:solidFill>
            <a:schemeClr val="accent5"/>
          </a:solidFill>
          <a:ln/>
        </p:spPr>
      </p:sp>
      <p:sp>
        <p:nvSpPr>
          <p:cNvPr id="8" name="card"/>
          <p:cNvSpPr/>
          <p:nvPr/>
        </p:nvSpPr>
        <p:spPr>
          <a:xfrm>
            <a:off x="4389120" y="1508760"/>
            <a:ext cx="3383280" cy="1325880"/>
          </a:xfrm>
          <a:prstGeom prst="roundRect">
            <a:avLst>
              <a:gd name="adj" fmla="val 8276"/>
            </a:avLst>
          </a:prstGeom>
          <a:solidFill>
            <a:schemeClr val="bg1"/>
          </a:solidFill>
          <a:ln/>
          <a:effectLst>
            <a:outerShdw sx="100000" sy="100000" kx="0" ky="0" algn="bl" rotWithShape="0" blurRad="88900" dist="25400" dir="5400000">
              <a:srgbClr val="000000">
                <a:alpha val="13000"/>
              </a:srgbClr>
            </a:outerShdw>
          </a:effectLst>
        </p:spPr>
      </p:sp>
      <p:sp>
        <p:nvSpPr>
          <p:cNvPr id="9" name="text"/>
          <p:cNvSpPr txBox="1"/>
          <p:nvPr/>
        </p:nvSpPr>
        <p:spPr>
          <a:xfrm>
            <a:off x="4617720" y="1627632"/>
            <a:ext cx="2926080" cy="457200"/>
          </a:xfrm>
          <a:prstGeom prst="rect">
            <a:avLst/>
          </a:prstGeom>
          <a:noFill/>
          <a:ln/>
        </p:spPr>
        <p:txBody>
          <a:bodyPr wrap="square" lIns="0" tIns="0" rIns="0" bIns="0" rtlCol="0" anchor="ctr"/>
          <a:lstStyle/>
          <a:p>
            <a:pPr algn="l" indent="0" marL="0">
              <a:buNone/>
            </a:pPr>
            <a:r>
              <a:rPr lang="en-US" sz="1800" b="1" dirty="0">
                <a:solidFill>
                  <a:schemeClr val="tx1"/>
                </a:solidFill>
              </a:rPr>
              <a:t>Trusted for everything</a:t>
            </a:r>
            <a:endParaRPr lang="en-US" sz="1800" dirty="0"/>
          </a:p>
        </p:txBody>
      </p:sp>
      <p:sp>
        <p:nvSpPr>
          <p:cNvPr id="10" name="text"/>
          <p:cNvSpPr txBox="1"/>
          <p:nvPr/>
        </p:nvSpPr>
        <p:spPr>
          <a:xfrm>
            <a:off x="4617720" y="2103120"/>
            <a:ext cx="2926080" cy="640080"/>
          </a:xfrm>
          <a:prstGeom prst="rect">
            <a:avLst/>
          </a:prstGeom>
          <a:noFill/>
          <a:ln/>
        </p:spPr>
        <p:txBody>
          <a:bodyPr wrap="square" lIns="0" tIns="0" rIns="0" bIns="0" rtlCol="0" anchor="t"/>
          <a:lstStyle/>
          <a:p>
            <a:pPr algn="l" indent="0" marL="0">
              <a:buNone/>
            </a:pPr>
            <a:r>
              <a:rPr lang="en-US" sz="1400" dirty="0">
                <a:solidFill>
                  <a:schemeClr val="tx2"/>
                </a:solidFill>
              </a:rPr>
              <a:t>Including cases it had never seen</a:t>
            </a:r>
            <a:endParaRPr lang="en-US" sz="1400" dirty="0"/>
          </a:p>
        </p:txBody>
      </p:sp>
      <p:sp>
        <p:nvSpPr>
          <p:cNvPr id="11" name="arrow"/>
          <p:cNvSpPr/>
          <p:nvPr/>
        </p:nvSpPr>
        <p:spPr>
          <a:xfrm>
            <a:off x="7845552" y="2057400"/>
            <a:ext cx="310896" cy="274320"/>
          </a:xfrm>
          <a:prstGeom prst="rightArrow">
            <a:avLst/>
          </a:prstGeom>
          <a:solidFill>
            <a:schemeClr val="accent5"/>
          </a:solidFill>
          <a:ln/>
        </p:spPr>
      </p:sp>
      <p:sp>
        <p:nvSpPr>
          <p:cNvPr id="12" name="card"/>
          <p:cNvSpPr/>
          <p:nvPr/>
        </p:nvSpPr>
        <p:spPr>
          <a:xfrm>
            <a:off x="8229600" y="1508760"/>
            <a:ext cx="3383280" cy="1325880"/>
          </a:xfrm>
          <a:prstGeom prst="roundRect">
            <a:avLst>
              <a:gd name="adj" fmla="val 8276"/>
            </a:avLst>
          </a:prstGeom>
          <a:solidFill>
            <a:schemeClr val="bg1"/>
          </a:solidFill>
          <a:ln/>
          <a:effectLst>
            <a:outerShdw sx="100000" sy="100000" kx="0" ky="0" algn="bl" rotWithShape="0" blurRad="88900" dist="25400" dir="5400000">
              <a:srgbClr val="000000">
                <a:alpha val="13000"/>
              </a:srgbClr>
            </a:outerShdw>
          </a:effectLst>
        </p:spPr>
      </p:sp>
      <p:sp>
        <p:nvSpPr>
          <p:cNvPr id="13" name="text"/>
          <p:cNvSpPr txBox="1"/>
          <p:nvPr/>
        </p:nvSpPr>
        <p:spPr>
          <a:xfrm>
            <a:off x="8458200" y="1627632"/>
            <a:ext cx="2926080" cy="457200"/>
          </a:xfrm>
          <a:prstGeom prst="rect">
            <a:avLst/>
          </a:prstGeom>
          <a:noFill/>
          <a:ln/>
        </p:spPr>
        <p:txBody>
          <a:bodyPr wrap="square" lIns="0" tIns="0" rIns="0" bIns="0" rtlCol="0" anchor="ctr"/>
          <a:lstStyle/>
          <a:p>
            <a:pPr algn="l" indent="0" marL="0">
              <a:buNone/>
            </a:pPr>
            <a:r>
              <a:rPr lang="en-US" sz="1800" b="1" dirty="0">
                <a:solidFill>
                  <a:schemeClr val="tx1"/>
                </a:solidFill>
              </a:rPr>
              <a:t>Met a refund with a fee</a:t>
            </a:r>
            <a:endParaRPr lang="en-US" sz="1800" dirty="0"/>
          </a:p>
        </p:txBody>
      </p:sp>
      <p:sp>
        <p:nvSpPr>
          <p:cNvPr id="14" name="text"/>
          <p:cNvSpPr txBox="1"/>
          <p:nvPr/>
        </p:nvSpPr>
        <p:spPr>
          <a:xfrm>
            <a:off x="8458200" y="2103120"/>
            <a:ext cx="2926080" cy="640080"/>
          </a:xfrm>
          <a:prstGeom prst="rect">
            <a:avLst/>
          </a:prstGeom>
          <a:noFill/>
          <a:ln/>
        </p:spPr>
        <p:txBody>
          <a:bodyPr wrap="square" lIns="0" tIns="0" rIns="0" bIns="0" rtlCol="0" anchor="t"/>
          <a:lstStyle/>
          <a:p>
            <a:pPr algn="l" indent="0" marL="0">
              <a:buNone/>
            </a:pPr>
            <a:r>
              <a:rPr lang="en-US" sz="1400" dirty="0">
                <a:solidFill>
                  <a:schemeClr val="tx2"/>
                </a:solidFill>
              </a:rPr>
              <a:t>The fee table was on a page it never read</a:t>
            </a:r>
            <a:endParaRPr lang="en-US" sz="1400" dirty="0"/>
          </a:p>
        </p:txBody>
      </p:sp>
      <p:sp>
        <p:nvSpPr>
          <p:cNvPr id="15" name="card"/>
          <p:cNvSpPr/>
          <p:nvPr/>
        </p:nvSpPr>
        <p:spPr>
          <a:xfrm>
            <a:off x="548640" y="3108960"/>
            <a:ext cx="5440680" cy="1828800"/>
          </a:xfrm>
          <a:prstGeom prst="roundRect">
            <a:avLst>
              <a:gd name="adj" fmla="val 6000"/>
            </a:avLst>
          </a:prstGeom>
          <a:solidFill>
            <a:schemeClr val="bg1"/>
          </a:solidFill>
          <a:ln w="25400">
            <a:solidFill>
              <a:schemeClr val="accent3"/>
            </a:solidFill>
            <a:prstDash val="solid"/>
          </a:ln>
          <a:effectLst>
            <a:outerShdw sx="100000" sy="100000" kx="0" ky="0" algn="bl" rotWithShape="0" blurRad="88900" dist="25400" dir="5400000">
              <a:srgbClr val="000000">
                <a:alpha val="13000"/>
              </a:srgbClr>
            </a:outerShdw>
          </a:effectLst>
        </p:spPr>
      </p:sp>
      <p:sp>
        <p:nvSpPr>
          <p:cNvPr id="16" name="circle"/>
          <p:cNvSpPr/>
          <p:nvPr/>
        </p:nvSpPr>
        <p:spPr>
          <a:xfrm>
            <a:off x="822960" y="3337560"/>
            <a:ext cx="640080" cy="640080"/>
          </a:xfrm>
          <a:prstGeom prst="ellipse">
            <a:avLst/>
          </a:prstGeom>
          <a:solidFill>
            <a:schemeClr val="accent3"/>
          </a:solidFill>
          <a:ln/>
        </p:spPr>
      </p:sp>
      <p:pic>
        <p:nvPicPr>
          <p:cNvPr id="17" name="icon FaExclamationTriangle" descr="ExclamationTriangle icon">    </p:cNvPr>
          <p:cNvPicPr>
            <a:picLocks noChangeAspect="1"/>
          </p:cNvPicPr>
          <p:nvPr/>
        </p:nvPicPr>
        <p:blipFill>
          <a:blip r:embed="rId1"/>
          <a:stretch>
            <a:fillRect/>
          </a:stretch>
        </p:blipFill>
        <p:spPr>
          <a:xfrm>
            <a:off x="963778" y="3478378"/>
            <a:ext cx="358445" cy="358445"/>
          </a:xfrm>
          <a:prstGeom prst="rect">
            <a:avLst/>
          </a:prstGeom>
        </p:spPr>
      </p:pic>
      <p:sp>
        <p:nvSpPr>
          <p:cNvPr id="18" name="text"/>
          <p:cNvSpPr txBox="1"/>
          <p:nvPr/>
        </p:nvSpPr>
        <p:spPr>
          <a:xfrm>
            <a:off x="1645920" y="3310128"/>
            <a:ext cx="4114800" cy="365760"/>
          </a:xfrm>
          <a:prstGeom prst="rect">
            <a:avLst/>
          </a:prstGeom>
          <a:noFill/>
          <a:ln/>
        </p:spPr>
        <p:txBody>
          <a:bodyPr wrap="square" lIns="0" tIns="0" rIns="0" bIns="0" rtlCol="0" anchor="t"/>
          <a:lstStyle/>
          <a:p>
            <a:pPr algn="l" indent="0" marL="0">
              <a:buNone/>
            </a:pPr>
            <a:r>
              <a:rPr lang="en-US" sz="1800" b="1" dirty="0">
                <a:solidFill>
                  <a:schemeClr val="accent3"/>
                </a:solidFill>
              </a:rPr>
              <a:t>What the plan did</a:t>
            </a:r>
            <a:endParaRPr lang="en-US" sz="1800" dirty="0"/>
          </a:p>
        </p:txBody>
      </p:sp>
      <p:sp>
        <p:nvSpPr>
          <p:cNvPr id="19" name="text"/>
          <p:cNvSpPr txBox="1"/>
          <p:nvPr/>
        </p:nvSpPr>
        <p:spPr>
          <a:xfrm>
            <a:off x="1645920" y="3703320"/>
            <a:ext cx="4114800" cy="1143000"/>
          </a:xfrm>
          <a:prstGeom prst="rect">
            <a:avLst/>
          </a:prstGeom>
          <a:noFill/>
          <a:ln/>
        </p:spPr>
        <p:txBody>
          <a:bodyPr wrap="square" lIns="0" tIns="0" rIns="0" bIns="0" rtlCol="0" anchor="t"/>
          <a:lstStyle/>
          <a:p>
            <a:pPr algn="l" indent="0" marL="0">
              <a:buNone/>
            </a:pPr>
            <a:r>
              <a:rPr lang="en-US" sz="1600" dirty="0">
                <a:solidFill>
                  <a:schemeClr val="tx1"/>
                </a:solidFill>
              </a:rPr>
              <a:t>Used a guessed 15% fee without opening the policy page, after the AI said it could see what it needed.</a:t>
            </a:r>
            <a:endParaRPr lang="en-US" sz="1600" dirty="0"/>
          </a:p>
        </p:txBody>
      </p:sp>
      <p:sp>
        <p:nvSpPr>
          <p:cNvPr id="20" name="card"/>
          <p:cNvSpPr/>
          <p:nvPr/>
        </p:nvSpPr>
        <p:spPr>
          <a:xfrm>
            <a:off x="6199632" y="3108960"/>
            <a:ext cx="5440680" cy="1828800"/>
          </a:xfrm>
          <a:prstGeom prst="roundRect">
            <a:avLst>
              <a:gd name="adj" fmla="val 6000"/>
            </a:avLst>
          </a:prstGeom>
          <a:solidFill>
            <a:schemeClr val="bg1"/>
          </a:solidFill>
          <a:ln w="25400">
            <a:solidFill>
              <a:schemeClr val="accent4"/>
            </a:solidFill>
            <a:prstDash val="solid"/>
          </a:ln>
          <a:effectLst>
            <a:outerShdw sx="100000" sy="100000" kx="0" ky="0" algn="bl" rotWithShape="0" blurRad="88900" dist="25400" dir="5400000">
              <a:srgbClr val="000000">
                <a:alpha val="13000"/>
              </a:srgbClr>
            </a:outerShdw>
          </a:effectLst>
        </p:spPr>
      </p:sp>
      <p:sp>
        <p:nvSpPr>
          <p:cNvPr id="21" name="circle"/>
          <p:cNvSpPr/>
          <p:nvPr/>
        </p:nvSpPr>
        <p:spPr>
          <a:xfrm>
            <a:off x="6473952" y="3337560"/>
            <a:ext cx="640080" cy="640080"/>
          </a:xfrm>
          <a:prstGeom prst="ellipse">
            <a:avLst/>
          </a:prstGeom>
          <a:solidFill>
            <a:schemeClr val="accent4"/>
          </a:solidFill>
          <a:ln/>
        </p:spPr>
      </p:sp>
      <p:pic>
        <p:nvPicPr>
          <p:cNvPr id="22" name="icon FaCheckCircle" descr="CheckCircle icon">    </p:cNvPr>
          <p:cNvPicPr>
            <a:picLocks noChangeAspect="1"/>
          </p:cNvPicPr>
          <p:nvPr/>
        </p:nvPicPr>
        <p:blipFill>
          <a:blip r:embed="rId2"/>
          <a:stretch>
            <a:fillRect/>
          </a:stretch>
        </p:blipFill>
        <p:spPr>
          <a:xfrm>
            <a:off x="6614770" y="3478378"/>
            <a:ext cx="358445" cy="358445"/>
          </a:xfrm>
          <a:prstGeom prst="rect">
            <a:avLst/>
          </a:prstGeom>
        </p:spPr>
      </p:pic>
      <p:sp>
        <p:nvSpPr>
          <p:cNvPr id="23" name="text"/>
          <p:cNvSpPr txBox="1"/>
          <p:nvPr/>
        </p:nvSpPr>
        <p:spPr>
          <a:xfrm>
            <a:off x="7296912" y="3310128"/>
            <a:ext cx="4114800" cy="365760"/>
          </a:xfrm>
          <a:prstGeom prst="rect">
            <a:avLst/>
          </a:prstGeom>
          <a:noFill/>
          <a:ln/>
        </p:spPr>
        <p:txBody>
          <a:bodyPr wrap="square" lIns="0" tIns="0" rIns="0" bIns="0" rtlCol="0" anchor="t"/>
          <a:lstStyle/>
          <a:p>
            <a:pPr algn="l" indent="0" marL="0">
              <a:buNone/>
            </a:pPr>
            <a:r>
              <a:rPr lang="en-US" sz="1800" b="1" dirty="0">
                <a:solidFill>
                  <a:schemeClr val="accent4"/>
                </a:solidFill>
              </a:rPr>
              <a:t>What was needed</a:t>
            </a:r>
            <a:endParaRPr lang="en-US" sz="1800" dirty="0"/>
          </a:p>
        </p:txBody>
      </p:sp>
      <p:sp>
        <p:nvSpPr>
          <p:cNvPr id="24" name="text"/>
          <p:cNvSpPr txBox="1"/>
          <p:nvPr/>
        </p:nvSpPr>
        <p:spPr>
          <a:xfrm>
            <a:off x="7296912" y="3703320"/>
            <a:ext cx="4114800" cy="1143000"/>
          </a:xfrm>
          <a:prstGeom prst="rect">
            <a:avLst/>
          </a:prstGeom>
          <a:noFill/>
          <a:ln/>
        </p:spPr>
        <p:txBody>
          <a:bodyPr wrap="square" lIns="0" tIns="0" rIns="0" bIns="0" rtlCol="0" anchor="t"/>
          <a:lstStyle/>
          <a:p>
            <a:pPr algn="l" indent="0" marL="0">
              <a:buNone/>
            </a:pPr>
            <a:r>
              <a:rPr lang="en-US" sz="1600" dirty="0">
                <a:solidFill>
                  <a:schemeClr val="tx1"/>
                </a:solidFill>
              </a:rPr>
              <a:t>The 20% fee from the policy table, and a check that every number used appears on the pages.</a:t>
            </a:r>
            <a:endParaRPr lang="en-US" sz="1600" dirty="0"/>
          </a:p>
        </p:txBody>
      </p:sp>
      <p:sp>
        <p:nvSpPr>
          <p:cNvPr id="25" name="banner"/>
          <p:cNvSpPr/>
          <p:nvPr/>
        </p:nvSpPr>
        <p:spPr>
          <a:xfrm>
            <a:off x="548640" y="5166360"/>
            <a:ext cx="11094415" cy="1097280"/>
          </a:xfrm>
          <a:prstGeom prst="roundRect">
            <a:avLst>
              <a:gd name="adj" fmla="val 10000"/>
            </a:avLst>
          </a:prstGeom>
          <a:solidFill>
            <a:schemeClr val="tx1"/>
          </a:solidFill>
          <a:ln/>
        </p:spPr>
      </p:sp>
      <p:sp>
        <p:nvSpPr>
          <p:cNvPr id="26" name="text"/>
          <p:cNvSpPr txBox="1"/>
          <p:nvPr/>
        </p:nvSpPr>
        <p:spPr>
          <a:xfrm>
            <a:off x="868680" y="5166360"/>
            <a:ext cx="10454335" cy="1097280"/>
          </a:xfrm>
          <a:prstGeom prst="rect">
            <a:avLst/>
          </a:prstGeom>
          <a:noFill/>
          <a:ln/>
        </p:spPr>
        <p:txBody>
          <a:bodyPr wrap="square" lIns="0" tIns="0" rIns="0" bIns="0" rtlCol="0" anchor="ctr"/>
          <a:lstStyle/>
          <a:p>
            <a:pPr algn="l" indent="0" marL="0">
              <a:spcAft>
                <a:spcPts val="600"/>
              </a:spcAft>
              <a:buNone/>
            </a:pPr>
            <a:r>
              <a:rPr lang="en-US" sz="1600" b="1" dirty="0">
                <a:solidFill>
                  <a:schemeClr val="bg1"/>
                </a:solidFill>
              </a:rPr>
              <a:t>Fix: trust per kind of case. A plan decides alone only the kinds of case that already matched the live agent.</a:t>
            </a:r>
            <a:endParaRPr lang="en-US" sz="1600" dirty="0"/>
          </a:p>
          <a:p>
            <a:pPr algn="l" indent="0" marL="0">
              <a:buNone/>
            </a:pPr>
            <a:r>
              <a:rPr lang="en-US" sz="1600" dirty="0">
                <a:solidFill>
                  <a:schemeClr val="bg1"/>
                </a:solidFill>
              </a:rPr>
              <a:t>An AI's opinion of itself is weak evidence. Code has to check the answer against the pages.</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1"/>
                </a:solidFill>
              </a:rPr>
              <a:t>Wrong turn 3: real AI is messier than tests</a:t>
            </a:r>
            <a:endParaRPr lang="en-US" sz="3200" dirty="0"/>
          </a:p>
        </p:txBody>
      </p:sp>
      <p:graphicFrame>
        <p:nvGraphicFramePr>
          <p:cNvPr id="11" name="mess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5852160"/>
                <a:gridCol w="5242255"/>
              </a:tblGrid>
              <a:tr h="457200">
                <a:tc>
                  <a:txBody>
                    <a:bodyPr/>
                    <a:lstStyle/>
                    <a:p>
                      <a:pPr indent="0" marL="0">
                        <a:buNone/>
                      </a:pPr>
                      <a:r>
                        <a:rPr lang="en-US" sz="1400" b="1" dirty="0">
                          <a:solidFill>
                            <a:schemeClr val="bg1"/>
                          </a:solidFill>
                        </a:rPr>
                        <a:t>What the real AI did</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accent2"/>
                    </a:solidFill>
                  </a:tcPr>
                </a:tc>
                <a:tc>
                  <a:txBody>
                    <a:bodyPr/>
                    <a:lstStyle/>
                    <a:p>
                      <a:pPr indent="0" marL="0">
                        <a:buNone/>
                      </a:pPr>
                      <a:r>
                        <a:rPr lang="en-US" sz="1400" b="1" dirty="0">
                          <a:solidFill>
                            <a:schemeClr val="bg1"/>
                          </a:solidFill>
                        </a:rPr>
                        <a:t>What it broke</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accent2"/>
                    </a:solidFill>
                  </a:tcPr>
                </a:tc>
              </a:tr>
              <a:tr h="585216">
                <a:tc>
                  <a:txBody>
                    <a:bodyPr/>
                    <a:lstStyle/>
                    <a:p>
                      <a:pPr indent="0" marL="0">
                        <a:buNone/>
                      </a:pPr>
                      <a:r>
                        <a:rPr lang="en-US" sz="1400" dirty="0">
                          <a:solidFill>
                            <a:schemeClr val="tx1"/>
                          </a:solidFill>
                        </a:rPr>
                        <a:t>Clicked a table cell, not the link inside it</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The plan found no way to click it again</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r>
              <a:tr h="585216">
                <a:tc>
                  <a:txBody>
                    <a:bodyPr/>
                    <a:lstStyle/>
                    <a:p>
                      <a:pPr indent="0" marL="0">
                        <a:buNone/>
                      </a:pPr>
                      <a:r>
                        <a:rPr lang="en-US" sz="1400" dirty="0">
                          <a:solidFill>
                            <a:schemeClr val="tx1"/>
                          </a:solidFill>
                        </a:rPr>
                        <a:t>Typed web addresses it had guessed ('Page not found')</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The dead ends were copied into the plan</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r>
              <a:tr h="585216">
                <a:tc>
                  <a:txBody>
                    <a:bodyPr/>
                    <a:lstStyle/>
                    <a:p>
                      <a:pPr indent="0" marL="0">
                        <a:buNone/>
                      </a:pPr>
                      <a:r>
                        <a:rPr lang="en-US" sz="1400" dirty="0">
                          <a:solidFill>
                            <a:schemeClr val="tx1"/>
                          </a:solidFill>
                        </a:rPr>
                        <a:t>Typed a list page number directly</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Every record would be sent to that same page</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r>
              <a:tr h="585216">
                <a:tc>
                  <a:txBody>
                    <a:bodyPr/>
                    <a:lstStyle/>
                    <a:p>
                      <a:pPr indent="0" marL="0">
                        <a:buNone/>
                      </a:pPr>
                      <a:r>
                        <a:rPr lang="en-US" sz="1400" dirty="0">
                          <a:solidFill>
                            <a:schemeClr val="tx1"/>
                          </a:solidFill>
                        </a:rPr>
                        <a:t>Went back and found the same record again</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The plan replayed the whole detour</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r>
              <a:tr h="585216">
                <a:tc>
                  <a:txBody>
                    <a:bodyPr/>
                    <a:lstStyle/>
                    <a:p>
                      <a:pPr indent="0" marL="0">
                        <a:buNone/>
                      </a:pPr>
                      <a:r>
                        <a:rPr lang="en-US" sz="1400" dirty="0">
                          <a:solidFill>
                            <a:schemeClr val="tx1"/>
                          </a:solidFill>
                        </a:rPr>
                        <a:t>Pressed Back inside a multi-step form</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Learned as a form field; 3 records were lost</a:t>
                      </a:r>
                      <a:endParaRPr lang="en-US" sz="1400" dirty="0"/>
                    </a:p>
                  </a:txBody>
                  <a:tcPr marL="109728" marR="109728" marT="45720" marB="45720" anchor="ctr">
                    <a:lnL w="9525" cap="flat" cmpd="sng" algn="ctr">
                      <a:solidFill>
                        <a:srgbClr val="E3E1DA"/>
                      </a:solidFill>
                      <a:prstDash val="solid"/>
                      <a:round/>
                      <a:headEnd type="none" w="med" len="med"/>
                      <a:tailEnd type="none" w="med" len="med"/>
                    </a:lnL>
                    <a:lnR w="9525" cap="flat" cmpd="sng" algn="ctr">
                      <a:solidFill>
                        <a:srgbClr val="E3E1DA"/>
                      </a:solidFill>
                      <a:prstDash val="solid"/>
                      <a:round/>
                      <a:headEnd type="none" w="med" len="med"/>
                      <a:tailEnd type="none" w="med" len="med"/>
                    </a:lnR>
                    <a:lnT w="9525" cap="flat" cmpd="sng" algn="ctr">
                      <a:solidFill>
                        <a:srgbClr val="E3E1DA"/>
                      </a:solidFill>
                      <a:prstDash val="solid"/>
                      <a:round/>
                      <a:headEnd type="none" w="med" len="med"/>
                      <a:tailEnd type="none" w="med" len="med"/>
                    </a:lnT>
                    <a:lnB w="9525" cap="flat" cmpd="sng" algn="ctr">
                      <a:solidFill>
                        <a:srgbClr val="E3E1DA"/>
                      </a:solidFill>
                      <a:prstDash val="solid"/>
                      <a:round/>
                      <a:headEnd type="none" w="med" len="med"/>
                      <a:tailEnd type="none" w="med" len="med"/>
                    </a:lnB>
                    <a:solidFill>
                      <a:schemeClr val="bg1"/>
                    </a:solidFill>
                  </a:tcPr>
                </a:tc>
              </a:tr>
            </a:tbl>
          </a:graphicData>
        </a:graphic>
      </p:graphicFrame>
      <p:sp>
        <p:nvSpPr>
          <p:cNvPr id="5" name="card"/>
          <p:cNvSpPr/>
          <p:nvPr/>
        </p:nvSpPr>
        <p:spPr>
          <a:xfrm>
            <a:off x="548640" y="5212080"/>
            <a:ext cx="11094415" cy="1051560"/>
          </a:xfrm>
          <a:prstGeom prst="roundRect">
            <a:avLst>
              <a:gd name="adj" fmla="val 10435"/>
            </a:avLst>
          </a:prstGeom>
          <a:solidFill>
            <a:schemeClr val="accent6"/>
          </a:solidFill>
          <a:ln/>
        </p:spPr>
      </p:sp>
      <p:sp>
        <p:nvSpPr>
          <p:cNvPr id="6" name="circle"/>
          <p:cNvSpPr/>
          <p:nvPr/>
        </p:nvSpPr>
        <p:spPr>
          <a:xfrm>
            <a:off x="868680" y="5413248"/>
            <a:ext cx="640080" cy="640080"/>
          </a:xfrm>
          <a:prstGeom prst="ellipse">
            <a:avLst/>
          </a:prstGeom>
          <a:solidFill>
            <a:schemeClr val="accent2"/>
          </a:solidFill>
          <a:ln/>
        </p:spPr>
      </p:sp>
      <p:pic>
        <p:nvPicPr>
          <p:cNvPr id="7" name="icon FaLightbulb" descr="Lightbulb icon">    </p:cNvPr>
          <p:cNvPicPr>
            <a:picLocks noChangeAspect="1"/>
          </p:cNvPicPr>
          <p:nvPr/>
        </p:nvPicPr>
        <p:blipFill>
          <a:blip r:embed="rId1"/>
          <a:stretch>
            <a:fillRect/>
          </a:stretch>
        </p:blipFill>
        <p:spPr>
          <a:xfrm>
            <a:off x="1009498" y="5554066"/>
            <a:ext cx="358445" cy="358445"/>
          </a:xfrm>
          <a:prstGeom prst="rect">
            <a:avLst/>
          </a:prstGeom>
        </p:spPr>
      </p:pic>
      <p:sp>
        <p:nvSpPr>
          <p:cNvPr id="8" name="text"/>
          <p:cNvSpPr txBox="1"/>
          <p:nvPr/>
        </p:nvSpPr>
        <p:spPr>
          <a:xfrm>
            <a:off x="1828800" y="5212080"/>
            <a:ext cx="9509760" cy="1051560"/>
          </a:xfrm>
          <a:prstGeom prst="rect">
            <a:avLst/>
          </a:prstGeom>
          <a:noFill/>
          <a:ln/>
        </p:spPr>
        <p:txBody>
          <a:bodyPr wrap="square" lIns="0" tIns="0" rIns="0" bIns="0" rtlCol="0" anchor="ctr"/>
          <a:lstStyle/>
          <a:p>
            <a:pPr algn="l" indent="0" marL="0">
              <a:buNone/>
            </a:pPr>
            <a:r>
              <a:rPr lang="en-US" sz="1600" b="1" dirty="0">
                <a:solidFill>
                  <a:schemeClr val="tx1"/>
                </a:solidFill>
              </a:rPr>
              <a:t>Scripted test recordings were tidy, so the first real run broke the plan compiler five ways at once. Test on real AI output early.</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1"/>
                </a:solidFill>
              </a:rPr>
              <a:t>The big attempt, and the reality check</a:t>
            </a:r>
            <a:endParaRPr lang="en-US" sz="3200" dirty="0"/>
          </a:p>
        </p:txBody>
      </p:sp>
      <p:sp>
        <p:nvSpPr>
          <p:cNvPr id="4" name="text"/>
          <p:cNvSpPr txBox="1"/>
          <p:nvPr/>
        </p:nvSpPr>
        <p:spPr>
          <a:xfrm>
            <a:off x="548640" y="1463040"/>
            <a:ext cx="5212080" cy="411480"/>
          </a:xfrm>
          <a:prstGeom prst="rect">
            <a:avLst/>
          </a:prstGeom>
          <a:noFill/>
          <a:ln/>
        </p:spPr>
        <p:txBody>
          <a:bodyPr wrap="square" lIns="0" tIns="0" rIns="0" bIns="0" rtlCol="0" anchor="t"/>
          <a:lstStyle/>
          <a:p>
            <a:pPr algn="l" indent="0" marL="0">
              <a:buNone/>
            </a:pPr>
            <a:r>
              <a:rPr lang="en-US" sz="2000" b="1" dirty="0">
                <a:solidFill>
                  <a:schemeClr val="tx1"/>
                </a:solidFill>
              </a:rPr>
              <a:t>Seven new pieces, built in parallel</a:t>
            </a:r>
            <a:endParaRPr lang="en-US" sz="2000" dirty="0"/>
          </a:p>
        </p:txBody>
      </p:sp>
      <p:sp>
        <p:nvSpPr>
          <p:cNvPr id="5" name="text"/>
          <p:cNvSpPr txBox="1"/>
          <p:nvPr/>
        </p:nvSpPr>
        <p:spPr>
          <a:xfrm>
            <a:off x="548640" y="1965960"/>
            <a:ext cx="5212080" cy="2377440"/>
          </a:xfrm>
          <a:prstGeom prst="rect">
            <a:avLst/>
          </a:prstGeom>
          <a:noFill/>
          <a:ln/>
        </p:spPr>
        <p:txBody>
          <a:bodyPr wrap="square" lIns="0" tIns="0" rIns="0" bIns="0" rtlCol="0" anchor="t"/>
          <a:lstStyle/>
          <a:p>
            <a:pPr algn="l" marL="342900" indent="-342900">
              <a:spcAft>
                <a:spcPts val="500"/>
              </a:spcAft>
              <a:buSzPct val="100000"/>
              <a:buChar char="•"/>
            </a:pPr>
            <a:r>
              <a:rPr lang="en-US" sz="1400" dirty="0">
                <a:solidFill>
                  <a:schemeClr val="tx1"/>
                </a:solidFill>
              </a:rPr>
              <a:t>Decision programs: zero AI calls per record</a:t>
            </a:r>
            <a:endParaRPr lang="en-US" sz="1400" dirty="0"/>
          </a:p>
          <a:p>
            <a:pPr algn="l" marL="342900" indent="-342900">
              <a:spcAft>
                <a:spcPts val="500"/>
              </a:spcAft>
              <a:buSzPct val="100000"/>
              <a:buChar char="•"/>
            </a:pPr>
            <a:r>
              <a:rPr lang="en-US" sz="1400" dirty="0">
                <a:solidFill>
                  <a:schemeClr val="tx1"/>
                </a:solidFill>
              </a:rPr>
              <a:t>Grounding: numbers must appear on the page</a:t>
            </a:r>
            <a:endParaRPr lang="en-US" sz="1400" dirty="0"/>
          </a:p>
          <a:p>
            <a:pPr algn="l" marL="342900" indent="-342900">
              <a:spcAft>
                <a:spcPts val="500"/>
              </a:spcAft>
              <a:buSzPct val="100000"/>
              <a:buChar char="•"/>
            </a:pPr>
            <a:r>
              <a:rPr lang="en-US" sz="1400" dirty="0">
                <a:solidFill>
                  <a:schemeClr val="tx1"/>
                </a:solidFill>
              </a:rPr>
              <a:t>Pacing: stay under the per-minute limit</a:t>
            </a:r>
            <a:endParaRPr lang="en-US" sz="1400" dirty="0"/>
          </a:p>
          <a:p>
            <a:pPr algn="l" marL="342900" indent="-342900">
              <a:spcAft>
                <a:spcPts val="500"/>
              </a:spcAft>
              <a:buSzPct val="100000"/>
              <a:buChar char="•"/>
            </a:pPr>
            <a:r>
              <a:rPr lang="en-US" sz="1400" dirty="0">
                <a:solidFill>
                  <a:schemeClr val="tx1"/>
                </a:solidFill>
              </a:rPr>
              <a:t>Real-world pages: iframes, popups, logins</a:t>
            </a:r>
            <a:endParaRPr lang="en-US" sz="1400" dirty="0"/>
          </a:p>
          <a:p>
            <a:pPr algn="l" marL="342900" indent="-342900">
              <a:spcAft>
                <a:spcPts val="500"/>
              </a:spcAft>
              <a:buSzPct val="100000"/>
              <a:buChar char="•"/>
            </a:pPr>
            <a:r>
              <a:rPr lang="en-US" sz="1400" dirty="0">
                <a:solidFill>
                  <a:schemeClr val="tx1"/>
                </a:solidFill>
              </a:rPr>
              <a:t>Read-back: confirm what was saved</a:t>
            </a:r>
            <a:endParaRPr lang="en-US" sz="1400" dirty="0"/>
          </a:p>
          <a:p>
            <a:pPr algn="l" marL="342900" indent="-342900">
              <a:spcAft>
                <a:spcPts val="500"/>
              </a:spcAft>
              <a:buSzPct val="100000"/>
              <a:buChar char="•"/>
            </a:pPr>
            <a:r>
              <a:rPr lang="en-US" sz="1400" dirty="0">
                <a:solidFill>
                  <a:schemeClr val="tx1"/>
                </a:solidFill>
              </a:rPr>
              <a:t>Coverage: read the pages the rules mention</a:t>
            </a:r>
            <a:endParaRPr lang="en-US" sz="1400" dirty="0"/>
          </a:p>
          <a:p>
            <a:pPr algn="l" marL="342900" indent="-342900">
              <a:spcAft>
                <a:spcPts val="500"/>
              </a:spcAft>
              <a:buSzPct val="100000"/>
              <a:buChar char="•"/>
            </a:pPr>
            <a:r>
              <a:rPr lang="en-US" sz="1400" dirty="0">
                <a:solidFill>
                  <a:schemeClr val="tx1"/>
                </a:solidFill>
              </a:rPr>
              <a:t>A fifth, hazard-filled test site</a:t>
            </a:r>
            <a:endParaRPr lang="en-US" sz="1400" dirty="0"/>
          </a:p>
        </p:txBody>
      </p:sp>
      <p:sp>
        <p:nvSpPr>
          <p:cNvPr id="6" name="card"/>
          <p:cNvSpPr/>
          <p:nvPr/>
        </p:nvSpPr>
        <p:spPr>
          <a:xfrm>
            <a:off x="548640" y="4526280"/>
            <a:ext cx="5212080" cy="1600200"/>
          </a:xfrm>
          <a:prstGeom prst="roundRect">
            <a:avLst>
              <a:gd name="adj" fmla="val 6857"/>
            </a:avLst>
          </a:prstGeom>
          <a:solidFill>
            <a:schemeClr val="bg1"/>
          </a:solidFill>
          <a:ln/>
          <a:effectLst>
            <a:outerShdw sx="100000" sy="100000" kx="0" ky="0" algn="bl" rotWithShape="0" blurRad="88900" dist="25400" dir="5400000">
              <a:srgbClr val="000000">
                <a:alpha val="13000"/>
              </a:srgbClr>
            </a:outerShdw>
          </a:effectLst>
        </p:spPr>
      </p:sp>
      <p:sp>
        <p:nvSpPr>
          <p:cNvPr id="7" name="text"/>
          <p:cNvSpPr txBox="1"/>
          <p:nvPr/>
        </p:nvSpPr>
        <p:spPr>
          <a:xfrm>
            <a:off x="777240" y="4617720"/>
            <a:ext cx="1828800" cy="1371600"/>
          </a:xfrm>
          <a:prstGeom prst="rect">
            <a:avLst/>
          </a:prstGeom>
          <a:noFill/>
          <a:ln/>
        </p:spPr>
        <p:txBody>
          <a:bodyPr wrap="square" lIns="0" tIns="0" rIns="0" bIns="0" rtlCol="0" anchor="ctr"/>
          <a:lstStyle/>
          <a:p>
            <a:pPr algn="l" indent="0" marL="0">
              <a:buNone/>
            </a:pPr>
            <a:r>
              <a:rPr lang="en-US" sz="4800" b="1" dirty="0">
                <a:solidFill>
                  <a:schemeClr val="accent2"/>
                </a:solidFill>
              </a:rPr>
              <a:t>≈900</a:t>
            </a:r>
            <a:endParaRPr lang="en-US" sz="4800" dirty="0"/>
          </a:p>
        </p:txBody>
      </p:sp>
      <p:sp>
        <p:nvSpPr>
          <p:cNvPr id="8" name="text"/>
          <p:cNvSpPr txBox="1"/>
          <p:nvPr/>
        </p:nvSpPr>
        <p:spPr>
          <a:xfrm>
            <a:off x="2697480" y="4617720"/>
            <a:ext cx="2926080" cy="1371600"/>
          </a:xfrm>
          <a:prstGeom prst="rect">
            <a:avLst/>
          </a:prstGeom>
          <a:noFill/>
          <a:ln/>
        </p:spPr>
        <p:txBody>
          <a:bodyPr wrap="square" lIns="0" tIns="0" rIns="0" bIns="0" rtlCol="0" anchor="ctr"/>
          <a:lstStyle/>
          <a:p>
            <a:pPr algn="l" indent="0" marL="0">
              <a:buNone/>
            </a:pPr>
            <a:r>
              <a:rPr lang="en-US" sz="1400" dirty="0">
                <a:solidFill>
                  <a:schemeClr val="tx2"/>
                </a:solidFill>
              </a:rPr>
              <a:t>automated checks passed, all using simulated AI answers</a:t>
            </a:r>
            <a:endParaRPr lang="en-US" sz="1400" dirty="0"/>
          </a:p>
        </p:txBody>
      </p:sp>
      <p:sp>
        <p:nvSpPr>
          <p:cNvPr id="9" name="card"/>
          <p:cNvSpPr/>
          <p:nvPr/>
        </p:nvSpPr>
        <p:spPr>
          <a:xfrm>
            <a:off x="6035040" y="1463040"/>
            <a:ext cx="5605272" cy="4114800"/>
          </a:xfrm>
          <a:prstGeom prst="roundRect">
            <a:avLst>
              <a:gd name="adj" fmla="val 2667"/>
            </a:avLst>
          </a:prstGeom>
          <a:solidFill>
            <a:schemeClr val="bg1"/>
          </a:solidFill>
          <a:ln/>
          <a:effectLst>
            <a:outerShdw sx="100000" sy="100000" kx="0" ky="0" algn="bl" rotWithShape="0" blurRad="88900" dist="25400" dir="5400000">
              <a:srgbClr val="000000">
                <a:alpha val="13000"/>
              </a:srgbClr>
            </a:outerShdw>
          </a:effectLst>
        </p:spPr>
      </p:sp>
      <p:graphicFrame>
        <p:nvGraphicFramePr>
          <p:cNvPr id="10" name="Chart 0" descr=""/>
          <p:cNvGraphicFramePr/>
          <p:nvPr/>
        </p:nvGraphicFramePr>
        <p:xfrm>
          <a:off x="6172200" y="1554480"/>
          <a:ext cx="5349240" cy="3931920"/>
        </p:xfrm>
        <a:graphic xmlns:a="http://schemas.openxmlformats.org/drawingml/2006/main">
          <a:graphicData uri="http://schemas.openxmlformats.org/drawingml/2006/chart">
            <c:chart xmlns:c="http://schemas.openxmlformats.org/drawingml/2006/chart" r:id="rId1"/>
          </a:graphicData>
        </a:graphic>
      </p:graphicFrame>
      <p:sp>
        <p:nvSpPr>
          <p:cNvPr id="11" name="banner"/>
          <p:cNvSpPr/>
          <p:nvPr/>
        </p:nvSpPr>
        <p:spPr>
          <a:xfrm>
            <a:off x="6035040" y="5669280"/>
            <a:ext cx="5605272" cy="594360"/>
          </a:xfrm>
          <a:prstGeom prst="roundRect">
            <a:avLst>
              <a:gd name="adj" fmla="val 18462"/>
            </a:avLst>
          </a:prstGeom>
          <a:solidFill>
            <a:schemeClr val="tx1"/>
          </a:solidFill>
          <a:ln/>
        </p:spPr>
      </p:sp>
      <p:sp>
        <p:nvSpPr>
          <p:cNvPr id="12" name="text"/>
          <p:cNvSpPr txBox="1"/>
          <p:nvPr/>
        </p:nvSpPr>
        <p:spPr>
          <a:xfrm>
            <a:off x="6263640" y="5669280"/>
            <a:ext cx="5212080" cy="594360"/>
          </a:xfrm>
          <a:prstGeom prst="rect">
            <a:avLst/>
          </a:prstGeom>
          <a:noFill/>
          <a:ln/>
        </p:spPr>
        <p:txBody>
          <a:bodyPr wrap="square" lIns="0" tIns="0" rIns="0" bIns="0" rtlCol="0" anchor="ctr"/>
          <a:lstStyle/>
          <a:p>
            <a:pPr algn="l" indent="0" marL="0">
              <a:buNone/>
            </a:pPr>
            <a:r>
              <a:rPr lang="en-US" sz="1600" b="1" dirty="0">
                <a:solidFill>
                  <a:schemeClr val="bg1"/>
                </a:solidFill>
              </a:rPr>
              <a:t>Simulated tests passed; live runs scored lower.</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1"/>
                </a:solidFill>
              </a:rPr>
              <a:t>Why this was hard to test</a:t>
            </a:r>
            <a:endParaRPr lang="en-US" sz="3200" dirty="0"/>
          </a:p>
        </p:txBody>
      </p:sp>
      <p:sp>
        <p:nvSpPr>
          <p:cNvPr id="4" name="card"/>
          <p:cNvSpPr/>
          <p:nvPr/>
        </p:nvSpPr>
        <p:spPr>
          <a:xfrm>
            <a:off x="548640" y="1508760"/>
            <a:ext cx="5440680" cy="1371600"/>
          </a:xfrm>
          <a:prstGeom prst="roundRect">
            <a:avLst>
              <a:gd name="adj" fmla="val 8000"/>
            </a:avLst>
          </a:prstGeom>
          <a:solidFill>
            <a:schemeClr val="bg1"/>
          </a:solidFill>
          <a:ln/>
          <a:effectLst>
            <a:outerShdw sx="100000" sy="100000" kx="0" ky="0" algn="bl" rotWithShape="0" blurRad="88900" dist="25400" dir="5400000">
              <a:srgbClr val="000000">
                <a:alpha val="13000"/>
              </a:srgbClr>
            </a:outerShdw>
          </a:effectLst>
        </p:spPr>
      </p:sp>
      <p:sp>
        <p:nvSpPr>
          <p:cNvPr id="5" name="circle"/>
          <p:cNvSpPr/>
          <p:nvPr/>
        </p:nvSpPr>
        <p:spPr>
          <a:xfrm>
            <a:off x="822960" y="1874520"/>
            <a:ext cx="640080" cy="640080"/>
          </a:xfrm>
          <a:prstGeom prst="ellipse">
            <a:avLst/>
          </a:prstGeom>
          <a:solidFill>
            <a:schemeClr val="accent3"/>
          </a:solidFill>
          <a:ln/>
        </p:spPr>
      </p:sp>
      <p:pic>
        <p:nvPicPr>
          <p:cNvPr id="6" name="icon FaRandom" descr="Random icon">    </p:cNvPr>
          <p:cNvPicPr>
            <a:picLocks noChangeAspect="1"/>
          </p:cNvPicPr>
          <p:nvPr/>
        </p:nvPicPr>
        <p:blipFill>
          <a:blip r:embed="rId1"/>
          <a:stretch>
            <a:fillRect/>
          </a:stretch>
        </p:blipFill>
        <p:spPr>
          <a:xfrm>
            <a:off x="963778" y="2015338"/>
            <a:ext cx="358445" cy="358445"/>
          </a:xfrm>
          <a:prstGeom prst="rect">
            <a:avLst/>
          </a:prstGeom>
        </p:spPr>
      </p:pic>
      <p:sp>
        <p:nvSpPr>
          <p:cNvPr id="7" name="text"/>
          <p:cNvSpPr txBox="1"/>
          <p:nvPr/>
        </p:nvSpPr>
        <p:spPr>
          <a:xfrm>
            <a:off x="1645920" y="1645920"/>
            <a:ext cx="4114800" cy="365760"/>
          </a:xfrm>
          <a:prstGeom prst="rect">
            <a:avLst/>
          </a:prstGeom>
          <a:noFill/>
          <a:ln/>
        </p:spPr>
        <p:txBody>
          <a:bodyPr wrap="square" lIns="0" tIns="0" rIns="0" bIns="0" rtlCol="0" anchor="t"/>
          <a:lstStyle/>
          <a:p>
            <a:pPr algn="l" indent="0" marL="0">
              <a:buNone/>
            </a:pPr>
            <a:r>
              <a:rPr lang="en-US" sz="1800" b="1" dirty="0">
                <a:solidFill>
                  <a:schemeClr val="tx1"/>
                </a:solidFill>
              </a:rPr>
              <a:t>AI answers vary</a:t>
            </a:r>
            <a:endParaRPr lang="en-US" sz="1800" dirty="0"/>
          </a:p>
        </p:txBody>
      </p:sp>
      <p:sp>
        <p:nvSpPr>
          <p:cNvPr id="8" name="text"/>
          <p:cNvSpPr txBox="1"/>
          <p:nvPr/>
        </p:nvSpPr>
        <p:spPr>
          <a:xfrm>
            <a:off x="1645920" y="2039112"/>
            <a:ext cx="4114800" cy="777240"/>
          </a:xfrm>
          <a:prstGeom prst="rect">
            <a:avLst/>
          </a:prstGeom>
          <a:noFill/>
          <a:ln/>
        </p:spPr>
        <p:txBody>
          <a:bodyPr wrap="square" lIns="0" tIns="0" rIns="0" bIns="0" rtlCol="0" anchor="t"/>
          <a:lstStyle/>
          <a:p>
            <a:pPr algn="l" indent="0" marL="0">
              <a:buNone/>
            </a:pPr>
            <a:r>
              <a:rPr lang="en-US" sz="1400" dirty="0">
                <a:solidFill>
                  <a:schemeClr val="tx2"/>
                </a:solidFill>
              </a:rPr>
              <a:t>The same task can pass one run and fail the next, so bugs appeared only sometimes.</a:t>
            </a:r>
            <a:endParaRPr lang="en-US" sz="1400" dirty="0"/>
          </a:p>
        </p:txBody>
      </p:sp>
      <p:sp>
        <p:nvSpPr>
          <p:cNvPr id="9" name="card"/>
          <p:cNvSpPr/>
          <p:nvPr/>
        </p:nvSpPr>
        <p:spPr>
          <a:xfrm>
            <a:off x="6199632" y="1508760"/>
            <a:ext cx="5440680" cy="1371600"/>
          </a:xfrm>
          <a:prstGeom prst="roundRect">
            <a:avLst>
              <a:gd name="adj" fmla="val 8000"/>
            </a:avLst>
          </a:prstGeom>
          <a:solidFill>
            <a:schemeClr val="bg1"/>
          </a:solidFill>
          <a:ln/>
          <a:effectLst>
            <a:outerShdw sx="100000" sy="100000" kx="0" ky="0" algn="bl" rotWithShape="0" blurRad="88900" dist="25400" dir="5400000">
              <a:srgbClr val="000000">
                <a:alpha val="13000"/>
              </a:srgbClr>
            </a:outerShdw>
          </a:effectLst>
        </p:spPr>
      </p:sp>
      <p:sp>
        <p:nvSpPr>
          <p:cNvPr id="10" name="circle"/>
          <p:cNvSpPr/>
          <p:nvPr/>
        </p:nvSpPr>
        <p:spPr>
          <a:xfrm>
            <a:off x="6473952" y="1874520"/>
            <a:ext cx="640080" cy="640080"/>
          </a:xfrm>
          <a:prstGeom prst="ellipse">
            <a:avLst/>
          </a:prstGeom>
          <a:solidFill>
            <a:schemeClr val="accent3"/>
          </a:solidFill>
          <a:ln/>
        </p:spPr>
      </p:sp>
      <p:pic>
        <p:nvPicPr>
          <p:cNvPr id="11" name="icon FaCoins" descr="Coins icon">    </p:cNvPr>
          <p:cNvPicPr>
            <a:picLocks noChangeAspect="1"/>
          </p:cNvPicPr>
          <p:nvPr/>
        </p:nvPicPr>
        <p:blipFill>
          <a:blip r:embed="rId2"/>
          <a:stretch>
            <a:fillRect/>
          </a:stretch>
        </p:blipFill>
        <p:spPr>
          <a:xfrm>
            <a:off x="6614770" y="2015338"/>
            <a:ext cx="358445" cy="358445"/>
          </a:xfrm>
          <a:prstGeom prst="rect">
            <a:avLst/>
          </a:prstGeom>
        </p:spPr>
      </p:pic>
      <p:sp>
        <p:nvSpPr>
          <p:cNvPr id="12" name="text"/>
          <p:cNvSpPr txBox="1"/>
          <p:nvPr/>
        </p:nvSpPr>
        <p:spPr>
          <a:xfrm>
            <a:off x="7296912" y="1645920"/>
            <a:ext cx="4114800" cy="365760"/>
          </a:xfrm>
          <a:prstGeom prst="rect">
            <a:avLst/>
          </a:prstGeom>
          <a:noFill/>
          <a:ln/>
        </p:spPr>
        <p:txBody>
          <a:bodyPr wrap="square" lIns="0" tIns="0" rIns="0" bIns="0" rtlCol="0" anchor="t"/>
          <a:lstStyle/>
          <a:p>
            <a:pPr algn="l" indent="0" marL="0">
              <a:buNone/>
            </a:pPr>
            <a:r>
              <a:rPr lang="en-US" sz="1800" b="1" dirty="0">
                <a:solidFill>
                  <a:schemeClr val="tx1"/>
                </a:solidFill>
              </a:rPr>
              <a:t>Live tests burn quota</a:t>
            </a:r>
            <a:endParaRPr lang="en-US" sz="1800" dirty="0"/>
          </a:p>
        </p:txBody>
      </p:sp>
      <p:sp>
        <p:nvSpPr>
          <p:cNvPr id="13" name="text"/>
          <p:cNvSpPr txBox="1"/>
          <p:nvPr/>
        </p:nvSpPr>
        <p:spPr>
          <a:xfrm>
            <a:off x="7296912" y="2039112"/>
            <a:ext cx="4114800" cy="777240"/>
          </a:xfrm>
          <a:prstGeom prst="rect">
            <a:avLst/>
          </a:prstGeom>
          <a:noFill/>
          <a:ln/>
        </p:spPr>
        <p:txBody>
          <a:bodyPr wrap="square" lIns="0" tIns="0" rIns="0" bIns="0" rtlCol="0" anchor="t"/>
          <a:lstStyle/>
          <a:p>
            <a:pPr algn="l" indent="0" marL="0">
              <a:buNone/>
            </a:pPr>
            <a:r>
              <a:rPr lang="en-US" sz="1400" dirty="0">
                <a:solidFill>
                  <a:schemeClr val="tx2"/>
                </a:solidFill>
              </a:rPr>
              <a:t>One 16-record run used about 230 to 260 calls of roughly 1,000 a day, with a cap of 15 per minute.</a:t>
            </a:r>
            <a:endParaRPr lang="en-US" sz="1400" dirty="0"/>
          </a:p>
        </p:txBody>
      </p:sp>
      <p:sp>
        <p:nvSpPr>
          <p:cNvPr id="14" name="card"/>
          <p:cNvSpPr/>
          <p:nvPr/>
        </p:nvSpPr>
        <p:spPr>
          <a:xfrm>
            <a:off x="548640" y="3063240"/>
            <a:ext cx="5440680" cy="1371600"/>
          </a:xfrm>
          <a:prstGeom prst="roundRect">
            <a:avLst>
              <a:gd name="adj" fmla="val 8000"/>
            </a:avLst>
          </a:prstGeom>
          <a:solidFill>
            <a:schemeClr val="bg1"/>
          </a:solidFill>
          <a:ln/>
          <a:effectLst>
            <a:outerShdw sx="100000" sy="100000" kx="0" ky="0" algn="bl" rotWithShape="0" blurRad="88900" dist="25400" dir="5400000">
              <a:srgbClr val="000000">
                <a:alpha val="13000"/>
              </a:srgbClr>
            </a:outerShdw>
          </a:effectLst>
        </p:spPr>
      </p:sp>
      <p:sp>
        <p:nvSpPr>
          <p:cNvPr id="15" name="circle"/>
          <p:cNvSpPr/>
          <p:nvPr/>
        </p:nvSpPr>
        <p:spPr>
          <a:xfrm>
            <a:off x="822960" y="3429000"/>
            <a:ext cx="640080" cy="640080"/>
          </a:xfrm>
          <a:prstGeom prst="ellipse">
            <a:avLst/>
          </a:prstGeom>
          <a:solidFill>
            <a:schemeClr val="accent3"/>
          </a:solidFill>
          <a:ln/>
        </p:spPr>
      </p:sp>
      <p:pic>
        <p:nvPicPr>
          <p:cNvPr id="16" name="icon FaFlask" descr="Flask icon">    </p:cNvPr>
          <p:cNvPicPr>
            <a:picLocks noChangeAspect="1"/>
          </p:cNvPicPr>
          <p:nvPr/>
        </p:nvPicPr>
        <p:blipFill>
          <a:blip r:embed="rId3"/>
          <a:stretch>
            <a:fillRect/>
          </a:stretch>
        </p:blipFill>
        <p:spPr>
          <a:xfrm>
            <a:off x="963778" y="3569818"/>
            <a:ext cx="358445" cy="358445"/>
          </a:xfrm>
          <a:prstGeom prst="rect">
            <a:avLst/>
          </a:prstGeom>
        </p:spPr>
      </p:pic>
      <p:sp>
        <p:nvSpPr>
          <p:cNvPr id="17" name="text"/>
          <p:cNvSpPr txBox="1"/>
          <p:nvPr/>
        </p:nvSpPr>
        <p:spPr>
          <a:xfrm>
            <a:off x="1645920" y="3200400"/>
            <a:ext cx="4114800" cy="365760"/>
          </a:xfrm>
          <a:prstGeom prst="rect">
            <a:avLst/>
          </a:prstGeom>
          <a:noFill/>
          <a:ln/>
        </p:spPr>
        <p:txBody>
          <a:bodyPr wrap="square" lIns="0" tIns="0" rIns="0" bIns="0" rtlCol="0" anchor="t"/>
          <a:lstStyle/>
          <a:p>
            <a:pPr algn="l" indent="0" marL="0">
              <a:buNone/>
            </a:pPr>
            <a:r>
              <a:rPr lang="en-US" sz="1800" b="1" dirty="0">
                <a:solidFill>
                  <a:schemeClr val="tx1"/>
                </a:solidFill>
              </a:rPr>
              <a:t>Simulated tests miss reality</a:t>
            </a:r>
            <a:endParaRPr lang="en-US" sz="1800" dirty="0"/>
          </a:p>
        </p:txBody>
      </p:sp>
      <p:sp>
        <p:nvSpPr>
          <p:cNvPr id="18" name="text"/>
          <p:cNvSpPr txBox="1"/>
          <p:nvPr/>
        </p:nvSpPr>
        <p:spPr>
          <a:xfrm>
            <a:off x="1645920" y="3593592"/>
            <a:ext cx="4114800" cy="777240"/>
          </a:xfrm>
          <a:prstGeom prst="rect">
            <a:avLst/>
          </a:prstGeom>
          <a:noFill/>
          <a:ln/>
        </p:spPr>
        <p:txBody>
          <a:bodyPr wrap="square" lIns="0" tIns="0" rIns="0" bIns="0" rtlCol="0" anchor="t"/>
          <a:lstStyle/>
          <a:p>
            <a:pPr algn="l" indent="0" marL="0">
              <a:buNone/>
            </a:pPr>
            <a:r>
              <a:rPr lang="en-US" sz="1400" dirty="0">
                <a:solidFill>
                  <a:schemeClr val="tx2"/>
                </a:solidFill>
              </a:rPr>
              <a:t>About 900 checks passed with fake AI answers, yet real runs found new bugs every time.</a:t>
            </a:r>
            <a:endParaRPr lang="en-US" sz="1400" dirty="0"/>
          </a:p>
        </p:txBody>
      </p:sp>
      <p:sp>
        <p:nvSpPr>
          <p:cNvPr id="19" name="card"/>
          <p:cNvSpPr/>
          <p:nvPr/>
        </p:nvSpPr>
        <p:spPr>
          <a:xfrm>
            <a:off x="6199632" y="3063240"/>
            <a:ext cx="5440680" cy="1371600"/>
          </a:xfrm>
          <a:prstGeom prst="roundRect">
            <a:avLst>
              <a:gd name="adj" fmla="val 8000"/>
            </a:avLst>
          </a:prstGeom>
          <a:solidFill>
            <a:schemeClr val="bg1"/>
          </a:solidFill>
          <a:ln/>
          <a:effectLst>
            <a:outerShdw sx="100000" sy="100000" kx="0" ky="0" algn="bl" rotWithShape="0" blurRad="88900" dist="25400" dir="5400000">
              <a:srgbClr val="000000">
                <a:alpha val="13000"/>
              </a:srgbClr>
            </a:outerShdw>
          </a:effectLst>
        </p:spPr>
      </p:sp>
      <p:sp>
        <p:nvSpPr>
          <p:cNvPr id="20" name="circle"/>
          <p:cNvSpPr/>
          <p:nvPr/>
        </p:nvSpPr>
        <p:spPr>
          <a:xfrm>
            <a:off x="6473952" y="3429000"/>
            <a:ext cx="640080" cy="640080"/>
          </a:xfrm>
          <a:prstGeom prst="ellipse">
            <a:avLst/>
          </a:prstGeom>
          <a:solidFill>
            <a:schemeClr val="accent3"/>
          </a:solidFill>
          <a:ln/>
        </p:spPr>
      </p:sp>
      <p:pic>
        <p:nvPicPr>
          <p:cNvPr id="21" name="icon FaGavel" descr="Gavel icon">    </p:cNvPr>
          <p:cNvPicPr>
            <a:picLocks noChangeAspect="1"/>
          </p:cNvPicPr>
          <p:nvPr/>
        </p:nvPicPr>
        <p:blipFill>
          <a:blip r:embed="rId4"/>
          <a:stretch>
            <a:fillRect/>
          </a:stretch>
        </p:blipFill>
        <p:spPr>
          <a:xfrm>
            <a:off x="6614770" y="3569818"/>
            <a:ext cx="358445" cy="358445"/>
          </a:xfrm>
          <a:prstGeom prst="rect">
            <a:avLst/>
          </a:prstGeom>
        </p:spPr>
      </p:pic>
      <p:sp>
        <p:nvSpPr>
          <p:cNvPr id="22" name="text"/>
          <p:cNvSpPr txBox="1"/>
          <p:nvPr/>
        </p:nvSpPr>
        <p:spPr>
          <a:xfrm>
            <a:off x="7296912" y="3200400"/>
            <a:ext cx="4114800" cy="365760"/>
          </a:xfrm>
          <a:prstGeom prst="rect">
            <a:avLst/>
          </a:prstGeom>
          <a:noFill/>
          <a:ln/>
        </p:spPr>
        <p:txBody>
          <a:bodyPr wrap="square" lIns="0" tIns="0" rIns="0" bIns="0" rtlCol="0" anchor="t"/>
          <a:lstStyle/>
          <a:p>
            <a:pPr algn="l" indent="0" marL="0">
              <a:buNone/>
            </a:pPr>
            <a:r>
              <a:rPr lang="en-US" sz="1800" b="1" dirty="0">
                <a:solidFill>
                  <a:schemeClr val="tx1"/>
                </a:solidFill>
              </a:rPr>
              <a:t>The judge can be wrong</a:t>
            </a:r>
            <a:endParaRPr lang="en-US" sz="1800" dirty="0"/>
          </a:p>
        </p:txBody>
      </p:sp>
      <p:sp>
        <p:nvSpPr>
          <p:cNvPr id="23" name="text"/>
          <p:cNvSpPr txBox="1"/>
          <p:nvPr/>
        </p:nvSpPr>
        <p:spPr>
          <a:xfrm>
            <a:off x="7296912" y="3593592"/>
            <a:ext cx="4114800" cy="777240"/>
          </a:xfrm>
          <a:prstGeom prst="rect">
            <a:avLst/>
          </a:prstGeom>
          <a:noFill/>
          <a:ln/>
        </p:spPr>
        <p:txBody>
          <a:bodyPr wrap="square" lIns="0" tIns="0" rIns="0" bIns="0" rtlCol="0" anchor="t"/>
          <a:lstStyle/>
          <a:p>
            <a:pPr algn="l" indent="0" marL="0">
              <a:buNone/>
            </a:pPr>
            <a:r>
              <a:rPr lang="en-US" sz="1400" dirty="0">
                <a:solidFill>
                  <a:schemeClr val="tx2"/>
                </a:solidFill>
              </a:rPr>
              <a:t>Plans are checked against the live agent, which is itself sometimes wrong.</a:t>
            </a:r>
            <a:endParaRPr lang="en-US" sz="1400" dirty="0"/>
          </a:p>
        </p:txBody>
      </p:sp>
      <p:sp>
        <p:nvSpPr>
          <p:cNvPr id="24" name="card"/>
          <p:cNvSpPr/>
          <p:nvPr/>
        </p:nvSpPr>
        <p:spPr>
          <a:xfrm>
            <a:off x="548640" y="4617720"/>
            <a:ext cx="5440680" cy="1371600"/>
          </a:xfrm>
          <a:prstGeom prst="roundRect">
            <a:avLst>
              <a:gd name="adj" fmla="val 8000"/>
            </a:avLst>
          </a:prstGeom>
          <a:solidFill>
            <a:schemeClr val="bg1"/>
          </a:solidFill>
          <a:ln/>
          <a:effectLst>
            <a:outerShdw sx="100000" sy="100000" kx="0" ky="0" algn="bl" rotWithShape="0" blurRad="88900" dist="25400" dir="5400000">
              <a:srgbClr val="000000">
                <a:alpha val="13000"/>
              </a:srgbClr>
            </a:outerShdw>
          </a:effectLst>
        </p:spPr>
      </p:sp>
      <p:sp>
        <p:nvSpPr>
          <p:cNvPr id="25" name="circle"/>
          <p:cNvSpPr/>
          <p:nvPr/>
        </p:nvSpPr>
        <p:spPr>
          <a:xfrm>
            <a:off x="822960" y="4983480"/>
            <a:ext cx="640080" cy="640080"/>
          </a:xfrm>
          <a:prstGeom prst="ellipse">
            <a:avLst/>
          </a:prstGeom>
          <a:solidFill>
            <a:schemeClr val="accent3"/>
          </a:solidFill>
          <a:ln/>
        </p:spPr>
      </p:sp>
      <p:pic>
        <p:nvPicPr>
          <p:cNvPr id="26" name="icon FaServer" descr="Server icon">    </p:cNvPr>
          <p:cNvPicPr>
            <a:picLocks noChangeAspect="1"/>
          </p:cNvPicPr>
          <p:nvPr/>
        </p:nvPicPr>
        <p:blipFill>
          <a:blip r:embed="rId5"/>
          <a:stretch>
            <a:fillRect/>
          </a:stretch>
        </p:blipFill>
        <p:spPr>
          <a:xfrm>
            <a:off x="963778" y="5124298"/>
            <a:ext cx="358445" cy="358445"/>
          </a:xfrm>
          <a:prstGeom prst="rect">
            <a:avLst/>
          </a:prstGeom>
        </p:spPr>
      </p:pic>
      <p:sp>
        <p:nvSpPr>
          <p:cNvPr id="27" name="text"/>
          <p:cNvSpPr txBox="1"/>
          <p:nvPr/>
        </p:nvSpPr>
        <p:spPr>
          <a:xfrm>
            <a:off x="1645920" y="4754880"/>
            <a:ext cx="4114800" cy="365760"/>
          </a:xfrm>
          <a:prstGeom prst="rect">
            <a:avLst/>
          </a:prstGeom>
          <a:noFill/>
          <a:ln/>
        </p:spPr>
        <p:txBody>
          <a:bodyPr wrap="square" lIns="0" tIns="0" rIns="0" bIns="0" rtlCol="0" anchor="t"/>
          <a:lstStyle/>
          <a:p>
            <a:pPr algn="l" indent="0" marL="0">
              <a:buNone/>
            </a:pPr>
            <a:r>
              <a:rPr lang="en-US" sz="1800" b="1" dirty="0">
                <a:solidFill>
                  <a:schemeClr val="tx1"/>
                </a:solidFill>
              </a:rPr>
              <a:t>Shared sites and servers</a:t>
            </a:r>
            <a:endParaRPr lang="en-US" sz="1800" dirty="0"/>
          </a:p>
        </p:txBody>
      </p:sp>
      <p:sp>
        <p:nvSpPr>
          <p:cNvPr id="28" name="text"/>
          <p:cNvSpPr txBox="1"/>
          <p:nvPr/>
        </p:nvSpPr>
        <p:spPr>
          <a:xfrm>
            <a:off x="1645920" y="5148072"/>
            <a:ext cx="4114800" cy="777240"/>
          </a:xfrm>
          <a:prstGeom prst="rect">
            <a:avLst/>
          </a:prstGeom>
          <a:noFill/>
          <a:ln/>
        </p:spPr>
        <p:txBody>
          <a:bodyPr wrap="square" lIns="0" tIns="0" rIns="0" bIns="0" rtlCol="0" anchor="t"/>
          <a:lstStyle/>
          <a:p>
            <a:pPr algn="l" indent="0" marL="0">
              <a:buNone/>
            </a:pPr>
            <a:r>
              <a:rPr lang="en-US" sz="1400" dirty="0">
                <a:solidFill>
                  <a:schemeClr val="tx2"/>
                </a:solidFill>
              </a:rPr>
              <a:t>A test that resets a site wiped a live run; servers kept running old code until restarted.</a:t>
            </a:r>
            <a:endParaRPr lang="en-US" sz="1400" dirty="0"/>
          </a:p>
        </p:txBody>
      </p:sp>
      <p:sp>
        <p:nvSpPr>
          <p:cNvPr id="29" name="card"/>
          <p:cNvSpPr/>
          <p:nvPr/>
        </p:nvSpPr>
        <p:spPr>
          <a:xfrm>
            <a:off x="6199632" y="4617720"/>
            <a:ext cx="5440680" cy="1371600"/>
          </a:xfrm>
          <a:prstGeom prst="roundRect">
            <a:avLst>
              <a:gd name="adj" fmla="val 8000"/>
            </a:avLst>
          </a:prstGeom>
          <a:solidFill>
            <a:schemeClr val="bg1"/>
          </a:solidFill>
          <a:ln/>
          <a:effectLst>
            <a:outerShdw sx="100000" sy="100000" kx="0" ky="0" algn="bl" rotWithShape="0" blurRad="88900" dist="25400" dir="5400000">
              <a:srgbClr val="000000">
                <a:alpha val="13000"/>
              </a:srgbClr>
            </a:outerShdw>
          </a:effectLst>
        </p:spPr>
      </p:sp>
      <p:sp>
        <p:nvSpPr>
          <p:cNvPr id="30" name="circle"/>
          <p:cNvSpPr/>
          <p:nvPr/>
        </p:nvSpPr>
        <p:spPr>
          <a:xfrm>
            <a:off x="6473952" y="4983480"/>
            <a:ext cx="640080" cy="640080"/>
          </a:xfrm>
          <a:prstGeom prst="ellipse">
            <a:avLst/>
          </a:prstGeom>
          <a:solidFill>
            <a:schemeClr val="accent3"/>
          </a:solidFill>
          <a:ln/>
        </p:spPr>
      </p:sp>
      <p:pic>
        <p:nvPicPr>
          <p:cNvPr id="31" name="icon FaUsers" descr="Users icon">    </p:cNvPr>
          <p:cNvPicPr>
            <a:picLocks noChangeAspect="1"/>
          </p:cNvPicPr>
          <p:nvPr/>
        </p:nvPicPr>
        <p:blipFill>
          <a:blip r:embed="rId6"/>
          <a:stretch>
            <a:fillRect/>
          </a:stretch>
        </p:blipFill>
        <p:spPr>
          <a:xfrm>
            <a:off x="6614770" y="5124298"/>
            <a:ext cx="358445" cy="358445"/>
          </a:xfrm>
          <a:prstGeom prst="rect">
            <a:avLst/>
          </a:prstGeom>
        </p:spPr>
      </p:pic>
      <p:sp>
        <p:nvSpPr>
          <p:cNvPr id="32" name="text"/>
          <p:cNvSpPr txBox="1"/>
          <p:nvPr/>
        </p:nvSpPr>
        <p:spPr>
          <a:xfrm>
            <a:off x="7296912" y="4754880"/>
            <a:ext cx="4114800" cy="365760"/>
          </a:xfrm>
          <a:prstGeom prst="rect">
            <a:avLst/>
          </a:prstGeom>
          <a:noFill/>
          <a:ln/>
        </p:spPr>
        <p:txBody>
          <a:bodyPr wrap="square" lIns="0" tIns="0" rIns="0" bIns="0" rtlCol="0" anchor="t"/>
          <a:lstStyle/>
          <a:p>
            <a:pPr algn="l" indent="0" marL="0">
              <a:buNone/>
            </a:pPr>
            <a:r>
              <a:rPr lang="en-US" sz="1800" b="1" dirty="0">
                <a:solidFill>
                  <a:schemeClr val="tx1"/>
                </a:solidFill>
              </a:rPr>
              <a:t>Many AI helpers at once</a:t>
            </a:r>
            <a:endParaRPr lang="en-US" sz="1800" dirty="0"/>
          </a:p>
        </p:txBody>
      </p:sp>
      <p:sp>
        <p:nvSpPr>
          <p:cNvPr id="33" name="text"/>
          <p:cNvSpPr txBox="1"/>
          <p:nvPr/>
        </p:nvSpPr>
        <p:spPr>
          <a:xfrm>
            <a:off x="7296912" y="5148072"/>
            <a:ext cx="4114800" cy="777240"/>
          </a:xfrm>
          <a:prstGeom prst="rect">
            <a:avLst/>
          </a:prstGeom>
          <a:noFill/>
          <a:ln/>
        </p:spPr>
        <p:txBody>
          <a:bodyPr wrap="square" lIns="0" tIns="0" rIns="0" bIns="0" rtlCol="0" anchor="t"/>
          <a:lstStyle/>
          <a:p>
            <a:pPr algn="l" indent="0" marL="0">
              <a:buNone/>
            </a:pPr>
            <a:r>
              <a:rPr lang="en-US" sz="1400" dirty="0">
                <a:solidFill>
                  <a:schemeClr val="tx2"/>
                </a:solidFill>
              </a:rPr>
              <a:t>Parallel builders hit usage limits five or more times, leaving half-finished work.</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1"/>
                </a:solidFill>
              </a:rPr>
              <a:t>Lessons ledger</a:t>
            </a:r>
            <a:endParaRPr lang="en-US" sz="3200" dirty="0"/>
          </a:p>
        </p:txBody>
      </p:sp>
      <p:sp>
        <p:nvSpPr>
          <p:cNvPr id="4" name="card"/>
          <p:cNvSpPr/>
          <p:nvPr/>
        </p:nvSpPr>
        <p:spPr>
          <a:xfrm>
            <a:off x="548640" y="1463040"/>
            <a:ext cx="11094415" cy="713232"/>
          </a:xfrm>
          <a:prstGeom prst="roundRect">
            <a:avLst>
              <a:gd name="adj" fmla="val 15385"/>
            </a:avLst>
          </a:prstGeom>
          <a:solidFill>
            <a:schemeClr val="bg1"/>
          </a:solidFill>
          <a:ln/>
          <a:effectLst>
            <a:outerShdw sx="100000" sy="100000" kx="0" ky="0" algn="bl" rotWithShape="0" blurRad="88900" dist="25400" dir="5400000">
              <a:srgbClr val="000000">
                <a:alpha val="13000"/>
              </a:srgbClr>
            </a:outerShdw>
          </a:effectLst>
        </p:spPr>
      </p:sp>
      <p:sp>
        <p:nvSpPr>
          <p:cNvPr id="5" name="text"/>
          <p:cNvSpPr txBox="1"/>
          <p:nvPr/>
        </p:nvSpPr>
        <p:spPr>
          <a:xfrm>
            <a:off x="731520" y="1463040"/>
            <a:ext cx="365760" cy="713232"/>
          </a:xfrm>
          <a:prstGeom prst="rect">
            <a:avLst/>
          </a:prstGeom>
          <a:noFill/>
          <a:ln/>
        </p:spPr>
        <p:txBody>
          <a:bodyPr wrap="square" lIns="0" tIns="0" rIns="0" bIns="0" rtlCol="0" anchor="ctr"/>
          <a:lstStyle/>
          <a:p>
            <a:pPr algn="l" indent="0" marL="0">
              <a:buNone/>
            </a:pPr>
            <a:r>
              <a:rPr lang="en-US" sz="2000" b="1" dirty="0">
                <a:solidFill>
                  <a:schemeClr val="tx2"/>
                </a:solidFill>
              </a:rPr>
              <a:t>1</a:t>
            </a:r>
            <a:endParaRPr lang="en-US" sz="2000" dirty="0"/>
          </a:p>
        </p:txBody>
      </p:sp>
      <p:sp>
        <p:nvSpPr>
          <p:cNvPr id="6" name="circle"/>
          <p:cNvSpPr/>
          <p:nvPr/>
        </p:nvSpPr>
        <p:spPr>
          <a:xfrm>
            <a:off x="1234440" y="1591056"/>
            <a:ext cx="457200" cy="457200"/>
          </a:xfrm>
          <a:prstGeom prst="ellipse">
            <a:avLst/>
          </a:prstGeom>
          <a:solidFill>
            <a:schemeClr val="accent3"/>
          </a:solidFill>
          <a:ln/>
        </p:spPr>
      </p:sp>
      <p:pic>
        <p:nvPicPr>
          <p:cNvPr id="7" name="icon FaBug" descr="Bug icon">    </p:cNvPr>
          <p:cNvPicPr>
            <a:picLocks noChangeAspect="1"/>
          </p:cNvPicPr>
          <p:nvPr/>
        </p:nvPicPr>
        <p:blipFill>
          <a:blip r:embed="rId1"/>
          <a:stretch>
            <a:fillRect/>
          </a:stretch>
        </p:blipFill>
        <p:spPr>
          <a:xfrm>
            <a:off x="1335024" y="1691640"/>
            <a:ext cx="256032" cy="256032"/>
          </a:xfrm>
          <a:prstGeom prst="rect">
            <a:avLst/>
          </a:prstGeom>
        </p:spPr>
      </p:pic>
      <p:sp>
        <p:nvSpPr>
          <p:cNvPr id="8" name="text"/>
          <p:cNvSpPr txBox="1"/>
          <p:nvPr/>
        </p:nvSpPr>
        <p:spPr>
          <a:xfrm>
            <a:off x="1874520" y="1463040"/>
            <a:ext cx="4023360" cy="713232"/>
          </a:xfrm>
          <a:prstGeom prst="rect">
            <a:avLst/>
          </a:prstGeom>
          <a:noFill/>
          <a:ln/>
        </p:spPr>
        <p:txBody>
          <a:bodyPr wrap="square" lIns="0" tIns="0" rIns="0" bIns="0" rtlCol="0" anchor="ctr"/>
          <a:lstStyle/>
          <a:p>
            <a:pPr algn="l" indent="0" marL="0">
              <a:buNone/>
            </a:pPr>
            <a:r>
              <a:rPr lang="en-US" sz="1400" dirty="0">
                <a:solidFill>
                  <a:schemeClr val="tx1"/>
                </a:solidFill>
              </a:rPr>
              <a:t>AI doing arithmetic and rule order</a:t>
            </a:r>
            <a:endParaRPr lang="en-US" sz="1400" dirty="0"/>
          </a:p>
        </p:txBody>
      </p:sp>
      <p:sp>
        <p:nvSpPr>
          <p:cNvPr id="9" name="arrow"/>
          <p:cNvSpPr/>
          <p:nvPr/>
        </p:nvSpPr>
        <p:spPr>
          <a:xfrm>
            <a:off x="6035040" y="1682496"/>
            <a:ext cx="411480" cy="274320"/>
          </a:xfrm>
          <a:prstGeom prst="rightArrow">
            <a:avLst/>
          </a:prstGeom>
          <a:solidFill>
            <a:schemeClr val="accent5"/>
          </a:solidFill>
          <a:ln/>
        </p:spPr>
      </p:sp>
      <p:sp>
        <p:nvSpPr>
          <p:cNvPr id="10" name="circle"/>
          <p:cNvSpPr/>
          <p:nvPr/>
        </p:nvSpPr>
        <p:spPr>
          <a:xfrm>
            <a:off x="6629400" y="1591056"/>
            <a:ext cx="457200" cy="457200"/>
          </a:xfrm>
          <a:prstGeom prst="ellipse">
            <a:avLst/>
          </a:prstGeom>
          <a:solidFill>
            <a:schemeClr val="accent2"/>
          </a:solidFill>
          <a:ln/>
        </p:spPr>
      </p:sp>
      <p:pic>
        <p:nvPicPr>
          <p:cNvPr id="11" name="icon FaWrench" descr="Wrench icon">    </p:cNvPr>
          <p:cNvPicPr>
            <a:picLocks noChangeAspect="1"/>
          </p:cNvPicPr>
          <p:nvPr/>
        </p:nvPicPr>
        <p:blipFill>
          <a:blip r:embed="rId2"/>
          <a:stretch>
            <a:fillRect/>
          </a:stretch>
        </p:blipFill>
        <p:spPr>
          <a:xfrm>
            <a:off x="6729984" y="1691640"/>
            <a:ext cx="256032" cy="256032"/>
          </a:xfrm>
          <a:prstGeom prst="rect">
            <a:avLst/>
          </a:prstGeom>
        </p:spPr>
      </p:pic>
      <p:sp>
        <p:nvSpPr>
          <p:cNvPr id="12" name="text"/>
          <p:cNvSpPr txBox="1"/>
          <p:nvPr/>
        </p:nvSpPr>
        <p:spPr>
          <a:xfrm>
            <a:off x="7269480" y="1463040"/>
            <a:ext cx="4206240" cy="713232"/>
          </a:xfrm>
          <a:prstGeom prst="rect">
            <a:avLst/>
          </a:prstGeom>
          <a:noFill/>
          <a:ln/>
        </p:spPr>
        <p:txBody>
          <a:bodyPr wrap="square" lIns="0" tIns="0" rIns="0" bIns="0" rtlCol="0" anchor="ctr"/>
          <a:lstStyle/>
          <a:p>
            <a:pPr algn="l" indent="0" marL="0">
              <a:buNone/>
            </a:pPr>
            <a:r>
              <a:rPr lang="en-US" sz="1400" b="1" dirty="0">
                <a:solidFill>
                  <a:schemeClr val="tx1"/>
                </a:solidFill>
              </a:rPr>
              <a:t>Code computes; the AI only reads and translates</a:t>
            </a:r>
            <a:endParaRPr lang="en-US" sz="1400" dirty="0"/>
          </a:p>
        </p:txBody>
      </p:sp>
      <p:sp>
        <p:nvSpPr>
          <p:cNvPr id="13" name="card"/>
          <p:cNvSpPr/>
          <p:nvPr/>
        </p:nvSpPr>
        <p:spPr>
          <a:xfrm>
            <a:off x="548640" y="2267712"/>
            <a:ext cx="11094415" cy="713232"/>
          </a:xfrm>
          <a:prstGeom prst="roundRect">
            <a:avLst>
              <a:gd name="adj" fmla="val 15385"/>
            </a:avLst>
          </a:prstGeom>
          <a:solidFill>
            <a:schemeClr val="bg1"/>
          </a:solidFill>
          <a:ln/>
          <a:effectLst>
            <a:outerShdw sx="100000" sy="100000" kx="0" ky="0" algn="bl" rotWithShape="0" blurRad="88900" dist="25400" dir="5400000">
              <a:srgbClr val="000000">
                <a:alpha val="13000"/>
              </a:srgbClr>
            </a:outerShdw>
          </a:effectLst>
        </p:spPr>
      </p:sp>
      <p:sp>
        <p:nvSpPr>
          <p:cNvPr id="14" name="text"/>
          <p:cNvSpPr txBox="1"/>
          <p:nvPr/>
        </p:nvSpPr>
        <p:spPr>
          <a:xfrm>
            <a:off x="731520" y="2267712"/>
            <a:ext cx="365760" cy="713232"/>
          </a:xfrm>
          <a:prstGeom prst="rect">
            <a:avLst/>
          </a:prstGeom>
          <a:noFill/>
          <a:ln/>
        </p:spPr>
        <p:txBody>
          <a:bodyPr wrap="square" lIns="0" tIns="0" rIns="0" bIns="0" rtlCol="0" anchor="ctr"/>
          <a:lstStyle/>
          <a:p>
            <a:pPr algn="l" indent="0" marL="0">
              <a:buNone/>
            </a:pPr>
            <a:r>
              <a:rPr lang="en-US" sz="2000" b="1" dirty="0">
                <a:solidFill>
                  <a:schemeClr val="tx2"/>
                </a:solidFill>
              </a:rPr>
              <a:t>2</a:t>
            </a:r>
            <a:endParaRPr lang="en-US" sz="2000" dirty="0"/>
          </a:p>
        </p:txBody>
      </p:sp>
      <p:sp>
        <p:nvSpPr>
          <p:cNvPr id="15" name="circle"/>
          <p:cNvSpPr/>
          <p:nvPr/>
        </p:nvSpPr>
        <p:spPr>
          <a:xfrm>
            <a:off x="1234440" y="2395728"/>
            <a:ext cx="457200" cy="457200"/>
          </a:xfrm>
          <a:prstGeom prst="ellipse">
            <a:avLst/>
          </a:prstGeom>
          <a:solidFill>
            <a:schemeClr val="accent3"/>
          </a:solidFill>
          <a:ln/>
        </p:spPr>
      </p:sp>
      <p:pic>
        <p:nvPicPr>
          <p:cNvPr id="16" name="icon FaBug" descr="Bug icon">    </p:cNvPr>
          <p:cNvPicPr>
            <a:picLocks noChangeAspect="1"/>
          </p:cNvPicPr>
          <p:nvPr/>
        </p:nvPicPr>
        <p:blipFill>
          <a:blip r:embed="rId3"/>
          <a:stretch>
            <a:fillRect/>
          </a:stretch>
        </p:blipFill>
        <p:spPr>
          <a:xfrm>
            <a:off x="1335024" y="2496312"/>
            <a:ext cx="256032" cy="256032"/>
          </a:xfrm>
          <a:prstGeom prst="rect">
            <a:avLst/>
          </a:prstGeom>
        </p:spPr>
      </p:pic>
      <p:sp>
        <p:nvSpPr>
          <p:cNvPr id="17" name="text"/>
          <p:cNvSpPr txBox="1"/>
          <p:nvPr/>
        </p:nvSpPr>
        <p:spPr>
          <a:xfrm>
            <a:off x="1874520" y="2267712"/>
            <a:ext cx="4023360" cy="713232"/>
          </a:xfrm>
          <a:prstGeom prst="rect">
            <a:avLst/>
          </a:prstGeom>
          <a:noFill/>
          <a:ln/>
        </p:spPr>
        <p:txBody>
          <a:bodyPr wrap="square" lIns="0" tIns="0" rIns="0" bIns="0" rtlCol="0" anchor="ctr"/>
          <a:lstStyle/>
          <a:p>
            <a:pPr algn="l" indent="0" marL="0">
              <a:buNone/>
            </a:pPr>
            <a:r>
              <a:rPr lang="en-US" sz="1400" dirty="0">
                <a:solidFill>
                  <a:schemeClr val="tx1"/>
                </a:solidFill>
              </a:rPr>
              <a:t>A cache that is wrong without failing</a:t>
            </a:r>
            <a:endParaRPr lang="en-US" sz="1400" dirty="0"/>
          </a:p>
        </p:txBody>
      </p:sp>
      <p:sp>
        <p:nvSpPr>
          <p:cNvPr id="18" name="arrow"/>
          <p:cNvSpPr/>
          <p:nvPr/>
        </p:nvSpPr>
        <p:spPr>
          <a:xfrm>
            <a:off x="6035040" y="2487168"/>
            <a:ext cx="411480" cy="274320"/>
          </a:xfrm>
          <a:prstGeom prst="rightArrow">
            <a:avLst/>
          </a:prstGeom>
          <a:solidFill>
            <a:schemeClr val="accent5"/>
          </a:solidFill>
          <a:ln/>
        </p:spPr>
      </p:sp>
      <p:sp>
        <p:nvSpPr>
          <p:cNvPr id="19" name="circle"/>
          <p:cNvSpPr/>
          <p:nvPr/>
        </p:nvSpPr>
        <p:spPr>
          <a:xfrm>
            <a:off x="6629400" y="2395728"/>
            <a:ext cx="457200" cy="457200"/>
          </a:xfrm>
          <a:prstGeom prst="ellipse">
            <a:avLst/>
          </a:prstGeom>
          <a:solidFill>
            <a:schemeClr val="accent2"/>
          </a:solidFill>
          <a:ln/>
        </p:spPr>
      </p:sp>
      <p:pic>
        <p:nvPicPr>
          <p:cNvPr id="20" name="icon FaWrench" descr="Wrench icon">    </p:cNvPr>
          <p:cNvPicPr>
            <a:picLocks noChangeAspect="1"/>
          </p:cNvPicPr>
          <p:nvPr/>
        </p:nvPicPr>
        <p:blipFill>
          <a:blip r:embed="rId4"/>
          <a:stretch>
            <a:fillRect/>
          </a:stretch>
        </p:blipFill>
        <p:spPr>
          <a:xfrm>
            <a:off x="6729984" y="2496312"/>
            <a:ext cx="256032" cy="256032"/>
          </a:xfrm>
          <a:prstGeom prst="rect">
            <a:avLst/>
          </a:prstGeom>
        </p:spPr>
      </p:pic>
      <p:sp>
        <p:nvSpPr>
          <p:cNvPr id="21" name="text"/>
          <p:cNvSpPr txBox="1"/>
          <p:nvPr/>
        </p:nvSpPr>
        <p:spPr>
          <a:xfrm>
            <a:off x="7269480" y="2267712"/>
            <a:ext cx="4206240" cy="713232"/>
          </a:xfrm>
          <a:prstGeom prst="rect">
            <a:avLst/>
          </a:prstGeom>
          <a:noFill/>
          <a:ln/>
        </p:spPr>
        <p:txBody>
          <a:bodyPr wrap="square" lIns="0" tIns="0" rIns="0" bIns="0" rtlCol="0" anchor="ctr"/>
          <a:lstStyle/>
          <a:p>
            <a:pPr algn="l" indent="0" marL="0">
              <a:buNone/>
            </a:pPr>
            <a:r>
              <a:rPr lang="en-US" sz="1400" b="1" dirty="0">
                <a:solidFill>
                  <a:schemeClr val="tx1"/>
                </a:solidFill>
              </a:rPr>
              <a:t>Prove every plan against an independent answer first</a:t>
            </a:r>
            <a:endParaRPr lang="en-US" sz="1400" dirty="0"/>
          </a:p>
        </p:txBody>
      </p:sp>
      <p:sp>
        <p:nvSpPr>
          <p:cNvPr id="22" name="card"/>
          <p:cNvSpPr/>
          <p:nvPr/>
        </p:nvSpPr>
        <p:spPr>
          <a:xfrm>
            <a:off x="548640" y="3072384"/>
            <a:ext cx="11094415" cy="713232"/>
          </a:xfrm>
          <a:prstGeom prst="roundRect">
            <a:avLst>
              <a:gd name="adj" fmla="val 15385"/>
            </a:avLst>
          </a:prstGeom>
          <a:solidFill>
            <a:schemeClr val="bg1"/>
          </a:solidFill>
          <a:ln/>
          <a:effectLst>
            <a:outerShdw sx="100000" sy="100000" kx="0" ky="0" algn="bl" rotWithShape="0" blurRad="88900" dist="25400" dir="5400000">
              <a:srgbClr val="000000">
                <a:alpha val="13000"/>
              </a:srgbClr>
            </a:outerShdw>
          </a:effectLst>
        </p:spPr>
      </p:sp>
      <p:sp>
        <p:nvSpPr>
          <p:cNvPr id="23" name="text"/>
          <p:cNvSpPr txBox="1"/>
          <p:nvPr/>
        </p:nvSpPr>
        <p:spPr>
          <a:xfrm>
            <a:off x="731520" y="3072384"/>
            <a:ext cx="365760" cy="713232"/>
          </a:xfrm>
          <a:prstGeom prst="rect">
            <a:avLst/>
          </a:prstGeom>
          <a:noFill/>
          <a:ln/>
        </p:spPr>
        <p:txBody>
          <a:bodyPr wrap="square" lIns="0" tIns="0" rIns="0" bIns="0" rtlCol="0" anchor="ctr"/>
          <a:lstStyle/>
          <a:p>
            <a:pPr algn="l" indent="0" marL="0">
              <a:buNone/>
            </a:pPr>
            <a:r>
              <a:rPr lang="en-US" sz="2000" b="1" dirty="0">
                <a:solidFill>
                  <a:schemeClr val="tx2"/>
                </a:solidFill>
              </a:rPr>
              <a:t>3</a:t>
            </a:r>
            <a:endParaRPr lang="en-US" sz="2000" dirty="0"/>
          </a:p>
        </p:txBody>
      </p:sp>
      <p:sp>
        <p:nvSpPr>
          <p:cNvPr id="24" name="circle"/>
          <p:cNvSpPr/>
          <p:nvPr/>
        </p:nvSpPr>
        <p:spPr>
          <a:xfrm>
            <a:off x="1234440" y="3200400"/>
            <a:ext cx="457200" cy="457200"/>
          </a:xfrm>
          <a:prstGeom prst="ellipse">
            <a:avLst/>
          </a:prstGeom>
          <a:solidFill>
            <a:schemeClr val="accent3"/>
          </a:solidFill>
          <a:ln/>
        </p:spPr>
      </p:sp>
      <p:pic>
        <p:nvPicPr>
          <p:cNvPr id="25" name="icon FaBug" descr="Bug icon">    </p:cNvPr>
          <p:cNvPicPr>
            <a:picLocks noChangeAspect="1"/>
          </p:cNvPicPr>
          <p:nvPr/>
        </p:nvPicPr>
        <p:blipFill>
          <a:blip r:embed="rId5"/>
          <a:stretch>
            <a:fillRect/>
          </a:stretch>
        </p:blipFill>
        <p:spPr>
          <a:xfrm>
            <a:off x="1335024" y="3300984"/>
            <a:ext cx="256032" cy="256032"/>
          </a:xfrm>
          <a:prstGeom prst="rect">
            <a:avLst/>
          </a:prstGeom>
        </p:spPr>
      </p:pic>
      <p:sp>
        <p:nvSpPr>
          <p:cNvPr id="26" name="text"/>
          <p:cNvSpPr txBox="1"/>
          <p:nvPr/>
        </p:nvSpPr>
        <p:spPr>
          <a:xfrm>
            <a:off x="1874520" y="3072384"/>
            <a:ext cx="4023360" cy="713232"/>
          </a:xfrm>
          <a:prstGeom prst="rect">
            <a:avLst/>
          </a:prstGeom>
          <a:noFill/>
          <a:ln/>
        </p:spPr>
        <p:txBody>
          <a:bodyPr wrap="square" lIns="0" tIns="0" rIns="0" bIns="0" rtlCol="0" anchor="ctr"/>
          <a:lstStyle/>
          <a:p>
            <a:pPr algn="l" indent="0" marL="0">
              <a:buNone/>
            </a:pPr>
            <a:r>
              <a:rPr lang="en-US" sz="1400" dirty="0">
                <a:solidFill>
                  <a:schemeClr val="tx1"/>
                </a:solidFill>
              </a:rPr>
              <a:t>Trust earned once, applied to everything</a:t>
            </a:r>
            <a:endParaRPr lang="en-US" sz="1400" dirty="0"/>
          </a:p>
        </p:txBody>
      </p:sp>
      <p:sp>
        <p:nvSpPr>
          <p:cNvPr id="27" name="arrow"/>
          <p:cNvSpPr/>
          <p:nvPr/>
        </p:nvSpPr>
        <p:spPr>
          <a:xfrm>
            <a:off x="6035040" y="3291840"/>
            <a:ext cx="411480" cy="274320"/>
          </a:xfrm>
          <a:prstGeom prst="rightArrow">
            <a:avLst/>
          </a:prstGeom>
          <a:solidFill>
            <a:schemeClr val="accent5"/>
          </a:solidFill>
          <a:ln/>
        </p:spPr>
      </p:sp>
      <p:sp>
        <p:nvSpPr>
          <p:cNvPr id="28" name="circle"/>
          <p:cNvSpPr/>
          <p:nvPr/>
        </p:nvSpPr>
        <p:spPr>
          <a:xfrm>
            <a:off x="6629400" y="3200400"/>
            <a:ext cx="457200" cy="457200"/>
          </a:xfrm>
          <a:prstGeom prst="ellipse">
            <a:avLst/>
          </a:prstGeom>
          <a:solidFill>
            <a:schemeClr val="accent2"/>
          </a:solidFill>
          <a:ln/>
        </p:spPr>
      </p:sp>
      <p:pic>
        <p:nvPicPr>
          <p:cNvPr id="29" name="icon FaWrench" descr="Wrench icon">    </p:cNvPr>
          <p:cNvPicPr>
            <a:picLocks noChangeAspect="1"/>
          </p:cNvPicPr>
          <p:nvPr/>
        </p:nvPicPr>
        <p:blipFill>
          <a:blip r:embed="rId6"/>
          <a:stretch>
            <a:fillRect/>
          </a:stretch>
        </p:blipFill>
        <p:spPr>
          <a:xfrm>
            <a:off x="6729984" y="3300984"/>
            <a:ext cx="256032" cy="256032"/>
          </a:xfrm>
          <a:prstGeom prst="rect">
            <a:avLst/>
          </a:prstGeom>
        </p:spPr>
      </p:pic>
      <p:sp>
        <p:nvSpPr>
          <p:cNvPr id="30" name="text"/>
          <p:cNvSpPr txBox="1"/>
          <p:nvPr/>
        </p:nvSpPr>
        <p:spPr>
          <a:xfrm>
            <a:off x="7269480" y="3072384"/>
            <a:ext cx="4206240" cy="713232"/>
          </a:xfrm>
          <a:prstGeom prst="rect">
            <a:avLst/>
          </a:prstGeom>
          <a:noFill/>
          <a:ln/>
        </p:spPr>
        <p:txBody>
          <a:bodyPr wrap="square" lIns="0" tIns="0" rIns="0" bIns="0" rtlCol="0" anchor="ctr"/>
          <a:lstStyle/>
          <a:p>
            <a:pPr algn="l" indent="0" marL="0">
              <a:buNone/>
            </a:pPr>
            <a:r>
              <a:rPr lang="en-US" sz="1400" b="1" dirty="0">
                <a:solidFill>
                  <a:schemeClr val="tx1"/>
                </a:solidFill>
              </a:rPr>
              <a:t>Trust per kind of case, checked once each</a:t>
            </a:r>
            <a:endParaRPr lang="en-US" sz="1400" dirty="0"/>
          </a:p>
        </p:txBody>
      </p:sp>
      <p:sp>
        <p:nvSpPr>
          <p:cNvPr id="31" name="card"/>
          <p:cNvSpPr/>
          <p:nvPr/>
        </p:nvSpPr>
        <p:spPr>
          <a:xfrm>
            <a:off x="548640" y="3877056"/>
            <a:ext cx="11094415" cy="713232"/>
          </a:xfrm>
          <a:prstGeom prst="roundRect">
            <a:avLst>
              <a:gd name="adj" fmla="val 15385"/>
            </a:avLst>
          </a:prstGeom>
          <a:solidFill>
            <a:schemeClr val="bg1"/>
          </a:solidFill>
          <a:ln/>
          <a:effectLst>
            <a:outerShdw sx="100000" sy="100000" kx="0" ky="0" algn="bl" rotWithShape="0" blurRad="88900" dist="25400" dir="5400000">
              <a:srgbClr val="000000">
                <a:alpha val="13000"/>
              </a:srgbClr>
            </a:outerShdw>
          </a:effectLst>
        </p:spPr>
      </p:sp>
      <p:sp>
        <p:nvSpPr>
          <p:cNvPr id="32" name="text"/>
          <p:cNvSpPr txBox="1"/>
          <p:nvPr/>
        </p:nvSpPr>
        <p:spPr>
          <a:xfrm>
            <a:off x="731520" y="3877056"/>
            <a:ext cx="365760" cy="713232"/>
          </a:xfrm>
          <a:prstGeom prst="rect">
            <a:avLst/>
          </a:prstGeom>
          <a:noFill/>
          <a:ln/>
        </p:spPr>
        <p:txBody>
          <a:bodyPr wrap="square" lIns="0" tIns="0" rIns="0" bIns="0" rtlCol="0" anchor="ctr"/>
          <a:lstStyle/>
          <a:p>
            <a:pPr algn="l" indent="0" marL="0">
              <a:buNone/>
            </a:pPr>
            <a:r>
              <a:rPr lang="en-US" sz="2000" b="1" dirty="0">
                <a:solidFill>
                  <a:schemeClr val="tx2"/>
                </a:solidFill>
              </a:rPr>
              <a:t>4</a:t>
            </a:r>
            <a:endParaRPr lang="en-US" sz="2000" dirty="0"/>
          </a:p>
        </p:txBody>
      </p:sp>
      <p:sp>
        <p:nvSpPr>
          <p:cNvPr id="33" name="circle"/>
          <p:cNvSpPr/>
          <p:nvPr/>
        </p:nvSpPr>
        <p:spPr>
          <a:xfrm>
            <a:off x="1234440" y="4005072"/>
            <a:ext cx="457200" cy="457200"/>
          </a:xfrm>
          <a:prstGeom prst="ellipse">
            <a:avLst/>
          </a:prstGeom>
          <a:solidFill>
            <a:schemeClr val="accent3"/>
          </a:solidFill>
          <a:ln/>
        </p:spPr>
      </p:sp>
      <p:pic>
        <p:nvPicPr>
          <p:cNvPr id="34" name="icon FaBug" descr="Bug icon">    </p:cNvPr>
          <p:cNvPicPr>
            <a:picLocks noChangeAspect="1"/>
          </p:cNvPicPr>
          <p:nvPr/>
        </p:nvPicPr>
        <p:blipFill>
          <a:blip r:embed="rId7"/>
          <a:stretch>
            <a:fillRect/>
          </a:stretch>
        </p:blipFill>
        <p:spPr>
          <a:xfrm>
            <a:off x="1335024" y="4105656"/>
            <a:ext cx="256032" cy="256032"/>
          </a:xfrm>
          <a:prstGeom prst="rect">
            <a:avLst/>
          </a:prstGeom>
        </p:spPr>
      </p:pic>
      <p:sp>
        <p:nvSpPr>
          <p:cNvPr id="35" name="text"/>
          <p:cNvSpPr txBox="1"/>
          <p:nvPr/>
        </p:nvSpPr>
        <p:spPr>
          <a:xfrm>
            <a:off x="1874520" y="3877056"/>
            <a:ext cx="4023360" cy="713232"/>
          </a:xfrm>
          <a:prstGeom prst="rect">
            <a:avLst/>
          </a:prstGeom>
          <a:noFill/>
          <a:ln/>
        </p:spPr>
        <p:txBody>
          <a:bodyPr wrap="square" lIns="0" tIns="0" rIns="0" bIns="0" rtlCol="0" anchor="ctr"/>
          <a:lstStyle/>
          <a:p>
            <a:pPr algn="l" indent="0" marL="0">
              <a:buNone/>
            </a:pPr>
            <a:r>
              <a:rPr lang="en-US" sz="1400" dirty="0">
                <a:solidFill>
                  <a:schemeClr val="tx1"/>
                </a:solidFill>
              </a:rPr>
              <a:t>The AI saying it is sure</a:t>
            </a:r>
            <a:endParaRPr lang="en-US" sz="1400" dirty="0"/>
          </a:p>
        </p:txBody>
      </p:sp>
      <p:sp>
        <p:nvSpPr>
          <p:cNvPr id="36" name="arrow"/>
          <p:cNvSpPr/>
          <p:nvPr/>
        </p:nvSpPr>
        <p:spPr>
          <a:xfrm>
            <a:off x="6035040" y="4096512"/>
            <a:ext cx="411480" cy="274320"/>
          </a:xfrm>
          <a:prstGeom prst="rightArrow">
            <a:avLst/>
          </a:prstGeom>
          <a:solidFill>
            <a:schemeClr val="accent5"/>
          </a:solidFill>
          <a:ln/>
        </p:spPr>
      </p:sp>
      <p:sp>
        <p:nvSpPr>
          <p:cNvPr id="37" name="circle"/>
          <p:cNvSpPr/>
          <p:nvPr/>
        </p:nvSpPr>
        <p:spPr>
          <a:xfrm>
            <a:off x="6629400" y="4005072"/>
            <a:ext cx="457200" cy="457200"/>
          </a:xfrm>
          <a:prstGeom prst="ellipse">
            <a:avLst/>
          </a:prstGeom>
          <a:solidFill>
            <a:schemeClr val="accent2"/>
          </a:solidFill>
          <a:ln/>
        </p:spPr>
      </p:sp>
      <p:pic>
        <p:nvPicPr>
          <p:cNvPr id="38" name="icon FaWrench" descr="Wrench icon">    </p:cNvPr>
          <p:cNvPicPr>
            <a:picLocks noChangeAspect="1"/>
          </p:cNvPicPr>
          <p:nvPr/>
        </p:nvPicPr>
        <p:blipFill>
          <a:blip r:embed="rId8"/>
          <a:stretch>
            <a:fillRect/>
          </a:stretch>
        </p:blipFill>
        <p:spPr>
          <a:xfrm>
            <a:off x="6729984" y="4105656"/>
            <a:ext cx="256032" cy="256032"/>
          </a:xfrm>
          <a:prstGeom prst="rect">
            <a:avLst/>
          </a:prstGeom>
        </p:spPr>
      </p:pic>
      <p:sp>
        <p:nvSpPr>
          <p:cNvPr id="39" name="text"/>
          <p:cNvSpPr txBox="1"/>
          <p:nvPr/>
        </p:nvSpPr>
        <p:spPr>
          <a:xfrm>
            <a:off x="7269480" y="3877056"/>
            <a:ext cx="4206240" cy="713232"/>
          </a:xfrm>
          <a:prstGeom prst="rect">
            <a:avLst/>
          </a:prstGeom>
          <a:noFill/>
          <a:ln/>
        </p:spPr>
        <p:txBody>
          <a:bodyPr wrap="square" lIns="0" tIns="0" rIns="0" bIns="0" rtlCol="0" anchor="ctr"/>
          <a:lstStyle/>
          <a:p>
            <a:pPr algn="l" indent="0" marL="0">
              <a:buNone/>
            </a:pPr>
            <a:r>
              <a:rPr lang="en-US" sz="1400" b="1" dirty="0">
                <a:solidFill>
                  <a:schemeClr val="tx1"/>
                </a:solidFill>
              </a:rPr>
              <a:t>Check that every number is printed on the pages</a:t>
            </a:r>
            <a:endParaRPr lang="en-US" sz="1400" dirty="0"/>
          </a:p>
        </p:txBody>
      </p:sp>
      <p:sp>
        <p:nvSpPr>
          <p:cNvPr id="40" name="card"/>
          <p:cNvSpPr/>
          <p:nvPr/>
        </p:nvSpPr>
        <p:spPr>
          <a:xfrm>
            <a:off x="548640" y="4681728"/>
            <a:ext cx="11094415" cy="713232"/>
          </a:xfrm>
          <a:prstGeom prst="roundRect">
            <a:avLst>
              <a:gd name="adj" fmla="val 15385"/>
            </a:avLst>
          </a:prstGeom>
          <a:solidFill>
            <a:schemeClr val="bg1"/>
          </a:solidFill>
          <a:ln/>
          <a:effectLst>
            <a:outerShdw sx="100000" sy="100000" kx="0" ky="0" algn="bl" rotWithShape="0" blurRad="88900" dist="25400" dir="5400000">
              <a:srgbClr val="000000">
                <a:alpha val="13000"/>
              </a:srgbClr>
            </a:outerShdw>
          </a:effectLst>
        </p:spPr>
      </p:sp>
      <p:sp>
        <p:nvSpPr>
          <p:cNvPr id="41" name="text"/>
          <p:cNvSpPr txBox="1"/>
          <p:nvPr/>
        </p:nvSpPr>
        <p:spPr>
          <a:xfrm>
            <a:off x="731520" y="4681728"/>
            <a:ext cx="365760" cy="713232"/>
          </a:xfrm>
          <a:prstGeom prst="rect">
            <a:avLst/>
          </a:prstGeom>
          <a:noFill/>
          <a:ln/>
        </p:spPr>
        <p:txBody>
          <a:bodyPr wrap="square" lIns="0" tIns="0" rIns="0" bIns="0" rtlCol="0" anchor="ctr"/>
          <a:lstStyle/>
          <a:p>
            <a:pPr algn="l" indent="0" marL="0">
              <a:buNone/>
            </a:pPr>
            <a:r>
              <a:rPr lang="en-US" sz="2000" b="1" dirty="0">
                <a:solidFill>
                  <a:schemeClr val="tx2"/>
                </a:solidFill>
              </a:rPr>
              <a:t>5</a:t>
            </a:r>
            <a:endParaRPr lang="en-US" sz="2000" dirty="0"/>
          </a:p>
        </p:txBody>
      </p:sp>
      <p:sp>
        <p:nvSpPr>
          <p:cNvPr id="42" name="circle"/>
          <p:cNvSpPr/>
          <p:nvPr/>
        </p:nvSpPr>
        <p:spPr>
          <a:xfrm>
            <a:off x="1234440" y="4809744"/>
            <a:ext cx="457200" cy="457200"/>
          </a:xfrm>
          <a:prstGeom prst="ellipse">
            <a:avLst/>
          </a:prstGeom>
          <a:solidFill>
            <a:schemeClr val="accent3"/>
          </a:solidFill>
          <a:ln/>
        </p:spPr>
      </p:sp>
      <p:pic>
        <p:nvPicPr>
          <p:cNvPr id="43" name="icon FaBug" descr="Bug icon">    </p:cNvPr>
          <p:cNvPicPr>
            <a:picLocks noChangeAspect="1"/>
          </p:cNvPicPr>
          <p:nvPr/>
        </p:nvPicPr>
        <p:blipFill>
          <a:blip r:embed="rId9"/>
          <a:stretch>
            <a:fillRect/>
          </a:stretch>
        </p:blipFill>
        <p:spPr>
          <a:xfrm>
            <a:off x="1335024" y="4910328"/>
            <a:ext cx="256032" cy="256032"/>
          </a:xfrm>
          <a:prstGeom prst="rect">
            <a:avLst/>
          </a:prstGeom>
        </p:spPr>
      </p:pic>
      <p:sp>
        <p:nvSpPr>
          <p:cNvPr id="44" name="text"/>
          <p:cNvSpPr txBox="1"/>
          <p:nvPr/>
        </p:nvSpPr>
        <p:spPr>
          <a:xfrm>
            <a:off x="1874520" y="4681728"/>
            <a:ext cx="4023360" cy="713232"/>
          </a:xfrm>
          <a:prstGeom prst="rect">
            <a:avLst/>
          </a:prstGeom>
          <a:noFill/>
          <a:ln/>
        </p:spPr>
        <p:txBody>
          <a:bodyPr wrap="square" lIns="0" tIns="0" rIns="0" bIns="0" rtlCol="0" anchor="ctr"/>
          <a:lstStyle/>
          <a:p>
            <a:pPr algn="l" indent="0" marL="0">
              <a:buNone/>
            </a:pPr>
            <a:r>
              <a:rPr lang="en-US" sz="1400" dirty="0">
                <a:solidFill>
                  <a:schemeClr val="tx1"/>
                </a:solidFill>
              </a:rPr>
              <a:t>Thousands of lines built before a live test</a:t>
            </a:r>
            <a:endParaRPr lang="en-US" sz="1400" dirty="0"/>
          </a:p>
        </p:txBody>
      </p:sp>
      <p:sp>
        <p:nvSpPr>
          <p:cNvPr id="45" name="arrow"/>
          <p:cNvSpPr/>
          <p:nvPr/>
        </p:nvSpPr>
        <p:spPr>
          <a:xfrm>
            <a:off x="6035040" y="4901184"/>
            <a:ext cx="411480" cy="274320"/>
          </a:xfrm>
          <a:prstGeom prst="rightArrow">
            <a:avLst/>
          </a:prstGeom>
          <a:solidFill>
            <a:schemeClr val="accent5"/>
          </a:solidFill>
          <a:ln/>
        </p:spPr>
      </p:sp>
      <p:sp>
        <p:nvSpPr>
          <p:cNvPr id="46" name="circle"/>
          <p:cNvSpPr/>
          <p:nvPr/>
        </p:nvSpPr>
        <p:spPr>
          <a:xfrm>
            <a:off x="6629400" y="4809744"/>
            <a:ext cx="457200" cy="457200"/>
          </a:xfrm>
          <a:prstGeom prst="ellipse">
            <a:avLst/>
          </a:prstGeom>
          <a:solidFill>
            <a:schemeClr val="accent2"/>
          </a:solidFill>
          <a:ln/>
        </p:spPr>
      </p:sp>
      <p:pic>
        <p:nvPicPr>
          <p:cNvPr id="47" name="icon FaWrench" descr="Wrench icon">    </p:cNvPr>
          <p:cNvPicPr>
            <a:picLocks noChangeAspect="1"/>
          </p:cNvPicPr>
          <p:nvPr/>
        </p:nvPicPr>
        <p:blipFill>
          <a:blip r:embed="rId10"/>
          <a:stretch>
            <a:fillRect/>
          </a:stretch>
        </p:blipFill>
        <p:spPr>
          <a:xfrm>
            <a:off x="6729984" y="4910328"/>
            <a:ext cx="256032" cy="256032"/>
          </a:xfrm>
          <a:prstGeom prst="rect">
            <a:avLst/>
          </a:prstGeom>
        </p:spPr>
      </p:pic>
      <p:sp>
        <p:nvSpPr>
          <p:cNvPr id="48" name="text"/>
          <p:cNvSpPr txBox="1"/>
          <p:nvPr/>
        </p:nvSpPr>
        <p:spPr>
          <a:xfrm>
            <a:off x="7269480" y="4681728"/>
            <a:ext cx="4206240" cy="713232"/>
          </a:xfrm>
          <a:prstGeom prst="rect">
            <a:avLst/>
          </a:prstGeom>
          <a:noFill/>
          <a:ln/>
        </p:spPr>
        <p:txBody>
          <a:bodyPr wrap="square" lIns="0" tIns="0" rIns="0" bIns="0" rtlCol="0" anchor="ctr"/>
          <a:lstStyle/>
          <a:p>
            <a:pPr algn="l" indent="0" marL="0">
              <a:buNone/>
            </a:pPr>
            <a:r>
              <a:rPr lang="en-US" sz="1400" b="1" dirty="0">
                <a:solidFill>
                  <a:schemeClr val="tx1"/>
                </a:solidFill>
              </a:rPr>
              <a:t>Add one piece, prove it live, then add the next</a:t>
            </a:r>
            <a:endParaRPr lang="en-US" sz="1400" dirty="0"/>
          </a:p>
        </p:txBody>
      </p:sp>
      <p:sp>
        <p:nvSpPr>
          <p:cNvPr id="49" name="card"/>
          <p:cNvSpPr/>
          <p:nvPr/>
        </p:nvSpPr>
        <p:spPr>
          <a:xfrm>
            <a:off x="548640" y="5486400"/>
            <a:ext cx="11094415" cy="713232"/>
          </a:xfrm>
          <a:prstGeom prst="roundRect">
            <a:avLst>
              <a:gd name="adj" fmla="val 15385"/>
            </a:avLst>
          </a:prstGeom>
          <a:solidFill>
            <a:schemeClr val="bg1"/>
          </a:solidFill>
          <a:ln/>
          <a:effectLst>
            <a:outerShdw sx="100000" sy="100000" kx="0" ky="0" algn="bl" rotWithShape="0" blurRad="88900" dist="25400" dir="5400000">
              <a:srgbClr val="000000">
                <a:alpha val="13000"/>
              </a:srgbClr>
            </a:outerShdw>
          </a:effectLst>
        </p:spPr>
      </p:sp>
      <p:sp>
        <p:nvSpPr>
          <p:cNvPr id="50" name="text"/>
          <p:cNvSpPr txBox="1"/>
          <p:nvPr/>
        </p:nvSpPr>
        <p:spPr>
          <a:xfrm>
            <a:off x="731520" y="5486400"/>
            <a:ext cx="365760" cy="713232"/>
          </a:xfrm>
          <a:prstGeom prst="rect">
            <a:avLst/>
          </a:prstGeom>
          <a:noFill/>
          <a:ln/>
        </p:spPr>
        <p:txBody>
          <a:bodyPr wrap="square" lIns="0" tIns="0" rIns="0" bIns="0" rtlCol="0" anchor="ctr"/>
          <a:lstStyle/>
          <a:p>
            <a:pPr algn="l" indent="0" marL="0">
              <a:buNone/>
            </a:pPr>
            <a:r>
              <a:rPr lang="en-US" sz="2000" b="1" dirty="0">
                <a:solidFill>
                  <a:schemeClr val="tx2"/>
                </a:solidFill>
              </a:rPr>
              <a:t>6</a:t>
            </a:r>
            <a:endParaRPr lang="en-US" sz="2000" dirty="0"/>
          </a:p>
        </p:txBody>
      </p:sp>
      <p:sp>
        <p:nvSpPr>
          <p:cNvPr id="51" name="circle"/>
          <p:cNvSpPr/>
          <p:nvPr/>
        </p:nvSpPr>
        <p:spPr>
          <a:xfrm>
            <a:off x="1234440" y="5614416"/>
            <a:ext cx="457200" cy="457200"/>
          </a:xfrm>
          <a:prstGeom prst="ellipse">
            <a:avLst/>
          </a:prstGeom>
          <a:solidFill>
            <a:schemeClr val="accent3"/>
          </a:solidFill>
          <a:ln/>
        </p:spPr>
      </p:sp>
      <p:pic>
        <p:nvPicPr>
          <p:cNvPr id="52" name="icon FaBug" descr="Bug icon">    </p:cNvPr>
          <p:cNvPicPr>
            <a:picLocks noChangeAspect="1"/>
          </p:cNvPicPr>
          <p:nvPr/>
        </p:nvPicPr>
        <p:blipFill>
          <a:blip r:embed="rId11"/>
          <a:stretch>
            <a:fillRect/>
          </a:stretch>
        </p:blipFill>
        <p:spPr>
          <a:xfrm>
            <a:off x="1335024" y="5715000"/>
            <a:ext cx="256032" cy="256032"/>
          </a:xfrm>
          <a:prstGeom prst="rect">
            <a:avLst/>
          </a:prstGeom>
        </p:spPr>
      </p:pic>
      <p:sp>
        <p:nvSpPr>
          <p:cNvPr id="53" name="text"/>
          <p:cNvSpPr txBox="1"/>
          <p:nvPr/>
        </p:nvSpPr>
        <p:spPr>
          <a:xfrm>
            <a:off x="1874520" y="5486400"/>
            <a:ext cx="4023360" cy="713232"/>
          </a:xfrm>
          <a:prstGeom prst="rect">
            <a:avLst/>
          </a:prstGeom>
          <a:noFill/>
          <a:ln/>
        </p:spPr>
        <p:txBody>
          <a:bodyPr wrap="square" lIns="0" tIns="0" rIns="0" bIns="0" rtlCol="0" anchor="ctr"/>
          <a:lstStyle/>
          <a:p>
            <a:pPr algn="l" indent="0" marL="0">
              <a:buNone/>
            </a:pPr>
            <a:r>
              <a:rPr lang="en-US" sz="1400" dirty="0">
                <a:solidFill>
                  <a:schemeClr val="tx1"/>
                </a:solidFill>
              </a:rPr>
              <a:t>Tests on scripted recordings only</a:t>
            </a:r>
            <a:endParaRPr lang="en-US" sz="1400" dirty="0"/>
          </a:p>
        </p:txBody>
      </p:sp>
      <p:sp>
        <p:nvSpPr>
          <p:cNvPr id="54" name="arrow"/>
          <p:cNvSpPr/>
          <p:nvPr/>
        </p:nvSpPr>
        <p:spPr>
          <a:xfrm>
            <a:off x="6035040" y="5705856"/>
            <a:ext cx="411480" cy="274320"/>
          </a:xfrm>
          <a:prstGeom prst="rightArrow">
            <a:avLst/>
          </a:prstGeom>
          <a:solidFill>
            <a:schemeClr val="accent5"/>
          </a:solidFill>
          <a:ln/>
        </p:spPr>
      </p:sp>
      <p:sp>
        <p:nvSpPr>
          <p:cNvPr id="55" name="circle"/>
          <p:cNvSpPr/>
          <p:nvPr/>
        </p:nvSpPr>
        <p:spPr>
          <a:xfrm>
            <a:off x="6629400" y="5614416"/>
            <a:ext cx="457200" cy="457200"/>
          </a:xfrm>
          <a:prstGeom prst="ellipse">
            <a:avLst/>
          </a:prstGeom>
          <a:solidFill>
            <a:schemeClr val="accent2"/>
          </a:solidFill>
          <a:ln/>
        </p:spPr>
      </p:sp>
      <p:pic>
        <p:nvPicPr>
          <p:cNvPr id="56" name="icon FaWrench" descr="Wrench icon">    </p:cNvPr>
          <p:cNvPicPr>
            <a:picLocks noChangeAspect="1"/>
          </p:cNvPicPr>
          <p:nvPr/>
        </p:nvPicPr>
        <p:blipFill>
          <a:blip r:embed="rId12"/>
          <a:stretch>
            <a:fillRect/>
          </a:stretch>
        </p:blipFill>
        <p:spPr>
          <a:xfrm>
            <a:off x="6729984" y="5715000"/>
            <a:ext cx="256032" cy="256032"/>
          </a:xfrm>
          <a:prstGeom prst="rect">
            <a:avLst/>
          </a:prstGeom>
        </p:spPr>
      </p:pic>
      <p:sp>
        <p:nvSpPr>
          <p:cNvPr id="57" name="text"/>
          <p:cNvSpPr txBox="1"/>
          <p:nvPr/>
        </p:nvSpPr>
        <p:spPr>
          <a:xfrm>
            <a:off x="7269480" y="5486400"/>
            <a:ext cx="4206240" cy="713232"/>
          </a:xfrm>
          <a:prstGeom prst="rect">
            <a:avLst/>
          </a:prstGeom>
          <a:noFill/>
          <a:ln/>
        </p:spPr>
        <p:txBody>
          <a:bodyPr wrap="square" lIns="0" tIns="0" rIns="0" bIns="0" rtlCol="0" anchor="ctr"/>
          <a:lstStyle/>
          <a:p>
            <a:pPr algn="l" indent="0" marL="0">
              <a:buNone/>
            </a:pPr>
            <a:r>
              <a:rPr lang="en-US" sz="1400" b="1" dirty="0">
                <a:solidFill>
                  <a:schemeClr val="tx1"/>
                </a:solidFill>
              </a:rPr>
              <a:t>Test real AI output early, in small batches</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1"/>
                </a:solidFill>
              </a:rPr>
              <a:t>Where things stand today</a:t>
            </a:r>
            <a:endParaRPr lang="en-US" sz="3200" dirty="0"/>
          </a:p>
        </p:txBody>
      </p:sp>
      <p:sp>
        <p:nvSpPr>
          <p:cNvPr id="4" name="card"/>
          <p:cNvSpPr/>
          <p:nvPr/>
        </p:nvSpPr>
        <p:spPr>
          <a:xfrm>
            <a:off x="548640" y="1508760"/>
            <a:ext cx="5440680" cy="3611880"/>
          </a:xfrm>
          <a:prstGeom prst="roundRect">
            <a:avLst>
              <a:gd name="adj" fmla="val 3038"/>
            </a:avLst>
          </a:prstGeom>
          <a:solidFill>
            <a:schemeClr val="bg1"/>
          </a:solidFill>
          <a:ln w="25400">
            <a:solidFill>
              <a:schemeClr val="accent4"/>
            </a:solidFill>
            <a:prstDash val="solid"/>
          </a:ln>
          <a:effectLst>
            <a:outerShdw sx="100000" sy="100000" kx="0" ky="0" algn="bl" rotWithShape="0" blurRad="88900" dist="25400" dir="5400000">
              <a:srgbClr val="000000">
                <a:alpha val="13000"/>
              </a:srgbClr>
            </a:outerShdw>
          </a:effectLst>
        </p:spPr>
      </p:sp>
      <p:sp>
        <p:nvSpPr>
          <p:cNvPr id="5" name="circle"/>
          <p:cNvSpPr/>
          <p:nvPr/>
        </p:nvSpPr>
        <p:spPr>
          <a:xfrm>
            <a:off x="822960" y="1691640"/>
            <a:ext cx="548640" cy="548640"/>
          </a:xfrm>
          <a:prstGeom prst="ellipse">
            <a:avLst/>
          </a:prstGeom>
          <a:solidFill>
            <a:schemeClr val="accent4"/>
          </a:solidFill>
          <a:ln/>
        </p:spPr>
      </p:sp>
      <p:pic>
        <p:nvPicPr>
          <p:cNvPr id="6" name="icon FaCheckCircle" descr="CheckCircle icon">    </p:cNvPr>
          <p:cNvPicPr>
            <a:picLocks noChangeAspect="1"/>
          </p:cNvPicPr>
          <p:nvPr/>
        </p:nvPicPr>
        <p:blipFill>
          <a:blip r:embed="rId1"/>
          <a:stretch>
            <a:fillRect/>
          </a:stretch>
        </p:blipFill>
        <p:spPr>
          <a:xfrm>
            <a:off x="943661" y="1812341"/>
            <a:ext cx="307238" cy="307238"/>
          </a:xfrm>
          <a:prstGeom prst="rect">
            <a:avLst/>
          </a:prstGeom>
        </p:spPr>
      </p:pic>
      <p:sp>
        <p:nvSpPr>
          <p:cNvPr id="7" name="text"/>
          <p:cNvSpPr txBox="1"/>
          <p:nvPr/>
        </p:nvSpPr>
        <p:spPr>
          <a:xfrm>
            <a:off x="1554480" y="1691640"/>
            <a:ext cx="4114800" cy="548640"/>
          </a:xfrm>
          <a:prstGeom prst="rect">
            <a:avLst/>
          </a:prstGeom>
          <a:noFill/>
          <a:ln/>
        </p:spPr>
        <p:txBody>
          <a:bodyPr wrap="square" lIns="0" tIns="0" rIns="0" bIns="0" rtlCol="0" anchor="ctr"/>
          <a:lstStyle/>
          <a:p>
            <a:pPr algn="l" indent="0" marL="0">
              <a:buNone/>
            </a:pPr>
            <a:r>
              <a:rPr lang="en-US" sz="2200" b="1" dirty="0">
                <a:solidFill>
                  <a:schemeClr val="accent4"/>
                </a:solidFill>
              </a:rPr>
              <a:t>Works today</a:t>
            </a:r>
            <a:endParaRPr lang="en-US" sz="2200" dirty="0"/>
          </a:p>
        </p:txBody>
      </p:sp>
      <p:sp>
        <p:nvSpPr>
          <p:cNvPr id="8" name="text"/>
          <p:cNvSpPr txBox="1"/>
          <p:nvPr/>
        </p:nvSpPr>
        <p:spPr>
          <a:xfrm>
            <a:off x="822960" y="2423160"/>
            <a:ext cx="4892040" cy="2606040"/>
          </a:xfrm>
          <a:prstGeom prst="rect">
            <a:avLst/>
          </a:prstGeom>
          <a:noFill/>
          <a:ln/>
        </p:spPr>
        <p:txBody>
          <a:bodyPr wrap="square" lIns="0" tIns="0" rIns="0" bIns="0" rtlCol="0" anchor="t"/>
          <a:lstStyle/>
          <a:p>
            <a:pPr algn="l" marL="342900" indent="-342900">
              <a:spcAft>
                <a:spcPts val="700"/>
              </a:spcAft>
              <a:buSzPct val="100000"/>
              <a:buChar char="•"/>
            </a:pPr>
            <a:r>
              <a:rPr lang="en-US" sz="1600" dirty="0">
                <a:solidFill>
                  <a:schemeClr val="tx1"/>
                </a:solidFill>
              </a:rPr>
              <a:t>Learn once, prove, then reuse: about 15 to 50 times fewer AI calls per record</a:t>
            </a:r>
            <a:endParaRPr lang="en-US" sz="1600" dirty="0"/>
          </a:p>
          <a:p>
            <a:pPr algn="l" marL="342900" indent="-342900">
              <a:spcAft>
                <a:spcPts val="700"/>
              </a:spcAft>
              <a:buSzPct val="100000"/>
              <a:buChar char="•"/>
            </a:pPr>
            <a:r>
              <a:rPr lang="en-US" sz="1600" dirty="0">
                <a:solidFill>
                  <a:schemeClr val="tx1"/>
                </a:solidFill>
              </a:rPr>
              <a:t>100/100 on the Credit and AP Desks; small clean runs on the other two</a:t>
            </a:r>
            <a:endParaRPr lang="en-US" sz="1600" dirty="0"/>
          </a:p>
          <a:p>
            <a:pPr algn="l" marL="342900" indent="-342900">
              <a:spcAft>
                <a:spcPts val="700"/>
              </a:spcAft>
              <a:buSzPct val="100000"/>
              <a:buChar char="•"/>
            </a:pPr>
            <a:r>
              <a:rPr lang="en-US" sz="1600" dirty="0">
                <a:solidFill>
                  <a:schemeClr val="tx1"/>
                </a:solidFill>
              </a:rPr>
              <a:t>Safety checks on: pacing, number grounding, page handling</a:t>
            </a:r>
            <a:endParaRPr lang="en-US" sz="1600" dirty="0"/>
          </a:p>
          <a:p>
            <a:pPr algn="l" marL="342900" indent="-342900">
              <a:spcAft>
                <a:spcPts val="700"/>
              </a:spcAft>
              <a:buSzPct val="100000"/>
              <a:buChar char="•"/>
            </a:pPr>
            <a:r>
              <a:rPr lang="en-US" sz="1600" dirty="0">
                <a:solidFill>
                  <a:schemeClr val="tx1"/>
                </a:solidFill>
              </a:rPr>
              <a:t>Never presses save twice and never saves a guess</a:t>
            </a:r>
            <a:endParaRPr lang="en-US" sz="1600" dirty="0"/>
          </a:p>
        </p:txBody>
      </p:sp>
      <p:sp>
        <p:nvSpPr>
          <p:cNvPr id="9" name="card"/>
          <p:cNvSpPr/>
          <p:nvPr/>
        </p:nvSpPr>
        <p:spPr>
          <a:xfrm>
            <a:off x="6199632" y="1508760"/>
            <a:ext cx="5440680" cy="3611880"/>
          </a:xfrm>
          <a:prstGeom prst="roundRect">
            <a:avLst>
              <a:gd name="adj" fmla="val 3038"/>
            </a:avLst>
          </a:prstGeom>
          <a:solidFill>
            <a:schemeClr val="bg1"/>
          </a:solidFill>
          <a:ln w="25400">
            <a:solidFill>
              <a:schemeClr val="accent1"/>
            </a:solidFill>
            <a:prstDash val="solid"/>
          </a:ln>
          <a:effectLst>
            <a:outerShdw sx="100000" sy="100000" kx="0" ky="0" algn="bl" rotWithShape="0" blurRad="88900" dist="25400" dir="5400000">
              <a:srgbClr val="000000">
                <a:alpha val="13000"/>
              </a:srgbClr>
            </a:outerShdw>
          </a:effectLst>
        </p:spPr>
      </p:sp>
      <p:sp>
        <p:nvSpPr>
          <p:cNvPr id="10" name="circle"/>
          <p:cNvSpPr/>
          <p:nvPr/>
        </p:nvSpPr>
        <p:spPr>
          <a:xfrm>
            <a:off x="6473952" y="1691640"/>
            <a:ext cx="548640" cy="548640"/>
          </a:xfrm>
          <a:prstGeom prst="ellipse">
            <a:avLst/>
          </a:prstGeom>
          <a:solidFill>
            <a:schemeClr val="accent1"/>
          </a:solidFill>
          <a:ln/>
        </p:spPr>
      </p:sp>
      <p:pic>
        <p:nvPicPr>
          <p:cNvPr id="11" name="icon FaExclamationTriangle" descr="ExclamationTriangle icon">    </p:cNvPr>
          <p:cNvPicPr>
            <a:picLocks noChangeAspect="1"/>
          </p:cNvPicPr>
          <p:nvPr/>
        </p:nvPicPr>
        <p:blipFill>
          <a:blip r:embed="rId2"/>
          <a:stretch>
            <a:fillRect/>
          </a:stretch>
        </p:blipFill>
        <p:spPr>
          <a:xfrm>
            <a:off x="6594653" y="1812341"/>
            <a:ext cx="307238" cy="307238"/>
          </a:xfrm>
          <a:prstGeom prst="rect">
            <a:avLst/>
          </a:prstGeom>
        </p:spPr>
      </p:pic>
      <p:sp>
        <p:nvSpPr>
          <p:cNvPr id="12" name="text"/>
          <p:cNvSpPr txBox="1"/>
          <p:nvPr/>
        </p:nvSpPr>
        <p:spPr>
          <a:xfrm>
            <a:off x="7205472" y="1691640"/>
            <a:ext cx="4114800" cy="548640"/>
          </a:xfrm>
          <a:prstGeom prst="rect">
            <a:avLst/>
          </a:prstGeom>
          <a:noFill/>
          <a:ln/>
        </p:spPr>
        <p:txBody>
          <a:bodyPr wrap="square" lIns="0" tIns="0" rIns="0" bIns="0" rtlCol="0" anchor="ctr"/>
          <a:lstStyle/>
          <a:p>
            <a:pPr algn="l" indent="0" marL="0">
              <a:buNone/>
            </a:pPr>
            <a:r>
              <a:rPr lang="en-US" sz="2200" b="1" dirty="0">
                <a:solidFill>
                  <a:schemeClr val="accent1"/>
                </a:solidFill>
              </a:rPr>
              <a:t>Not yet</a:t>
            </a:r>
            <a:endParaRPr lang="en-US" sz="2200" dirty="0"/>
          </a:p>
        </p:txBody>
      </p:sp>
      <p:sp>
        <p:nvSpPr>
          <p:cNvPr id="13" name="text"/>
          <p:cNvSpPr txBox="1"/>
          <p:nvPr/>
        </p:nvSpPr>
        <p:spPr>
          <a:xfrm>
            <a:off x="6473952" y="2423160"/>
            <a:ext cx="4892040" cy="2606040"/>
          </a:xfrm>
          <a:prstGeom prst="rect">
            <a:avLst/>
          </a:prstGeom>
          <a:noFill/>
          <a:ln/>
        </p:spPr>
        <p:txBody>
          <a:bodyPr wrap="square" lIns="0" tIns="0" rIns="0" bIns="0" rtlCol="0" anchor="t"/>
          <a:lstStyle/>
          <a:p>
            <a:pPr algn="l" marL="342900" indent="-342900">
              <a:spcAft>
                <a:spcPts val="700"/>
              </a:spcAft>
              <a:buSzPct val="100000"/>
              <a:buChar char="•"/>
            </a:pPr>
            <a:r>
              <a:rPr lang="en-US" sz="1600" dirty="0">
                <a:solidFill>
                  <a:schemeClr val="tx1"/>
                </a:solidFill>
              </a:rPr>
              <a:t>Decision programs (zero AI calls) are built but switched off: they did not work live</a:t>
            </a:r>
            <a:endParaRPr lang="en-US" sz="1600" dirty="0"/>
          </a:p>
          <a:p>
            <a:pPr algn="l" marL="342900" indent="-342900">
              <a:spcAft>
                <a:spcPts val="700"/>
              </a:spcAft>
              <a:buSzPct val="100000"/>
              <a:buChar char="•"/>
            </a:pPr>
            <a:r>
              <a:rPr lang="en-US" sz="1600" dirty="0">
                <a:solidFill>
                  <a:schemeClr val="tx1"/>
                </a:solidFill>
              </a:rPr>
              <a:t>No real-world site has been tested yet</a:t>
            </a:r>
            <a:endParaRPr lang="en-US" sz="1600" dirty="0"/>
          </a:p>
          <a:p>
            <a:pPr algn="l" marL="342900" indent="-342900">
              <a:spcAft>
                <a:spcPts val="700"/>
              </a:spcAft>
              <a:buSzPct val="100000"/>
              <a:buChar char="•"/>
            </a:pPr>
            <a:r>
              <a:rPr lang="en-US" sz="1600" dirty="0">
                <a:solidFill>
                  <a:schemeClr val="tx1"/>
                </a:solidFill>
              </a:rPr>
              <a:t>Only web forms: no email, documents or judgement calls</a:t>
            </a:r>
            <a:endParaRPr lang="en-US" sz="1600" dirty="0"/>
          </a:p>
          <a:p>
            <a:pPr algn="l" marL="342900" indent="-342900">
              <a:spcAft>
                <a:spcPts val="700"/>
              </a:spcAft>
              <a:buSzPct val="100000"/>
              <a:buChar char="•"/>
            </a:pPr>
            <a:r>
              <a:rPr lang="en-US" sz="1600" dirty="0">
                <a:solidFill>
                  <a:schemeClr val="tx1"/>
                </a:solidFill>
              </a:rPr>
              <a:t>The live agent that checks plans is sometimes wrong</a:t>
            </a:r>
            <a:endParaRPr lang="en-US" sz="1600" dirty="0"/>
          </a:p>
        </p:txBody>
      </p:sp>
      <p:sp>
        <p:nvSpPr>
          <p:cNvPr id="14" name="banner"/>
          <p:cNvSpPr/>
          <p:nvPr/>
        </p:nvSpPr>
        <p:spPr>
          <a:xfrm>
            <a:off x="548640" y="5349240"/>
            <a:ext cx="11094415" cy="914400"/>
          </a:xfrm>
          <a:prstGeom prst="roundRect">
            <a:avLst>
              <a:gd name="adj" fmla="val 12000"/>
            </a:avLst>
          </a:prstGeom>
          <a:solidFill>
            <a:schemeClr val="tx1"/>
          </a:solidFill>
          <a:ln/>
        </p:spPr>
      </p:sp>
      <p:sp>
        <p:nvSpPr>
          <p:cNvPr id="15" name="text"/>
          <p:cNvSpPr txBox="1"/>
          <p:nvPr/>
        </p:nvSpPr>
        <p:spPr>
          <a:xfrm>
            <a:off x="868680" y="5349240"/>
            <a:ext cx="10454335" cy="914400"/>
          </a:xfrm>
          <a:prstGeom prst="rect">
            <a:avLst/>
          </a:prstGeom>
          <a:noFill/>
          <a:ln/>
        </p:spPr>
        <p:txBody>
          <a:bodyPr wrap="square" lIns="0" tIns="0" rIns="0" bIns="0" rtlCol="0" anchor="ctr"/>
          <a:lstStyle/>
          <a:p>
            <a:pPr algn="l" indent="0" marL="0">
              <a:buNone/>
            </a:pPr>
            <a:r>
              <a:rPr lang="en-US" sz="1800" b="1" dirty="0">
                <a:solidFill>
                  <a:schemeClr val="bg1"/>
                </a:solidFill>
              </a:rPr>
              <a:t>A dependable assistant for one repeating web job, not yet a general AI employee. Rough estimate: 15 to 20% of the way.</a:t>
            </a:r>
            <a:endParaRPr lang="en-US" sz="18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1"/>
                </a:solidFill>
              </a:rPr>
              <a:t>Next steps</a:t>
            </a:r>
            <a:endParaRPr lang="en-US" sz="3200" dirty="0"/>
          </a:p>
        </p:txBody>
      </p:sp>
      <p:sp>
        <p:nvSpPr>
          <p:cNvPr id="4" name="card"/>
          <p:cNvSpPr/>
          <p:nvPr/>
        </p:nvSpPr>
        <p:spPr>
          <a:xfrm>
            <a:off x="548640" y="1463040"/>
            <a:ext cx="11094415" cy="822960"/>
          </a:xfrm>
          <a:prstGeom prst="roundRect">
            <a:avLst>
              <a:gd name="adj" fmla="val 13333"/>
            </a:avLst>
          </a:prstGeom>
          <a:solidFill>
            <a:schemeClr val="bg1"/>
          </a:solidFill>
          <a:ln/>
          <a:effectLst>
            <a:outerShdw sx="100000" sy="100000" kx="0" ky="0" algn="bl" rotWithShape="0" blurRad="88900" dist="25400" dir="5400000">
              <a:srgbClr val="000000">
                <a:alpha val="13000"/>
              </a:srgbClr>
            </a:outerShdw>
          </a:effectLst>
        </p:spPr>
      </p:sp>
      <p:sp>
        <p:nvSpPr>
          <p:cNvPr id="5" name="number"/>
          <p:cNvSpPr/>
          <p:nvPr/>
        </p:nvSpPr>
        <p:spPr>
          <a:xfrm>
            <a:off x="822960" y="1600200"/>
            <a:ext cx="548640" cy="548640"/>
          </a:xfrm>
          <a:prstGeom prst="ellipse">
            <a:avLst/>
          </a:prstGeom>
          <a:solidFill>
            <a:schemeClr val="accent1"/>
          </a:solidFill>
          <a:ln/>
        </p:spPr>
      </p:sp>
      <p:sp>
        <p:nvSpPr>
          <p:cNvPr id="6" name="text"/>
          <p:cNvSpPr txBox="1"/>
          <p:nvPr/>
        </p:nvSpPr>
        <p:spPr>
          <a:xfrm>
            <a:off x="822960" y="16002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7" name="text"/>
          <p:cNvSpPr txBox="1"/>
          <p:nvPr/>
        </p:nvSpPr>
        <p:spPr>
          <a:xfrm>
            <a:off x="1645920" y="1536192"/>
            <a:ext cx="9692640" cy="365760"/>
          </a:xfrm>
          <a:prstGeom prst="rect">
            <a:avLst/>
          </a:prstGeom>
          <a:noFill/>
          <a:ln/>
        </p:spPr>
        <p:txBody>
          <a:bodyPr wrap="square" lIns="0" tIns="0" rIns="0" bIns="0" rtlCol="0" anchor="t"/>
          <a:lstStyle/>
          <a:p>
            <a:pPr algn="l" indent="0" marL="0">
              <a:buNone/>
            </a:pPr>
            <a:r>
              <a:rPr lang="en-US" sz="1800" b="1" dirty="0">
                <a:solidFill>
                  <a:schemeClr val="tx1"/>
                </a:solidFill>
              </a:rPr>
              <a:t>Compare agent tools on one test site</a:t>
            </a:r>
            <a:endParaRPr lang="en-US" sz="1800" dirty="0"/>
          </a:p>
        </p:txBody>
      </p:sp>
      <p:sp>
        <p:nvSpPr>
          <p:cNvPr id="8" name="text"/>
          <p:cNvSpPr txBox="1"/>
          <p:nvPr/>
        </p:nvSpPr>
        <p:spPr>
          <a:xfrm>
            <a:off x="1645920" y="1901952"/>
            <a:ext cx="9692640" cy="329184"/>
          </a:xfrm>
          <a:prstGeom prst="rect">
            <a:avLst/>
          </a:prstGeom>
          <a:noFill/>
          <a:ln/>
        </p:spPr>
        <p:txBody>
          <a:bodyPr wrap="square" lIns="0" tIns="0" rIns="0" bIns="0" rtlCol="0" anchor="t"/>
          <a:lstStyle/>
          <a:p>
            <a:pPr algn="l" indent="0" marL="0">
              <a:buNone/>
            </a:pPr>
            <a:r>
              <a:rPr lang="en-US" sz="1400" dirty="0">
                <a:solidFill>
                  <a:schemeClr val="tx2"/>
                </a:solidFill>
              </a:rPr>
              <a:t>browser-use (current), Stagehand, Skyvern and Webwright on the same task; about half a day</a:t>
            </a:r>
            <a:endParaRPr lang="en-US" sz="1400" dirty="0"/>
          </a:p>
        </p:txBody>
      </p:sp>
      <p:sp>
        <p:nvSpPr>
          <p:cNvPr id="9" name="card"/>
          <p:cNvSpPr/>
          <p:nvPr/>
        </p:nvSpPr>
        <p:spPr>
          <a:xfrm>
            <a:off x="548640" y="2395728"/>
            <a:ext cx="11094415" cy="822960"/>
          </a:xfrm>
          <a:prstGeom prst="roundRect">
            <a:avLst>
              <a:gd name="adj" fmla="val 13333"/>
            </a:avLst>
          </a:prstGeom>
          <a:solidFill>
            <a:schemeClr val="bg1"/>
          </a:solidFill>
          <a:ln/>
          <a:effectLst>
            <a:outerShdw sx="100000" sy="100000" kx="0" ky="0" algn="bl" rotWithShape="0" blurRad="88900" dist="25400" dir="5400000">
              <a:srgbClr val="000000">
                <a:alpha val="13000"/>
              </a:srgbClr>
            </a:outerShdw>
          </a:effectLst>
        </p:spPr>
      </p:sp>
      <p:sp>
        <p:nvSpPr>
          <p:cNvPr id="10" name="number"/>
          <p:cNvSpPr/>
          <p:nvPr/>
        </p:nvSpPr>
        <p:spPr>
          <a:xfrm>
            <a:off x="822960" y="2532888"/>
            <a:ext cx="548640" cy="548640"/>
          </a:xfrm>
          <a:prstGeom prst="ellipse">
            <a:avLst/>
          </a:prstGeom>
          <a:solidFill>
            <a:schemeClr val="accent1"/>
          </a:solidFill>
          <a:ln/>
        </p:spPr>
      </p:sp>
      <p:sp>
        <p:nvSpPr>
          <p:cNvPr id="11" name="text"/>
          <p:cNvSpPr txBox="1"/>
          <p:nvPr/>
        </p:nvSpPr>
        <p:spPr>
          <a:xfrm>
            <a:off x="822960" y="2532888"/>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2" name="text"/>
          <p:cNvSpPr txBox="1"/>
          <p:nvPr/>
        </p:nvSpPr>
        <p:spPr>
          <a:xfrm>
            <a:off x="1645920" y="2468880"/>
            <a:ext cx="9692640" cy="365760"/>
          </a:xfrm>
          <a:prstGeom prst="rect">
            <a:avLst/>
          </a:prstGeom>
          <a:noFill/>
          <a:ln/>
        </p:spPr>
        <p:txBody>
          <a:bodyPr wrap="square" lIns="0" tIns="0" rIns="0" bIns="0" rtlCol="0" anchor="t"/>
          <a:lstStyle/>
          <a:p>
            <a:pPr algn="l" indent="0" marL="0">
              <a:buNone/>
            </a:pPr>
            <a:r>
              <a:rPr lang="en-US" sz="1800" b="1" dirty="0">
                <a:solidFill>
                  <a:schemeClr val="tx1"/>
                </a:solidFill>
              </a:rPr>
              <a:t>Pilot on one real repeating task</a:t>
            </a:r>
            <a:endParaRPr lang="en-US" sz="1800" dirty="0"/>
          </a:p>
        </p:txBody>
      </p:sp>
      <p:sp>
        <p:nvSpPr>
          <p:cNvPr id="13" name="text"/>
          <p:cNvSpPr txBox="1"/>
          <p:nvPr/>
        </p:nvSpPr>
        <p:spPr>
          <a:xfrm>
            <a:off x="1645920" y="2834640"/>
            <a:ext cx="9692640" cy="329184"/>
          </a:xfrm>
          <a:prstGeom prst="rect">
            <a:avLst/>
          </a:prstGeom>
          <a:noFill/>
          <a:ln/>
        </p:spPr>
        <p:txBody>
          <a:bodyPr wrap="square" lIns="0" tIns="0" rIns="0" bIns="0" rtlCol="0" anchor="t"/>
          <a:lstStyle/>
          <a:p>
            <a:pPr algn="l" indent="0" marL="0">
              <a:buNone/>
            </a:pPr>
            <a:r>
              <a:rPr lang="en-US" sz="1400" dirty="0">
                <a:solidFill>
                  <a:schemeClr val="tx2"/>
                </a:solidFill>
              </a:rPr>
              <a:t>Pick the first genuine business task, run 8 to 16 records, and measure where it breaks</a:t>
            </a:r>
            <a:endParaRPr lang="en-US" sz="1400" dirty="0"/>
          </a:p>
        </p:txBody>
      </p:sp>
      <p:sp>
        <p:nvSpPr>
          <p:cNvPr id="14" name="card"/>
          <p:cNvSpPr/>
          <p:nvPr/>
        </p:nvSpPr>
        <p:spPr>
          <a:xfrm>
            <a:off x="548640" y="3328416"/>
            <a:ext cx="11094415" cy="822960"/>
          </a:xfrm>
          <a:prstGeom prst="roundRect">
            <a:avLst>
              <a:gd name="adj" fmla="val 13333"/>
            </a:avLst>
          </a:prstGeom>
          <a:solidFill>
            <a:schemeClr val="bg1"/>
          </a:solidFill>
          <a:ln/>
          <a:effectLst>
            <a:outerShdw sx="100000" sy="100000" kx="0" ky="0" algn="bl" rotWithShape="0" blurRad="88900" dist="25400" dir="5400000">
              <a:srgbClr val="000000">
                <a:alpha val="13000"/>
              </a:srgbClr>
            </a:outerShdw>
          </a:effectLst>
        </p:spPr>
      </p:sp>
      <p:sp>
        <p:nvSpPr>
          <p:cNvPr id="15" name="number"/>
          <p:cNvSpPr/>
          <p:nvPr/>
        </p:nvSpPr>
        <p:spPr>
          <a:xfrm>
            <a:off x="822960" y="3465576"/>
            <a:ext cx="548640" cy="548640"/>
          </a:xfrm>
          <a:prstGeom prst="ellipse">
            <a:avLst/>
          </a:prstGeom>
          <a:solidFill>
            <a:schemeClr val="accent1"/>
          </a:solidFill>
          <a:ln/>
        </p:spPr>
      </p:sp>
      <p:sp>
        <p:nvSpPr>
          <p:cNvPr id="16" name="text"/>
          <p:cNvSpPr txBox="1"/>
          <p:nvPr/>
        </p:nvSpPr>
        <p:spPr>
          <a:xfrm>
            <a:off x="822960" y="3465576"/>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7" name="text"/>
          <p:cNvSpPr txBox="1"/>
          <p:nvPr/>
        </p:nvSpPr>
        <p:spPr>
          <a:xfrm>
            <a:off x="1645920" y="3401568"/>
            <a:ext cx="9692640" cy="365760"/>
          </a:xfrm>
          <a:prstGeom prst="rect">
            <a:avLst/>
          </a:prstGeom>
          <a:noFill/>
          <a:ln/>
        </p:spPr>
        <p:txBody>
          <a:bodyPr wrap="square" lIns="0" tIns="0" rIns="0" bIns="0" rtlCol="0" anchor="t"/>
          <a:lstStyle/>
          <a:p>
            <a:pPr algn="l" indent="0" marL="0">
              <a:buNone/>
            </a:pPr>
            <a:r>
              <a:rPr lang="en-US" sz="1800" b="1" dirty="0">
                <a:solidFill>
                  <a:schemeClr val="tx1"/>
                </a:solidFill>
              </a:rPr>
              <a:t>Rebuild the core step by step</a:t>
            </a:r>
            <a:endParaRPr lang="en-US" sz="1800" dirty="0"/>
          </a:p>
        </p:txBody>
      </p:sp>
      <p:sp>
        <p:nvSpPr>
          <p:cNvPr id="18" name="text"/>
          <p:cNvSpPr txBox="1"/>
          <p:nvPr/>
        </p:nvSpPr>
        <p:spPr>
          <a:xfrm>
            <a:off x="1645920" y="3767328"/>
            <a:ext cx="9692640" cy="329184"/>
          </a:xfrm>
          <a:prstGeom prst="rect">
            <a:avLst/>
          </a:prstGeom>
          <a:noFill/>
          <a:ln/>
        </p:spPr>
        <p:txBody>
          <a:bodyPr wrap="square" lIns="0" tIns="0" rIns="0" bIns="0" rtlCol="0" anchor="t"/>
          <a:lstStyle/>
          <a:p>
            <a:pPr algn="l" indent="0" marL="0">
              <a:buNone/>
            </a:pPr>
            <a:r>
              <a:rPr lang="en-US" sz="1400" dirty="0">
                <a:solidFill>
                  <a:schemeClr val="tx2"/>
                </a:solidFill>
              </a:rPr>
              <a:t>A guided rebuild in 10 phases (about 75 steps) so the team understands every piece</a:t>
            </a:r>
            <a:endParaRPr lang="en-US" sz="1400" dirty="0"/>
          </a:p>
        </p:txBody>
      </p:sp>
      <p:sp>
        <p:nvSpPr>
          <p:cNvPr id="19" name="card"/>
          <p:cNvSpPr/>
          <p:nvPr/>
        </p:nvSpPr>
        <p:spPr>
          <a:xfrm>
            <a:off x="548640" y="4261104"/>
            <a:ext cx="11094415" cy="822960"/>
          </a:xfrm>
          <a:prstGeom prst="roundRect">
            <a:avLst>
              <a:gd name="adj" fmla="val 13333"/>
            </a:avLst>
          </a:prstGeom>
          <a:solidFill>
            <a:schemeClr val="bg1"/>
          </a:solidFill>
          <a:ln/>
          <a:effectLst>
            <a:outerShdw sx="100000" sy="100000" kx="0" ky="0" algn="bl" rotWithShape="0" blurRad="88900" dist="25400" dir="5400000">
              <a:srgbClr val="000000">
                <a:alpha val="13000"/>
              </a:srgbClr>
            </a:outerShdw>
          </a:effectLst>
        </p:spPr>
      </p:sp>
      <p:sp>
        <p:nvSpPr>
          <p:cNvPr id="20" name="number"/>
          <p:cNvSpPr/>
          <p:nvPr/>
        </p:nvSpPr>
        <p:spPr>
          <a:xfrm>
            <a:off x="822960" y="4398264"/>
            <a:ext cx="548640" cy="548640"/>
          </a:xfrm>
          <a:prstGeom prst="ellipse">
            <a:avLst/>
          </a:prstGeom>
          <a:solidFill>
            <a:schemeClr val="accent1"/>
          </a:solidFill>
          <a:ln/>
        </p:spPr>
      </p:sp>
      <p:sp>
        <p:nvSpPr>
          <p:cNvPr id="21" name="text"/>
          <p:cNvSpPr txBox="1"/>
          <p:nvPr/>
        </p:nvSpPr>
        <p:spPr>
          <a:xfrm>
            <a:off x="822960" y="4398264"/>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2" name="text"/>
          <p:cNvSpPr txBox="1"/>
          <p:nvPr/>
        </p:nvSpPr>
        <p:spPr>
          <a:xfrm>
            <a:off x="1645920" y="4334256"/>
            <a:ext cx="9692640" cy="365760"/>
          </a:xfrm>
          <a:prstGeom prst="rect">
            <a:avLst/>
          </a:prstGeom>
          <a:noFill/>
          <a:ln/>
        </p:spPr>
        <p:txBody>
          <a:bodyPr wrap="square" lIns="0" tIns="0" rIns="0" bIns="0" rtlCol="0" anchor="t"/>
          <a:lstStyle/>
          <a:p>
            <a:pPr algn="l" indent="0" marL="0">
              <a:buNone/>
            </a:pPr>
            <a:r>
              <a:rPr lang="en-US" sz="1800" b="1" dirty="0">
                <a:solidFill>
                  <a:schemeClr val="tx1"/>
                </a:solidFill>
              </a:rPr>
              <a:t>Build a better referee</a:t>
            </a:r>
            <a:endParaRPr lang="en-US" sz="1800" dirty="0"/>
          </a:p>
        </p:txBody>
      </p:sp>
      <p:sp>
        <p:nvSpPr>
          <p:cNvPr id="23" name="text"/>
          <p:cNvSpPr txBox="1"/>
          <p:nvPr/>
        </p:nvSpPr>
        <p:spPr>
          <a:xfrm>
            <a:off x="1645920" y="4700016"/>
            <a:ext cx="9692640" cy="329184"/>
          </a:xfrm>
          <a:prstGeom prst="rect">
            <a:avLst/>
          </a:prstGeom>
          <a:noFill/>
          <a:ln/>
        </p:spPr>
        <p:txBody>
          <a:bodyPr wrap="square" lIns="0" tIns="0" rIns="0" bIns="0" rtlCol="0" anchor="t"/>
          <a:lstStyle/>
          <a:p>
            <a:pPr algn="l" indent="0" marL="0">
              <a:buNone/>
            </a:pPr>
            <a:r>
              <a:rPr lang="en-US" sz="1400" dirty="0">
                <a:solidFill>
                  <a:schemeClr val="tx2"/>
                </a:solidFill>
              </a:rPr>
              <a:t>Two of three independent answers must agree; otherwise the record goes to a human review queue</a:t>
            </a:r>
            <a:endParaRPr lang="en-US" sz="1400" dirty="0"/>
          </a:p>
        </p:txBody>
      </p:sp>
      <p:sp>
        <p:nvSpPr>
          <p:cNvPr id="24" name="card"/>
          <p:cNvSpPr/>
          <p:nvPr/>
        </p:nvSpPr>
        <p:spPr>
          <a:xfrm>
            <a:off x="548640" y="5193792"/>
            <a:ext cx="11094415" cy="822960"/>
          </a:xfrm>
          <a:prstGeom prst="roundRect">
            <a:avLst>
              <a:gd name="adj" fmla="val 13333"/>
            </a:avLst>
          </a:prstGeom>
          <a:solidFill>
            <a:schemeClr val="bg1"/>
          </a:solidFill>
          <a:ln/>
          <a:effectLst>
            <a:outerShdw sx="100000" sy="100000" kx="0" ky="0" algn="bl" rotWithShape="0" blurRad="88900" dist="25400" dir="5400000">
              <a:srgbClr val="000000">
                <a:alpha val="13000"/>
              </a:srgbClr>
            </a:outerShdw>
          </a:effectLst>
        </p:spPr>
      </p:sp>
      <p:sp>
        <p:nvSpPr>
          <p:cNvPr id="25" name="number"/>
          <p:cNvSpPr/>
          <p:nvPr/>
        </p:nvSpPr>
        <p:spPr>
          <a:xfrm>
            <a:off x="822960" y="5330952"/>
            <a:ext cx="548640" cy="548640"/>
          </a:xfrm>
          <a:prstGeom prst="ellipse">
            <a:avLst/>
          </a:prstGeom>
          <a:solidFill>
            <a:schemeClr val="accent1"/>
          </a:solidFill>
          <a:ln/>
        </p:spPr>
      </p:sp>
      <p:sp>
        <p:nvSpPr>
          <p:cNvPr id="26" name="text"/>
          <p:cNvSpPr txBox="1"/>
          <p:nvPr/>
        </p:nvSpPr>
        <p:spPr>
          <a:xfrm>
            <a:off x="822960" y="5330952"/>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7" name="text"/>
          <p:cNvSpPr txBox="1"/>
          <p:nvPr/>
        </p:nvSpPr>
        <p:spPr>
          <a:xfrm>
            <a:off x="1645920" y="5266944"/>
            <a:ext cx="9692640" cy="365760"/>
          </a:xfrm>
          <a:prstGeom prst="rect">
            <a:avLst/>
          </a:prstGeom>
          <a:noFill/>
          <a:ln/>
        </p:spPr>
        <p:txBody>
          <a:bodyPr wrap="square" lIns="0" tIns="0" rIns="0" bIns="0" rtlCol="0" anchor="t"/>
          <a:lstStyle/>
          <a:p>
            <a:pPr algn="l" indent="0" marL="0">
              <a:buNone/>
            </a:pPr>
            <a:r>
              <a:rPr lang="en-US" sz="1800" b="1" dirty="0">
                <a:solidFill>
                  <a:schemeClr val="tx1"/>
                </a:solidFill>
              </a:rPr>
              <a:t>Decision programs as research</a:t>
            </a:r>
            <a:endParaRPr lang="en-US" sz="1800" dirty="0"/>
          </a:p>
        </p:txBody>
      </p:sp>
      <p:sp>
        <p:nvSpPr>
          <p:cNvPr id="28" name="text"/>
          <p:cNvSpPr txBox="1"/>
          <p:nvPr/>
        </p:nvSpPr>
        <p:spPr>
          <a:xfrm>
            <a:off x="1645920" y="5632704"/>
            <a:ext cx="9692640" cy="329184"/>
          </a:xfrm>
          <a:prstGeom prst="rect">
            <a:avLst/>
          </a:prstGeom>
          <a:noFill/>
          <a:ln/>
        </p:spPr>
        <p:txBody>
          <a:bodyPr wrap="square" lIns="0" tIns="0" rIns="0" bIns="0" rtlCol="0" anchor="t"/>
          <a:lstStyle/>
          <a:p>
            <a:pPr algn="l" indent="0" marL="0">
              <a:buNone/>
            </a:pPr>
            <a:r>
              <a:rPr lang="en-US" sz="1400" dirty="0">
                <a:solidFill>
                  <a:schemeClr val="tx2"/>
                </a:solidFill>
              </a:rPr>
              <a:t>Offline first, on recorded examples; switched on only when they reproduce recorded runs exactly</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1"/>
                </a:solidFill>
              </a:rPr>
              <a:t>Summary</a:t>
            </a:r>
            <a:endParaRPr lang="en-US" sz="3200" dirty="0"/>
          </a:p>
        </p:txBody>
      </p:sp>
      <p:sp>
        <p:nvSpPr>
          <p:cNvPr id="4" name="card"/>
          <p:cNvSpPr/>
          <p:nvPr/>
        </p:nvSpPr>
        <p:spPr>
          <a:xfrm>
            <a:off x="548640" y="1508760"/>
            <a:ext cx="7680960" cy="1051560"/>
          </a:xfrm>
          <a:prstGeom prst="roundRect">
            <a:avLst>
              <a:gd name="adj" fmla="val 10435"/>
            </a:avLst>
          </a:prstGeom>
          <a:solidFill>
            <a:schemeClr val="bg1"/>
          </a:solidFill>
          <a:ln/>
          <a:effectLst>
            <a:outerShdw sx="100000" sy="100000" kx="0" ky="0" algn="bl" rotWithShape="0" blurRad="88900" dist="25400" dir="5400000">
              <a:srgbClr val="000000">
                <a:alpha val="13000"/>
              </a:srgbClr>
            </a:outerShdw>
          </a:effectLst>
        </p:spPr>
      </p:sp>
      <p:sp>
        <p:nvSpPr>
          <p:cNvPr id="5" name="circle"/>
          <p:cNvSpPr/>
          <p:nvPr/>
        </p:nvSpPr>
        <p:spPr>
          <a:xfrm>
            <a:off x="822960" y="1709928"/>
            <a:ext cx="640080" cy="640080"/>
          </a:xfrm>
          <a:prstGeom prst="ellipse">
            <a:avLst/>
          </a:prstGeom>
          <a:solidFill>
            <a:schemeClr val="accent1"/>
          </a:solidFill>
          <a:ln/>
        </p:spPr>
      </p:sp>
      <p:pic>
        <p:nvPicPr>
          <p:cNvPr id="6" name="icon FaRocket" descr="Rocket icon">    </p:cNvPr>
          <p:cNvPicPr>
            <a:picLocks noChangeAspect="1"/>
          </p:cNvPicPr>
          <p:nvPr/>
        </p:nvPicPr>
        <p:blipFill>
          <a:blip r:embed="rId1"/>
          <a:stretch>
            <a:fillRect/>
          </a:stretch>
        </p:blipFill>
        <p:spPr>
          <a:xfrm>
            <a:off x="963778" y="1850746"/>
            <a:ext cx="358445" cy="358445"/>
          </a:xfrm>
          <a:prstGeom prst="rect">
            <a:avLst/>
          </a:prstGeom>
        </p:spPr>
      </p:pic>
      <p:sp>
        <p:nvSpPr>
          <p:cNvPr id="7" name="text"/>
          <p:cNvSpPr txBox="1"/>
          <p:nvPr/>
        </p:nvSpPr>
        <p:spPr>
          <a:xfrm>
            <a:off x="1737360" y="1508760"/>
            <a:ext cx="6309360" cy="1051560"/>
          </a:xfrm>
          <a:prstGeom prst="rect">
            <a:avLst/>
          </a:prstGeom>
          <a:noFill/>
          <a:ln/>
        </p:spPr>
        <p:txBody>
          <a:bodyPr wrap="square" lIns="0" tIns="0" rIns="0" bIns="0" rtlCol="0" anchor="ctr"/>
          <a:lstStyle/>
          <a:p>
            <a:pPr algn="l" indent="0" marL="0">
              <a:buNone/>
            </a:pPr>
            <a:r>
              <a:rPr lang="en-US" sz="1800" b="1" dirty="0">
                <a:solidFill>
                  <a:schemeClr val="tx1"/>
                </a:solidFill>
              </a:rPr>
              <a:t>The core idea works: learn once, prove it, then reuse cheaply</a:t>
            </a:r>
            <a:endParaRPr lang="en-US" sz="1800" dirty="0"/>
          </a:p>
        </p:txBody>
      </p:sp>
      <p:sp>
        <p:nvSpPr>
          <p:cNvPr id="8" name="card"/>
          <p:cNvSpPr/>
          <p:nvPr/>
        </p:nvSpPr>
        <p:spPr>
          <a:xfrm>
            <a:off x="548640" y="2697480"/>
            <a:ext cx="7680960" cy="1051560"/>
          </a:xfrm>
          <a:prstGeom prst="roundRect">
            <a:avLst>
              <a:gd name="adj" fmla="val 10435"/>
            </a:avLst>
          </a:prstGeom>
          <a:solidFill>
            <a:schemeClr val="bg1"/>
          </a:solidFill>
          <a:ln/>
          <a:effectLst>
            <a:outerShdw sx="100000" sy="100000" kx="0" ky="0" algn="bl" rotWithShape="0" blurRad="88900" dist="25400" dir="5400000">
              <a:srgbClr val="000000">
                <a:alpha val="13000"/>
              </a:srgbClr>
            </a:outerShdw>
          </a:effectLst>
        </p:spPr>
      </p:sp>
      <p:sp>
        <p:nvSpPr>
          <p:cNvPr id="9" name="circle"/>
          <p:cNvSpPr/>
          <p:nvPr/>
        </p:nvSpPr>
        <p:spPr>
          <a:xfrm>
            <a:off x="822960" y="2898648"/>
            <a:ext cx="640080" cy="640080"/>
          </a:xfrm>
          <a:prstGeom prst="ellipse">
            <a:avLst/>
          </a:prstGeom>
          <a:solidFill>
            <a:schemeClr val="accent2"/>
          </a:solidFill>
          <a:ln/>
        </p:spPr>
      </p:sp>
      <p:pic>
        <p:nvPicPr>
          <p:cNvPr id="10" name="icon FaBalanceScale" descr="BalanceScale icon">    </p:cNvPr>
          <p:cNvPicPr>
            <a:picLocks noChangeAspect="1"/>
          </p:cNvPicPr>
          <p:nvPr/>
        </p:nvPicPr>
        <p:blipFill>
          <a:blip r:embed="rId2"/>
          <a:stretch>
            <a:fillRect/>
          </a:stretch>
        </p:blipFill>
        <p:spPr>
          <a:xfrm>
            <a:off x="963778" y="3039466"/>
            <a:ext cx="358445" cy="358445"/>
          </a:xfrm>
          <a:prstGeom prst="rect">
            <a:avLst/>
          </a:prstGeom>
        </p:spPr>
      </p:pic>
      <p:sp>
        <p:nvSpPr>
          <p:cNvPr id="11" name="text"/>
          <p:cNvSpPr txBox="1"/>
          <p:nvPr/>
        </p:nvSpPr>
        <p:spPr>
          <a:xfrm>
            <a:off x="1737360" y="2697480"/>
            <a:ext cx="6309360" cy="1051560"/>
          </a:xfrm>
          <a:prstGeom prst="rect">
            <a:avLst/>
          </a:prstGeom>
          <a:noFill/>
          <a:ln/>
        </p:spPr>
        <p:txBody>
          <a:bodyPr wrap="square" lIns="0" tIns="0" rIns="0" bIns="0" rtlCol="0" anchor="ctr"/>
          <a:lstStyle/>
          <a:p>
            <a:pPr algn="l" indent="0" marL="0">
              <a:buNone/>
            </a:pPr>
            <a:r>
              <a:rPr lang="en-US" sz="1800" b="1" dirty="0">
                <a:solidFill>
                  <a:schemeClr val="tx1"/>
                </a:solidFill>
              </a:rPr>
              <a:t>Safety checks mattered more than raw speed</a:t>
            </a:r>
            <a:endParaRPr lang="en-US" sz="1800" dirty="0"/>
          </a:p>
        </p:txBody>
      </p:sp>
      <p:sp>
        <p:nvSpPr>
          <p:cNvPr id="12" name="card"/>
          <p:cNvSpPr/>
          <p:nvPr/>
        </p:nvSpPr>
        <p:spPr>
          <a:xfrm>
            <a:off x="548640" y="3886200"/>
            <a:ext cx="7680960" cy="1051560"/>
          </a:xfrm>
          <a:prstGeom prst="roundRect">
            <a:avLst>
              <a:gd name="adj" fmla="val 10435"/>
            </a:avLst>
          </a:prstGeom>
          <a:solidFill>
            <a:schemeClr val="bg1"/>
          </a:solidFill>
          <a:ln/>
          <a:effectLst>
            <a:outerShdw sx="100000" sy="100000" kx="0" ky="0" algn="bl" rotWithShape="0" blurRad="88900" dist="25400" dir="5400000">
              <a:srgbClr val="000000">
                <a:alpha val="13000"/>
              </a:srgbClr>
            </a:outerShdw>
          </a:effectLst>
        </p:spPr>
      </p:sp>
      <p:sp>
        <p:nvSpPr>
          <p:cNvPr id="13" name="circle"/>
          <p:cNvSpPr/>
          <p:nvPr/>
        </p:nvSpPr>
        <p:spPr>
          <a:xfrm>
            <a:off x="822960" y="4087368"/>
            <a:ext cx="640080" cy="640080"/>
          </a:xfrm>
          <a:prstGeom prst="ellipse">
            <a:avLst/>
          </a:prstGeom>
          <a:solidFill>
            <a:schemeClr val="accent3"/>
          </a:solidFill>
          <a:ln/>
        </p:spPr>
      </p:sp>
      <p:pic>
        <p:nvPicPr>
          <p:cNvPr id="14" name="icon FaExclamationTriangle" descr="ExclamationTriangle icon">    </p:cNvPr>
          <p:cNvPicPr>
            <a:picLocks noChangeAspect="1"/>
          </p:cNvPicPr>
          <p:nvPr/>
        </p:nvPicPr>
        <p:blipFill>
          <a:blip r:embed="rId3"/>
          <a:stretch>
            <a:fillRect/>
          </a:stretch>
        </p:blipFill>
        <p:spPr>
          <a:xfrm>
            <a:off x="963778" y="4228186"/>
            <a:ext cx="358445" cy="358445"/>
          </a:xfrm>
          <a:prstGeom prst="rect">
            <a:avLst/>
          </a:prstGeom>
        </p:spPr>
      </p:pic>
      <p:sp>
        <p:nvSpPr>
          <p:cNvPr id="15" name="text"/>
          <p:cNvSpPr txBox="1"/>
          <p:nvPr/>
        </p:nvSpPr>
        <p:spPr>
          <a:xfrm>
            <a:off x="1737360" y="3886200"/>
            <a:ext cx="6309360" cy="1051560"/>
          </a:xfrm>
          <a:prstGeom prst="rect">
            <a:avLst/>
          </a:prstGeom>
          <a:noFill/>
          <a:ln/>
        </p:spPr>
        <p:txBody>
          <a:bodyPr wrap="square" lIns="0" tIns="0" rIns="0" bIns="0" rtlCol="0" anchor="ctr"/>
          <a:lstStyle/>
          <a:p>
            <a:pPr algn="l" indent="0" marL="0">
              <a:buNone/>
            </a:pPr>
            <a:r>
              <a:rPr lang="en-US" sz="1800" b="1" dirty="0">
                <a:solidFill>
                  <a:schemeClr val="tx1"/>
                </a:solidFill>
              </a:rPr>
              <a:t>Building too much before testing live was the main mistake</a:t>
            </a:r>
            <a:endParaRPr lang="en-US" sz="1800" dirty="0"/>
          </a:p>
        </p:txBody>
      </p:sp>
      <p:sp>
        <p:nvSpPr>
          <p:cNvPr id="16" name="card"/>
          <p:cNvSpPr/>
          <p:nvPr/>
        </p:nvSpPr>
        <p:spPr>
          <a:xfrm>
            <a:off x="548640" y="5074920"/>
            <a:ext cx="7680960" cy="1051560"/>
          </a:xfrm>
          <a:prstGeom prst="roundRect">
            <a:avLst>
              <a:gd name="adj" fmla="val 10435"/>
            </a:avLst>
          </a:prstGeom>
          <a:solidFill>
            <a:schemeClr val="bg1"/>
          </a:solidFill>
          <a:ln/>
          <a:effectLst>
            <a:outerShdw sx="100000" sy="100000" kx="0" ky="0" algn="bl" rotWithShape="0" blurRad="88900" dist="25400" dir="5400000">
              <a:srgbClr val="000000">
                <a:alpha val="13000"/>
              </a:srgbClr>
            </a:outerShdw>
          </a:effectLst>
        </p:spPr>
      </p:sp>
      <p:sp>
        <p:nvSpPr>
          <p:cNvPr id="17" name="circle"/>
          <p:cNvSpPr/>
          <p:nvPr/>
        </p:nvSpPr>
        <p:spPr>
          <a:xfrm>
            <a:off x="822960" y="5276088"/>
            <a:ext cx="640080" cy="640080"/>
          </a:xfrm>
          <a:prstGeom prst="ellipse">
            <a:avLst/>
          </a:prstGeom>
          <a:solidFill>
            <a:schemeClr val="accent4"/>
          </a:solidFill>
          <a:ln/>
        </p:spPr>
      </p:sp>
      <p:pic>
        <p:nvPicPr>
          <p:cNvPr id="18" name="icon FaSearch" descr="Search icon">    </p:cNvPr>
          <p:cNvPicPr>
            <a:picLocks noChangeAspect="1"/>
          </p:cNvPicPr>
          <p:nvPr/>
        </p:nvPicPr>
        <p:blipFill>
          <a:blip r:embed="rId4"/>
          <a:stretch>
            <a:fillRect/>
          </a:stretch>
        </p:blipFill>
        <p:spPr>
          <a:xfrm>
            <a:off x="963778" y="5416906"/>
            <a:ext cx="358445" cy="358445"/>
          </a:xfrm>
          <a:prstGeom prst="rect">
            <a:avLst/>
          </a:prstGeom>
        </p:spPr>
      </p:pic>
      <p:sp>
        <p:nvSpPr>
          <p:cNvPr id="19" name="text"/>
          <p:cNvSpPr txBox="1"/>
          <p:nvPr/>
        </p:nvSpPr>
        <p:spPr>
          <a:xfrm>
            <a:off x="1737360" y="5074920"/>
            <a:ext cx="6309360" cy="1051560"/>
          </a:xfrm>
          <a:prstGeom prst="rect">
            <a:avLst/>
          </a:prstGeom>
          <a:noFill/>
          <a:ln/>
        </p:spPr>
        <p:txBody>
          <a:bodyPr wrap="square" lIns="0" tIns="0" rIns="0" bIns="0" rtlCol="0" anchor="ctr"/>
          <a:lstStyle/>
          <a:p>
            <a:pPr algn="l" indent="0" marL="0">
              <a:buNone/>
            </a:pPr>
            <a:r>
              <a:rPr lang="en-US" sz="1800" b="1" dirty="0">
                <a:solidFill>
                  <a:schemeClr val="tx1"/>
                </a:solidFill>
              </a:rPr>
              <a:t>Next: compare tools, pilot a real task, rebuild step by step</a:t>
            </a:r>
            <a:endParaRPr lang="en-US" sz="1800" dirty="0"/>
          </a:p>
        </p:txBody>
      </p:sp>
      <p:sp>
        <p:nvSpPr>
          <p:cNvPr id="20" name="seal"/>
          <p:cNvSpPr/>
          <p:nvPr/>
        </p:nvSpPr>
        <p:spPr>
          <a:xfrm>
            <a:off x="9235440" y="2011680"/>
            <a:ext cx="2286000" cy="2286000"/>
          </a:xfrm>
          <a:prstGeom prst="ellipse">
            <a:avLst/>
          </a:prstGeom>
          <a:solidFill>
            <a:schemeClr val="accent2"/>
          </a:solidFill>
          <a:ln/>
          <a:effectLst>
            <a:outerShdw sx="100000" sy="100000" kx="0" ky="0" algn="bl" rotWithShape="0" blurRad="88900" dist="25400" dir="5400000">
              <a:srgbClr val="000000">
                <a:alpha val="13000"/>
              </a:srgbClr>
            </a:outerShdw>
          </a:effectLst>
        </p:spPr>
      </p:sp>
      <p:pic>
        <p:nvPicPr>
          <p:cNvPr id="21" name="icon FaCheck" descr="Check icon">    </p:cNvPr>
          <p:cNvPicPr>
            <a:picLocks noChangeAspect="1"/>
          </p:cNvPicPr>
          <p:nvPr/>
        </p:nvPicPr>
        <p:blipFill>
          <a:blip r:embed="rId5"/>
          <a:stretch>
            <a:fillRect/>
          </a:stretch>
        </p:blipFill>
        <p:spPr>
          <a:xfrm>
            <a:off x="9875520" y="2651760"/>
            <a:ext cx="1005840" cy="1005840"/>
          </a:xfrm>
          <a:prstGeom prst="rect">
            <a:avLst/>
          </a:prstGeom>
        </p:spPr>
      </p:pic>
      <p:sp>
        <p:nvSpPr>
          <p:cNvPr id="22" name="text"/>
          <p:cNvSpPr txBox="1"/>
          <p:nvPr/>
        </p:nvSpPr>
        <p:spPr>
          <a:xfrm>
            <a:off x="8778240" y="4526280"/>
            <a:ext cx="3200400" cy="914400"/>
          </a:xfrm>
          <a:prstGeom prst="rect">
            <a:avLst/>
          </a:prstGeom>
          <a:noFill/>
          <a:ln/>
        </p:spPr>
        <p:txBody>
          <a:bodyPr wrap="square" lIns="0" tIns="0" rIns="0" bIns="0" rtlCol="0" anchor="t"/>
          <a:lstStyle/>
          <a:p>
            <a:pPr algn="ctr" indent="0" marL="0">
              <a:buNone/>
            </a:pPr>
            <a:r>
              <a:rPr lang="en-US" sz="2000" b="1" dirty="0">
                <a:solidFill>
                  <a:schemeClr val="tx1"/>
                </a:solidFill>
              </a:rPr>
              <a:t>Teach once. Prove it. Reuse safely.</a:t>
            </a:r>
            <a:endParaRPr lang="en-US" sz="20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Terminautomator">
  <a:themeElements>
    <a:clrScheme name="Terminautomator">
      <a:dk1>
        <a:srgbClr val="1B1F27"/>
      </a:dk1>
      <a:lt1>
        <a:srgbClr val="FFFFFF"/>
      </a:lt1>
      <a:dk2>
        <a:srgbClr val="5B6573"/>
      </a:dk2>
      <a:lt2>
        <a:srgbClr val="F7F6F2"/>
      </a:lt2>
      <a:accent1>
        <a:srgbClr val="C77D0A"/>
      </a:accent1>
      <a:accent2>
        <a:srgbClr val="1F5FBF"/>
      </a:accent2>
      <a:accent3>
        <a:srgbClr val="C0392B"/>
      </a:accent3>
      <a:accent4>
        <a:srgbClr val="2E8B57"/>
      </a:accent4>
      <a:accent5>
        <a:srgbClr val="8FA3BF"/>
      </a:accent5>
      <a:accent6>
        <a:srgbClr val="DCE6F5"/>
      </a:accent6>
      <a:hlink>
        <a:srgbClr val="1F5FBF"/>
      </a:hlink>
      <a:folHlink>
        <a:srgbClr val="5B6573"/>
      </a:folHlink>
    </a:clrScheme>
    <a:fontScheme name="Terminautomato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terminautomator v3: overview, lessons and next steps</dc:title>
  <dc:subject>PptxGenJS Presentation</dc:subject>
  <dc:creator>PptxGenJS</dc:creator>
  <cp:lastModifiedBy>PptxGenJS</cp:lastModifiedBy>
  <cp:revision>1</cp:revision>
  <dcterms:created xsi:type="dcterms:W3CDTF">2026-10-13T06:36:31Z</dcterms:created>
  <dcterms:modified xsi:type="dcterms:W3CDTF">2026-10-13T06:36:31Z</dcterms:modified>
</cp:coreProperties>
</file>